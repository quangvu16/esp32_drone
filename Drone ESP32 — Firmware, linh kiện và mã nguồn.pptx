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Lst>
  <p:notesMasterIdLst>
    <p:notesMasterId r:id="rId152"/>
  </p:notesMasterIdLst>
  <p:sldSz cx="12192000" cy="6858000"/>
  <p:notesSz cx="6858000" cy="12192000"/>
  <p:embeddedFontLst>
    <p:embeddedFont>
      <p:font typeface="JetBrains Mono" panose="02000009000000000000" pitchFamily="49" charset="0"/>
      <p:regular r:id="rId157"/>
      <p:bold r:id="rId15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notesMaster" Target="notesMasters/notesMaster1.xml"/><Relationship Id="rId153" Type="http://schemas.openxmlformats.org/officeDocument/2006/relationships/presProps" Target="presProps.xml"/><Relationship Id="rId154" Type="http://schemas.openxmlformats.org/officeDocument/2006/relationships/viewProps" Target="viewProps.xml"/><Relationship Id="rId155" Type="http://schemas.openxmlformats.org/officeDocument/2006/relationships/theme" Target="theme/theme1.xml"/><Relationship Id="rId156" Type="http://schemas.openxmlformats.org/officeDocument/2006/relationships/tableStyles" Target="tableStyles.xml"/><Relationship Id="rId157" Type="http://schemas.openxmlformats.org/officeDocument/2006/relationships/font" Target="fonts/font1.fntdata"/><Relationship Id="rId15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mừng bạn. Khóa học này giải thích chiếc quadcopter ESP32 nhỏ từ con số không: quadcopter bay ra sao, từng linh kiện trên bo mạch làm gì, firmware được tổ chức thế nào, và mã nguồn thật làm gì. Bạn không cần biết trước về drone hay lý thuyết điều khiển. Mọi slide mã nguồn đều trích từ file thật Esp32_drone/Esp32_drone.ino trong repo GitHub quangvu16/Esp32_Drone.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mục tiêu. Cuối khóa, bạn cần giải thích được phần vật lý, gọi tên các linh kiện, đọc được vòng lặp chính và sửa đổi an toàn. Sau mỗi phần, hãy tự hỏi: mình có giải thích điều này cho bạn bè trong hai câu được không? Nếu chưa, quay lại một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cần nhớ: 4 động cơ, 1 cảm biến, 250 vòng mỗi giây. Chỉ có một cảm biến là giới hạn quan trọng nhất của drone này: mọi điều về độ cao và vị trí ở phần sau đều xuất phát từ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đi theo dữ liệu: vật lý, rồi linh kiện, rồi mã nguồn từ cảm biến tới động cơ, rồi đầu vào, rồi an toàn và dẫn đường, cuối cùng là kiểm thử. Nếu ít thời gian, phần 5, 6 và 9 là trái tim của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slide mã nguồn theo bảng màu này. Firmware là một sketch Arduino, Esp32_drone.ino, khoảng 2.600 dòng. Ta không bao giờ hiện cả file: mỗi slide chỉ hiện vài dòng đứng sau một ý tưởng, với tên hàm ở chân trang để bạn tìm. Chú thích trong mã thật bằng tiếng Anh; slide giữ nguyên để bạn tìm được trong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có các quy tắc này? Drone nhỏ trông như đồ chơi, nhưng động cơ 8520 quay cánh hàng chục nghìn vòng/phút. Quy tắc 3 quan trọng nhất với người học: nếu bạn đổi hệ số PID và một dấu cùng lúc rồi drone lật, bạn không biết thay đổi nào gây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 không có mã nào. Nó xây dựng bức tranh bạn cần để hiểu mọi dòng firmware sau này: lực đẩy, ba trục xoay, và vì sao quadcopter tự nó không ổn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định luật 3 Newton: đẩy không khí xuống thì bị đẩy lên. Ý quan trọng nhất của cả khóa nằm ở thẻ giữa: quadcopter không có cánh lái hay bánh lái. Mọi chuyển động — lên, nghiêng, xoay — đều do làm một số động cơ nhanh hơn số khác. Vậy toàn bộ công việc của firmware là chọn bốn tốc độ động cơ.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cuối giải thích một hành vi bạn sẽ gặp sau: chế độ Hold giữ một mức lực đẩy, không giữ độ cao. Không có cảm biến áp suất nên drone không biết độ cao; khi điện áp pin giảm, cùng mức lực đẩy nâng được ít hơn và drone từ từ hạ xuống. Vì sao firmware không tự tăng lực đẩy theo thời gian? Vì nó không biết cần tăng bao nhiêu — nó không đo được độ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Mẹo nhớ: roll = chúc cánh, pitch = gật đầu, yaw = lắc đầu. Trong mã bạn sẽ thấy mọi thứ đều có ba: ba tốc độ gyro (gyro_roll, gyro_pitch, gyro_yaw), ba bộ PID và ba đầu ra. Ga (throttle) được xử lý riêng vì nó không phải là phép xoay.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điều này quan trọng? Nếu cả bốn quay cùng chiều, drone sẽ quay tít như con quay khi cất cánh. Các cặp chéo triệt tiêu mô-men. Về sau, điều khiển yaw dùng chính điều này: tăng tốc một cặp là drone xoay.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lực đẩy giữ gần như cũ nên drone không lên hay xuống khi nghiêng. Ý tưởng này — thêm bên này, bớt bên kia — chính là việc bộ trộn (mixer) làm ở phần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nghiêng lại làm drone di chuyển? Lực đẩy luôn hướng ra khỏi mặt trên của drone. Nghiêng drone thì một phần lực đẩy hướng sang ngang. Đó là cách duy nhất để quadcopter di chuyển ngang.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Yaw là điều khiển yếu nhất trên quadcopter nhỏ vì mô-men từ cánh nhỏ rất nhỏ. Vì thế hệ số P của yaw trong firmware (4,0) gấp khoảng ba lần hệ số P của roll và pitch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giữ bảng này. Phần 7 trình bày cùng bảng này dưới dạng bốn dòng mã — bộ trộn động cơ. Mọi động tác đều là cộng ở vài động cơ và trừ ở các động cơ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 công người không thể phản ứng 250 lần mỗi giây. Firmware phải cảm nhận mọi độ nghiêng nhỏ và sửa trước khi nó lớn lên. Đó là nhiệm vụ chính của bộ điều khiển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điều khiển vòng kín. Chênh lệch giữa điều muốn và điều đang có gọi là sai số (error). PID, sẽ gặp ở phần 6, là một công thức biến sai số thành lệnh sửa.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bước là một hàm trong loop(): mpuReadRaw, attitudeUpdate, pidCompute, motorMix và motorWrite, rồi chờ bận cho đến khi đủ 4 ms. Ta sẽ đi qua từng hàm.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nhanh hơn? Cảm biến lấy mẫu ở 250 Hz, sóng radio và ghi log cần thời gian, và động cơ chổi than cũng không phản ứng nhanh hơn được. Vì sao không chậm hơn? Lệnh sửa sẽ đến muộn và phải lớn hơn, làm drone chao đảo. Con số 0,5 độ là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từng câu, rồi hỏi tiếp “tại sao” về câu trả lời. Ví dụ: cánh được trộn chiều để triệt tiêu mô-men — vì sao có mô-men? Vì động cơ đẩy cánh quạt nên cánh quạt đẩy ngược động cơ. Hai tầng “tại sao” thường chạm tới vật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3 nói về bo mạch vật lý: ESP32, cảm biến chuyển động, đầu vào máy thu vô tuyến, công tắc động cơ, động cơ và pin. Mỗi linh kiện tương ứng với vài dòng trong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đi từ cảm biến vào ESP32, và lệnh điều khiển đi từ ESP32 ra MOSFET và động cơ. Máy thu SBUS là đầu vào thêm tùy chọn ở GPIO4. Điện áp pin cũng được đo ở GPIO36.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chọn ESP32? Một chip rẻ có cả bộ xử lý lẫn hai loại radio. Đánh đổi: phần mềm Wi-Fi và Bluetooth cũng dùng CPU và có thể gây rung nhịp nhỏ, đó là một lý do vòng lặp dùng nhịp cứng 4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Firmware kiểm tra thanh ghi WHO_AM_I khi khởi động: 0x70 là MPU6500, 0x71 là MPU9250. Nếu không đúng, setup() dừng và in gợi ý kiểm tra dây, vì bay mà không có cảm biến là không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phần 5 kết hợp chúng trong bộ lọc bù (complementary filter): tin gyro cho thay đổi nhanh và để gia tốc kế từ từ kéo góc về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 là bus nhanh và đơn giản: master (ESP32) phát xung nhịp, slave (MPU6500) trả lời. Firmware chạy ở 1 MHz, chế độ SPI 0. Vì sao SPI mà không phải I2C? SPI nhanh hơn và không cần địa chỉ, nên đọc 14 byte chỉ tốn rất ít trong 4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SBUS bị đảo mức? Futaba thiết kế nó với tín hiệu đảo. UART của ESP32 có thể đảo bằng phần cứng, nên firmware truyền true ở tham số thứ năm của Serial2.begin. Không cần chip đảo mức.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chọn linh kiện này? Đây là MOSFET kênh N nhỏ, mở hoàn toàn với điện áp gate thấp, nên chân ESP32 3,3 V lái trực tiếp được. Mỗi động cơ một MOSFET: Q1 đến Q4 trên sơ đồ.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Drone lớn dùng động cơ không chổi than với ESC hiểu xung servo (1000 đến 2000 µs). Drone này giữ con số 1000–2000 trong mã cho quen thuộc, nhưng đổi sang độ rộng xung PWM cho MOSFET. Phần 7 trình bày usToDuty().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20 kHz? Dưới khoảng 20 kHz, cuộn dây động cơ kêu rít nghe được. 20 kHz nằm ở rìa thính giác, mà vẫn đủ chậm để có độ phân giải 10 bit trên bộ định thời LEDC của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quan tâm điện áp đến vậy? Cell lithium bị hỏng nếu xả quá sâu, và cell yếu bị sụt áp khi tải nặng, nên drone có thể mất lực đẩy đột ngột. Firmware không cho arm dưới 3,3 V và tự hạ cánh khi pin ở mức nguy hiểm liên tục 3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chọn các giá trị này? 4,2 V × 33/43 = 3,22 V, vừa trong dải ADC. Điện trở lớn cũng tốn rất ít dòng pin. Nếu đổi điện trở, bạn phải đổi VBAT_DIVIDER.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bộ lọc thông thấp bậc nhất, còn gọi là trung bình động hàm mũ. Ví dụ: giá trị cũ 3,90 V, một mẫu nhiễu đọc 3,60 V. Giá trị mới là 3,90 + 0,02 × (−0,30) = 3,894 V. Một mẫu xấu hầu như không làm nó lệch, nhưng một sự sụt thật sẽ hiện ra trong chưa tới một giây.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số này lấy từ khối #define đầu sketch, khớp với sơ đồ mạch. Nếu bạn tự làm bo mạch, đây là chỗ đầu tiên cần sửa. GPIO 36 chỉ là đầu vào trên ESP32, rất hợp cho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khung chữ X: mũi hướng vào giữa hai động cơ trước. Các đường chéo khớp nhau: RF và LR cùng quay thuận chiều kim đồng hồ; LF và RR cùng quay ngược. Tên luôn tính theo góc nhìn của drone, nhìn về phía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dấu cấu hình, không phải lỗi. Ý tưởng tương tự áp dụng cho trục gyro và gia tốc kế (GYRO_X_SIGN và các hằng khác): nếu cảm biến lắp xoay, bạn đảo một dấu thay vì sửa công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Động cơ lấy phần lớn dòng, trực tiếp từ pin. Phần logic cần 3,3 V ổn định nên đi qua bộ ổn áp. Khi động cơ kéo mạnh, điện áp pin sụt — vì thế phép đo điện áp phải được lọc.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ràng buộc thiết kế quan trọng nhất của firmware. Chú thích trong mã nói rõ điều này, và giao diện ứng dụng cũng trung thực: không bao giờ vẽ độ cao giả. Khi đọc mã chế độ bay và dẫn đường sau này, hãy nhớ bốn cảm biến còn thiếu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bảng này như bản đồ: khi phần cứng có vấn đề, bảng cho biết nên đọc hàm nào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để thảo luận: nếu được thêm một cảm biến vào bo mạch, cái nào giúp nhiều nhất, và vì sao? Phần lớn người học chọn cảm biến áp suất hoặc cảm biến khoảng cách hướng xuống, vì độ cao là mảnh ghép thiếu lớn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4 là bản đồ của mã. Trước khi phóng to vào hàm nào, ta xem sketch 2.600 dòng được sắp xếp ra sao và dữ liệu đi qua một vòng 4 ms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có tác vụ riêng? Nhiều bộ điều khiển bay dùng RTOS với các tác vụ cho cảm biến, điều khiển và radio. Firmware này đặt mọi thứ trong một vòng lặp để người học đọc từ trên xuống và biết chính xác cái gì chạy khi nào. Phần mềm Wi-Fi và Bluetooth vẫn chạy nền bên trong lõi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tắt động cơ trước? Khi bật nguồn, chân GPIO có thể thả nổi, và cực gate MOSFET thả nổi có thể làm quay động cơ. Đặt duty về 0 trước là mặc định an toàn. Vì sao hiệu chuẩn gyro sau cùng? Khởi động radio tốn thời gian; hiệu chuẩn sau cùng nghĩa là độ lệch được đo gần thời điểm bay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được sắp đại khái từ phần cứng lên: cấu hình, driver, giao thức, điều khiển, rồi chế độ bay và vòng lặp ở cuối cùng. Khi tìm trong file, hãy tìm theo các tên hàm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dùng biến toàn cục? Trong một sketch Arduino, biến toàn cục là cách đơn giản nhất để các hàm chia sẻ trạng thái, và bảng log có thể trỏ thẳng vào chúng. Cái giá là kỷ luật: bạn phải biết hàm nào ghi biến nào. Bảng này chính là kỷ luật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đọc slide này hai lần. Mọi phần sau đều phóng to vào một dòng ở đây. Kỹ năng hữu ích nhất với mã này là nói được, với mỗi biến, bước đánh số nào thay đổi nó. (1 nhận, 2 quyết định ai điều khiển, 3 arm, 4 cảm nhận, 5 ước tính vị trí, 6 điều muốn, 7 quyết định, 8 trộn.)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biến tham gia ở hai chỗ: góc đã lọc đi vào bước tự cân bằng, và tốc độ gyro đi vào PID. Theo một ví dụ: phi công đẩy cần roll sang phải, setpoint thành tốc độ roll, PID thấy drone chưa lăn, bộ trộn tăng tốc một bên, và drone lăn.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dùng delay()? delay() chờ một khoảng cố định bất kể phần việc của vòng tốn bao lâu, nên chu kỳ sẽ thay đổi theo khối lượng việc. Vòng chờ bận hấp thụ thời gian làm việc thay đổi. Cái giá: nếu phần việc vượt 4 ms, vòng bị trễ và dt sai cho vòng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điện thoại thắng? Điện thoại gửi lệnh phong phú hơn (chế độ, cất cánh, hạ cánh). Vì sao giữ SBUS? Nó là lưới an toàn: nếu mất kết nối điện thoại, tay điều khiển RC thật vẫn lái được. Phần 8 trình bày cả hai giao thức, phần 9 giải thích mã quyết định đầu vào nào nắm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Telemetry và log là cách bạn gỡ lỗi. Dòng serial dùng trên bàn với cáp USB; log CRTP dùng khi bay, được ứng dụng đọc. Phần 11 chỉ cách đọc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dùng #define mà không dùng biến? Chúng cố định lúc biên dịch, không tốn RAM và nằm chung ở đầu file. Những giá trị cần đổi ngoài thực địa, như hệ số PID, được chép sang biến lúc khởi động để điện thoại chỉnh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từ chối SAVE khi đang arm? Xóa flash có thể dừng CPU vài mili giây, dài hơn một vòng 4 ms. Trên không, lỡ một vòng là lỡ một lần sửa. cfgLoad() cũng kẹp giới hạn các giá trị đọc ra, nên bản lưu hỏng không thể nạp một hệ số vô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Cấu hình được lưu trong NVS và áp dụng sau khi khởi động lại. Đổi bằng lệnh serial “link n” hoặc lệnh LINK trong ứng dụng, cả hai đều bị từ chối khi đang arm. Vì sao phải khởi động lại? Bật tắt radio khi đang chạy rất dễ lỗi; khởi động sạch thì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ý này giải thích phần lớn mã bạn sẽ đọc. Khi một đoạn mã trông lạ, hãy hỏi nó phục vụ nguyên tắc nào. Ví dụ, handler TAKEOFF bỏ qua TAKEOFF lặp lại khi đang bay lên: đó là nguyên tắc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vòng lặp làm mọi việc trong một luồng. Bạn được và mất gì nếu chuyển phần xử lý radio sang một tác vụ FreeRTOS riêng ở nhân kia? Nghĩ về rung nhịp ở một phía, và tranh chấp biến dùng chung ở phía kia.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5 theo dữ liệu từ thanh ghi MPU6500 đến hai con số bộ điều khiển cần: drone xoay nhanh cỡ nào và nghiêng bao nhiêu.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mã driver cơ bản nhất trong firmware. Mọi tính năng cảm biến — cấu hình, kiểm tra WHO_AM_I, đọc dữ liệu — đều xây từ hai hàm này cộng một lần đọc liên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giá trị thanh ghi được chọn cho drone này. Hai hệ số tỷ lệ ở cột phải, 65,5 và 4096, phải khớp với mã đổi số thô ra đơn vị. Một lần không khớp từng gây sai số dẫn đường gấp 4 lần, và giờ có bài kiểm thử canh giữ.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trong bản đồ thanh ghi là gia tốc X, Y, Z, nhiệt độ, gyro X, Y, Z. Mỗi giá trị hai byte, byte cao trước. Nhiệt độ được đọc nhưng bỏ qua vì firmware không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cần ép kiểu (int16_t)? Không có nó, giá trị sau khi dịch là int, và 0xFF38 sẽ đọc thành 65336 thay vì −200. Ép kiểu báo cho C++ bit cao nhất là bit dấu. Quên điều này là lỗi cảm biến kinh điển: drone thấy một cú xoay dương khổng lồ mỗi khi nó thật ra xoay âm một chút.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giá trị gyro thô 655 nghĩa là 655 ÷ 65,5 = 10 °/s. Nằm phẳng, raw_az đọc khoảng 4096, tức 1 g. GYRO_SCALE trong mã, 0,0000611, là 1 ÷ 65,5 × 0,004: số độ đi được trong một vòng cho mỗi số đếm thô.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độ lệch quan trọng đến vậy? Góc là tổng tốc độ gyro theo thời gian. Độ lệch 0,3 °/s để nguyên trong 60 giây thành sai số hướng 18 độ. Xê dịch drone khi hiệu chuẩn sẽ nhúng một cú xoay giả vào mọi chuyến bay cho tới lần bật nguồn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Góc này không bao giờ trôi, vì trọng lực luôn hướng xuống. Nhưng nó chỉ đúng khi drone không tăng tốc. Khi tăng ga đột ngột hay va chạm, gia tốc kế cảm nhận thêm lực và góc nhảy lên. Vì thế không thể dùng riêng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kết hợp mà không chọn cái tốt hơn? Không cái nào tốt hơn: gyro đúng trong một phần giây, gia tốc kế đúng trong vài giây. Bộ lọc bù là cách đơn giản nhất lấy phần ngắn hạn của cái này và phần dài hạn của cái kia. Các hệ thống bay lớn dùng bộ lọc Kalman hoặc Mahony cho cùng việc.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bộ lọc chỉ có thế: hai dòng mỗi trục. Gọi là “bù” vì hai trọng số cộng lại bằng 1, gyro lo tần số cao còn gia tốc kế lo tần số thấp.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đổi: trọng số gia tốc kế lớn hơn, như 0,02, loại độ trôi nhanh hơn nhưng để rung lọt vào góc. Nhỏ hơn, như 0,001, mượt hơn nhưng trôi lâu hơn sau va chạm. Khoảng một giây là lựa chọn phổ biến cho drone nhỏ. Nếu đổi LOOP_TIME_US, phải đổi trọng số, nếu không hằng số thời gian sẽ lệch.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 thích trong attitudeUpdate() viết: giữ hướng chỉ tốt bằng độ lệch gyro trong một chuyến bay — nó trôi chậm; đó là giới hạn thật, không phải thứ để che giấu. Dẫn đường xử lý bằng cách nhờ điện thoại, vốn có la bàn, cung cấp hướng ban đầu (NAV_CMD_ALIGN).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bộ lọc thông thấp 92 Hz trong cảm biến và bộ lọc bù đều làm mượt dữ liệu, nhưng giải quyết hai vấn đề khác nhau. Một cái loại rung trong mẫu thô; cái kia kết hợp hai cảm biến. Bạn giải thích được cái nào là cái nào, và bỏ từng cái thì chuyện gì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6 là trái tim của bộ điều khiển bay. PID là một công thức đơn giản có ba phần. Firmware dùng nó ba lần: roll, pitch và yaw.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bộ điều khiển PID chỉ là ba phản ứng này cộng lại: đầu ra = P + I + D. Nghệ thuật chỉnh là chọn mỗi phản ứng mạnh cỡ nào — ba hệ số Kp, Ki và Kd.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có P thường để lại một sai số nhỏ không đổi, vì khi sai số nhỏ thì lực đẩy cũng nhỏ. Đó là việc của I. Chỉ có P cũng hay vượt quá, đó là việc của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drone cần I? Drone thật không bao giờ cân hoàn hảo: pin hơi lệch tâm, một động cơ hơi yếu. P sẽ để lại một độ trôi nhỏ không đổi. I tăng dần cho tới khi bù đúng sự mất cân bằng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yaw không có D (Kd 0)? Yaw thay đổi chậm và mô-men yếu, nên hiếm khi vượt quá, và D chỉ thêm nhiễu. Vì sao D nhạy với nhiễu? Nhiễu thay đổi nhanh từ vòng này sang vòng khác, và D nhân mọi thay đổi nhanh với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Từng dòng: tính sai số, cộng vào bộ nhớ I và kẹp giới hạn, tính P, chép I, tính D từ thay đổi sai số, cộng lại, nhớ sai số cho vòng sau, và kẹp đầu ra. Để ý không có dt ở đâu cả: các hệ số đã gồm sẵn thời gian vòng 4 ms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nhấn mạnh? Dấu là lỗi phổ biến nhất trong firmware drone, và chúng ẩn ở bốn chỗ: dấu trục gyro (GYRO_*_SIGN), sai số, thành phần tự cân bằng và bộ trộn. Firmware này từng có một lỗi như vậy ở thành phần tự cân bằng, bạn sẽ thấy ở slide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trên đất, drone đậu nghiêng 3 độ trên cỏ gồ ghề. Vòng cân bằng đòi một tốc độ mà drone không làm được, sai số còn đó, và I cứ tăng. Không đặt lại, drone sẽ phóng ngang lúc vừa rời đất.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Derivative kick: nếu phi công giật cần, setpoint nhảy trong một vòng, nên sai số nhảy, và D nhân bước nhảy đó với 18. Động cơ nhận một xung một vòng. Ở firmware này nó bị hạn chế vì cần SBUS di chuyển mượt, điện thoại gửi góc đi qua thành phần P tự cân bằng trước, và đầu ra bị kẹp. Đổi sang D theo phép đo là một bài tập hay.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chừa khoảng trống? Nếu ga ở 2000, động cơ cần thêm để sửa không thể cao hơn, nên mất điều khiển đúng lúc cần nhất. Vì sao tối thiểu 1100? Động cơ chổi than đã dừng cần thời gian để quay lại, và cánh dừng giữa không trung thì không sửa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gọi là cascade (nối tầng). Vòng ngoài làm việc với góc và tạo ra tốc độ mục tiêu; vòng trong làm việc với tốc độ và tạo lệnh sửa động cơ. Vì sao hai vòng? Vòng tốc độ nhanh và cứng nên chống được nhiễu nhanh; vòng góc chỉ cần quyết định quay về nhanh cỡ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 thích trong sketch giải thích phép trừ: nghiêng +5 độ quá mục tiêu thì vòng tốc độ phải được đòi tốc độ ÂM để quay về. Slide sau cho thấy chuyện gì xảy ra khi nó bị cộng.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chuyện: mã cũ cộng thành phần cân bằng. Với vòng tốc độ hoàn hảo, mọi độ nghiêng lại đòi nghiêng thêm cùng chiều — phản hồi dương — và drone lật chỉ một phần giây sau khi cất cánh. Cách sửa chỉ là một ký tự. Bài học lớn hơn: viết một mô phỏng nhỏ cho mỗi dấu quan trọng, và giữ phiên bản sai trong bài kiểm thử để chứng minh bài kiểm thử có thể thất bại.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15? Lớn hơn thì bật về thăng bằng mạnh hơn nhưng có thể vượt quá và lắc; nhỏ hơn thì cảm giác lửng lơ và drone trôi. 15 là điểm khởi đầu cho drone nhỏ. Vì sao giới hạn 200? Một nhiễu lớn không nên đòi một cú xoay dữ dội.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có vùng chết? Cần không bao giờ nằm đúng 1500, và một độ lệch nhỏ sẽ làm drone xoay chậm. Vì sao điện thoại và SBUS khác nhau? Màn hình cảm ứng không chính xác, nên ra lệnh góc có tự cân bằng sẽ dễ hơn; phi công RC được chế độ rate với tự cân bằng bên dưới.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chỉnh hiệu quả cho phần lớn drone nhỏ: một, đặt I bằng 0; hai, tăng P tới khi bắt đầu rung nhanh, rồi giảm 30%; ba, tăng D tới khi drone hết nảy sau cú gạt cần nhanh; bốn, thêm I tới khi giữ thăng bằng không trôi; năm, lưu. Mỗi lần đổi một giá trị, và thử khi tháo cánh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vì sao PID này không có dt? Vì vòng lặp có nhịp cứng 4 ms, các hệ số đã gồm dt. Điều gì hỏng nếu chu kỳ thay đổi — ví dụ Wi-Fi làm một vòng kéo dài 6 ms? Thành phần nào nhạy nhất: I (tăng theo mỗi vòng) hay D (ngầm chia cho thời gian vòng)?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7 biến đầu ra PID thành tốc độ động cơ. Phần này ngắn, nhưng mọi dấu ở đây phải khớp với vật lý ở phần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Đã rút gọn: trong sketch mỗi thành phần là pid_output_roll v.v., ép kiểu int16_t. So với bảng ở slide 15: mọi động tác đều cộng ở vài động cơ, trừ ở các động cơ khác, và bốn dấu của mỗi cột cộng lại bằng 0. Vì vậy lệnh sửa không làm đổi tổng lực đẩy.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tự tính bằng bốn công thức ở slide trước. Rồi kiểm tra trung bình: (1460 + 1440 + 1320 + 1380) ÷ 4 = 1400 — đúng bằng ga. Lệnh sửa chỉ chuyển lực đẩy giữa các động cơ; không bao giờ thêm hay bớt.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dừng động cơ ở không tải thay vì chạy ở 1100? Khi kéo ga hết xuống, phi công mong cánh dừng, và drone đậu trên đất không nên chống lại mặt đất bằng lệnh sửa I. Khi ga vượt 1050, sàn 1100 giữ mọi cánh quay trên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một đường thẳng: 1000 ứng với duty 0% và 2000 ứng với 100%. Hai dòng đầu xử lý giá trị ngoài dải, nên thanh ghi PWM không bao giờ nhận số vô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có #if? Bản 3 của core Arduino-ESP32 thay ledcSetup và ledcAttachPin bằng một hàm ledcAttach làm việc theo chân thay vì theo kênh. Hỗ trợ cả hai giúp sketch build được trên bản cũ lẫn mới. Đã rút gọn: điều kiện thật còn kiểm tra macro phiên bản có tồn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Độ phân giải PWM bị giới hạn bởi số nhịp xung trong một chu kỳ. Ở 20 kHz có 4000 nhịp, nên 10 bit (1024 bậc) vừa còn 12 bit thì không. Tần số thấp hơn cho phép nhiều bit hơn nhưng động cơ sẽ kêu rít. 1024 bậc đã mịn hơn mức động cơ chổi than nhỏ cảm nhận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Tất cả đều gọi motorStop(), ghi 1000 cho cả bốn động cơ: duty bằng 0. Phần lớn còn xóa bộ nhớ PID bằng pidReset(), để lần arm sau bắt đầu sạch. Bài tập hữu ích: tìm motorStop trong sketch và đối chiếu với bảng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hệ bay lớn thêm “air mode” hay “mixer scaling”: khi một động cơ sắp bị cắt, chúng dịch cả bốn xuống cùng nhau để lệnh sửa còn nguyên. Firmware này không làm vậy, đó là một dự án mở rộng hay khi bạn đã hiểu bộ trộn.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nếu một động cơ yếu hơn các động cơ khác, thành phần nào của bộ điều khiển bù cho nó — P, I hay D — và bạn sẽ thấy ở đâu trong log? Gợi ý: nhìn giá trị ổn định của các thành phần I khi lơ lửng.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8 trình bày hai giao thức đầu vào. SBUS đến từ máy thu RC mô hình; CRTP đến từ ứng dụng điện thoại qua Wi-Fi hoặc Bluetooth.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khung đến khoảng mỗi 7 đến 14 ms tùy máy thu. sbusPoll() chờ đầu khung 0x0F, gom 25 byte, rồi kiểm tra khung trước khi giải mã. Byte cờ là máy thu báo cho ta biết nó còn nghe thấy tay phát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một ví dụ: kênh 0 là 8 bit thấp từ byte 1 cộng 3 bit thấp của byte 2. Kênh 1 bắt đầu ở bit 3 của byte 2. Mỗi kênh mới bắt đầu sau kênh trước 11 bit, nên lượng dịch lặp lại sau mỗi 8 kênh.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nguy hiểm đến vậy? Máy thu mất tín hiệu tay phát thường vẫn gửi khung với vị trí cần CUỐI CÙNG và bật cờ failsafe. Nếu không nhìn cờ, drone cứ bay với mức ga phi công để lại, mất kiểm soát. Bản sửa cũng không cập nhật sbus_last_frame_ms khi gặp khung failsafe, để thời hạn bình thường làm việc dừng động cơ.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bao giờ chờ? sbusPoll() chạy trong vòng 4 ms. Nếu nó chặn tới khi đủ một khung, vòng điều khiển sẽ đứng tới 14 ms. Thay vào đó nó lấy những byte đã sẵn và hoàn thành khung ở vòng sau. Đã rút gọn: mã thật dùng hằng SBUS_MIN và SBUS_MAX.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phải giữ một giây? Chạm nhẹ cần không được làm arm. Vì sao ga thấp? Để động cơ không nhảy lên mức cao ngay lúc arm. Arm cũng chạy armChecksOk(), nên pin dưới 3,3 V sẽ bị từ chối.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dùng lại giao thức có sẵn? Ứng dụng Android và iOS được xây từ thư viện client Crazyflie của Bitcraze, nên khớp chính xác bố cục byte của chúng nghĩa là ứng dụng chạy được mà không phải sửa. Chú thích trong sketch ghim mỗi bố cục với lớp Java mà nó lấy từ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checksum đơn giản vậy? Nó bắt được phần lớn lỗi một byte và gần như không tốn gì. UDP đã có checksum riêng, nên đây chủ yếu bảo vệ đường Bluetooth nối tiếp. Gói BLE đến đã được ngăn xếp BLE đóng khung, nên bỏ qua bước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CRTP không bao giờ biết đường truyền nào đang chạy: nó gọi linkSend() và nhận qua crtpReceiveFramed() hoặc crtpReceiveRaw(). Sự tách bạch đó là lý do thêm BLE không đụng tới mã bay. BLE giới hạn 20 byte mỗi lần ghi, nên gói CRTP 30 byte được chia hai đoạn kèm byte điều khiển.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crtpHandleCommander() sao chép các trường bằng memcpy, rồi từ chối gói nếu có số thực NaN hoặc vô cực, hoặc góc vô lý (quá 180 độ, hoặc tốc độ yaw quá 2000). Gói xấu bị bỏ qua, nên lệnh tốt cuối cùng vẫn giữ và đồng hồ failsafe tiếp tục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lạ rơi vào “default: break”, nên tính năng ứng dụng mà firmware không hỗ trợ đơn giản là không làm gì. Port 7 là phần mở rộng riêng cho drone này: mọi thứ về chế độ, cất cánh và hạ cánh đi qua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kiểm tra? Trước bản sửa này, hệ số NaN hoặc takeoff_ms bằng 0 từ ứng dụng lọt vào mã bay. takeoff_ms là số chia trong đường dốc cất cánh, nên 0 nghĩa là chia cho 0. Giờ mọi lần ghi đều được kiểm tra, và giá trị nạp từ flash cũng vậy (paramSanitizeAll).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truyền liên tục thay vì hỏi từng lần? Hỏi sẽ gấp đôi lưu lượng radio và thêm độ trễ khứ hồi. Truyền liên tục cũng đọc mọi giá trị một lượt, nên một gói nhất quán. Cấu hình Standard của ứng dụng giờ xin pin, chế độ, armed, trạng thái auto, roll và pitch mỗi 250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lệnh trả lời ba byte: 0x70, mã lệnh, và trạng thái (0 = OK, 1 = từ chối). Ứng dụng gửi lại mỗi 500 ms tới khi thấy phản hồi, đó là lý do mỗi lệnh phải an toàn khi áp dụng hai lần. Kênh 1 (0x71) mang dẫn đường: TARGET, RESET và ALIGN, trình bày ở phần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điện thoại và máy thu RC có thể cùng kết nối. Quy tắc nào quyết định ai lái, và điều gì sai nếu quy tắc ngược lại — SBUS trước? Hãy nghĩ tới một phi công bật tay phát rồi bỏ quên trên bàn.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9 trình bày năm chế độ bay và nhiều kiểm tra an toàn. Cách đọc tốt: với mỗi kiểm tra, hãy hỏi nó ngăn tai nạn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chế độ nào giữ độ cao: không có cảm biến áp suất, nên HOLD giữ mức lực đẩy và độ cao trôi theo pin. SBUS luôn ở chế độ rate thủ công, vì tay điều khiển RC thật là lưới an toàn và không bao giờ được chế độ tự động ghi đè.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TAKEOFF tự chuyển sang HOLD khi dốc kết thúc. HOLD kéo dài tới khi ứng dụng gửi LAND, hoặc pin vào mức nguy hiểm. LAND kết thúc bằng disarm. Vì sao dùng máy trạng thái? Mỗi trạng thái có một quy tắc đơn giản, và các chuyển tiếp dễ kiểm thử và dễ giải thích trên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Rút gọn từ sketch, bản thật còn chặn thời lượng bằng 0. Hạ cánh hoàn toàn theo thời gian: không có cảm biến khoảng cách, drone không biết khi nào chạm đất. Nếu hover_thrust đặt quá cao, drone vẫn còn trên không khi dốc kết thúc và sẽ rơi vài centimet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cần quấn? Hướng nằm trên vòng tròn. Không quấn, drone ở 350 độ được bảo giữ 10 độ sẽ xoay 340 độ đường dài thay vì 20 độ đường ngắn. Hướng cần giữ được ghi lại khi vào HOLD hoặc khi cất cánh, nên drone giữ nguyên hướng nó đang nhìn.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quy tắc ngăn một tai nạn thật: cái đầu ngăn khởi động bất ngờ ở ga tối đa khi kết nối lại; cái thứ hai ngăn động cơ nhảy lên lực đẩy hover trên bàn; cái thứ ba đảm bảo con đường duy nhất vào bay tự động bắt đầu từ lực đẩy 0. Kết nối lại cũng xóa crtp_thrust_was_low, nên phải thấy 0 lần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có hàm này, mỗi đường arm có kiểm tra riêng, và chúng lệch dần. Đặt quy tắc ở một chỗ là mẫu an toàn kinh điển. Tham số who cho biết đường nào yêu cầu, giúp khi đọc log serial. Đã rút gọn từ sketch.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MANUAL cần riêng gói cần điều khiển? Trong MANUAL, luồng gói cần CHÍNH LÀ setpoint; thiếu nó thì mức ga cuối cùng bị giữ nguyên. Ở HOLD hay AUTO drone tự bay và ứng dụng gửi gói khác (chế độ, yêu cầu log), nên mọi lưu lượng chứng tỏ điện thoại còn đó. Trước bản sửa, chỉ gói cần được tính, nên drone lơ lửng ở AUTO bị cắt động cơ sau 500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Chỗ tinh tế: now được đọc ở đầu loop(), còn các bộ thu chạy sau đó. Gói đến trong lúc sbusPoll() nhận mốc millis(), có thể muộn hơn now một mili giây. Với số 32 bit không dấu, now − last khi đó là 4.294.967.295 — khoảng 49,7 ngày — và failsafe kích hoạt trong một vòng, cắt động cơ giữa không trung. Ép hiệu số sang có dấu là sửa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từng dòng với mã ở slide 118. Dòng cuối là dòng mà bản sửa byte 23 của SBUS làm cho đúng: trước đó, khung failsafe của máy thu trông bình thường và sbus_ok vẫn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có thời gian giữ, mỗi lần bay vọt lên có thể gây tự hạ cánh. Có nó, drone chỉ hạ cánh khi pin thật sự yếu. Mốc bắt đầu được đặt lại ngay khi điện áp hồi trên 3,3 V, nên 3 giây phải liên tục.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giành quyền của phi công thủ công? Phi công có thể đang ở trên mặt nước hay cây cối và cần vài giây bay tới chỗ an toàn; ép hạ cánh có thể tệ hơn. Ở chế độ tự động không ai lái, nên drone hạ cánh. Rút gọn từ loop() và handler SET_MODE.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nhiều kiểm tra vậy? Dữ liệu từ điện thoại, đường radio hay bộ nhớ flash có thể bị hỏng, hoặc đơn giản là sai do lỗi ứng dụng. Vòng bay tin tuyệt đối vào đầu vào của nó, nên kiểm tra phải xảy ra ở rìa, nơi dữ liệu đi vào. Gọi là kiểm tra ở biên.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Mẫu chung: bất cứ gì có thể dừng CPU hay khởi động lại chip chỉ được làm trên đất. Ứng dụng làm mờ các nút này khi đang arm, nhưng firmware vẫn thực thi quy tắc, vì firmware là tuyến phòng thủ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hai lần chạm ở Fly? Màn hình Fly là nơi ngón tay bạn đặt, nên chạm nhầm một lần rất dễ; lần thứ hai xác nhận. Ở Mission và Tune bạn không lái bằng ngón cái, nên một lần là đủ. EMERGENCY được thực hiện ở mọi chế độ và trạng thái: không kiểm tra nào từ chối được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nguyên tắc 3 ở slide 54 trong thực tế: lệnh phải idempotent. Kiểm tra đầu làm lệnh lặp vô hại. Kiểm tra thứ hai từ chối TAKEOFF khi đang bay ở chế độ khác, vì dốc từ lực đẩy 0 trên không chẳng bao giờ là điều ai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kiểm tra nào hoàn hảo, nên firmware xếp chồng chúng, như các lát pho mát Thụy Sĩ: lỗ ở lớp này được lớp sau che. Khi thêm tính năng, hãy hỏi nó thuộc lớp nào và có mở lỗ ở lớp khác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chọn một kiểm tra an toàn và bỏ nó trong đầu. Mô tả từng bước tai nạn có thể xảy ra. Làm vậy với từng lớp là cách các đội chuyên nghiệp phân tích mối nguy.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10 giải thích FOLLOW và RTH. Drone không có GPS, nên nó tự ước tính vị trí từ gia tốc kế. Ước tính này thô, và mã nói rõ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Chú thích trong mã nói thẳng: hãy coi kết quả là “đại khái về phía phi công”, không bao giờ là vị trí được theo dõi. Vậy sao vẫn có nó? Vì “đại khái về phía phi công” vẫn hữu ích cho những đoạn di chuyển ngắn, chậm, miễn là ứng dụng và phi công biết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lần tích phân cộng dồn sai số nhỏ. Một độ lệch gia tốc nhỏ không đổi trở thành sai số vận tốc tăng tuyến tính, và sai số vị trí tăng theo bình phương thời gian. Vì thế mã chống trôi bằng ba cách: rò rỉ, đặt vận tốc về 0 khi giữ yên, và đặt lại khi cất cánh.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Đã rút gọn: sketch tính sin và cos một lần vào sg, cg, st, ct. Đây là chỗ ước lượng tư thế và dẫn đường gặp nhau: sai 1 độ ở góc nghiêng để lại khoảng 0,17 m/s² gia tốc giả — lớn hơn nhiều so với độ lệch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hằng số cách xa nhau trong file mô tả cùng một sự thật, và một cái bị đổi mà cái kia không. Drone tin nó mới đi 1 m khi thật ra đã đi 4 m, nên FOLLOW vượt quá xa. Kiểm tra trong run.sh ánh xạ mỗi giá trị ACCEL_CFG ra thang của nó và từ chối chạy tiếp nếu #define không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powf(0,60, dt)? Nó làm rò rỉ đúng theo giây bất kể tốc độ vòng: ở 4 ms, mỗi vòng nhân khoảng 0,998. Chú thích gọi đây là đánh đổi đúng cho thiết bị chủ yếu lơ lửng. Việc đặt về 0 khi giữ yên là cách sửa mạnh nhất, vì nó dùng điều drone biết chắc chắn.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 cũng đặt vị trí và hướng tham chiếu về 0, nên thời điểm này trở thành điểm cất cánh. frame_test.cpp kiểm tra các điểm thẳng phía trước, bên cánh trái, bên cánh phải và phía sau, và giữ công thức trước khi sửa làm đối chứng 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cần hằng số dấu? heading_deg tăng theo chiều gyro gọi là dương, còn hệ cất cánh đo góc từ +x về +y, tức về bên trái. Nếu hai thứ này ngược nhau, mọi phép quay đều quay sai. yawrot_test.cpp được build với dấu đọc thẳng từ sketch, nên nó kiểm tra đúng cấu hình đang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giới hạn 12 độ, nhỏ hơn mức 25 độ khi lái tay? Dẫn đường là phần kém chắc chắn nhất của firmware, nên chỉ được di chuyển nhẹ nhàng nhất. Vì sao có vùng dừng? Ước tính vị trí không bao giờ chính xác; thiếu nó drone sẽ lắc qua lại quanh một mục tiêu không bao giờ chạm đúng. Mục tiêu cũ hơn 3 s bị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sâu hơn: GPS của điện thoại chỉ chính xác vài mét. Sau 30 giây, sai số nào lớn hơn — GPS điện thoại hay độ trôi ước tính vị trí của drone? Điều đó cho bạn biết FOLLOW đáng tin tới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11 cho thấy firmware được kiểm thử không cần drone ra sao, cách chạy bài kiểm thử, và quy trình trên bàn: build, nạp, đọc cổng serial.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kiểm thử trên máy tính? Không cần drone, cánh quạt hay pin, và có kết quả trong khoảng một giây. Các bài này không cố bao quát mọi thứ. Chúng bao những dòng từng sai và dễ sai lại: dấu, hệ tọa độ và các trường hợp biên của giao thức. Mỗi bài đều giữ phiên bản lỗi cũ làm đối chứng 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không biên dịch sketch thật cho máy tính? Nó phụ thuộc thư viện Arduino, Wi-Fi và Bluetooth. Chép vài dòng toán thuần đơn giản hơn nhiều, và kiểm tra này làm bản chép đáng tin: nếu bạn đổi một dòng được canh, run.sh bảo bạn cập nhật bài kiểm thử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ý tưởng kiểm thử hữu ích nhất của khóa: bạn không cần trình mô phỏng vật lý đầy đủ để bắt lỗi dấu. Mười dòng mô phỏng đúng vòng bạn quan tâm là đủ, và chạy trong vài micro giây. Đã rút gọn từ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ý các trường hợp tốt được kiểm tra kỹ như trường hợp xấu. Một bản sửa loại mọi khung SBUS2 cũng làm drone không bay được, chỉ theo cách khác. Dòng cuối chứng minh bài kiểm thử đã bắt được lỗi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Thứ tự này — kiểm thử trước, rồi đổi mã — là phát triển hướng kiểm thử ở dạng đơn giản nhất. Đối chứng âm là bước người học hay bỏ qua nhất, và chính nó chứng minh bài kiểm thử thật sự kiểm tra điều gì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serial monitor ở 115200 baud. Mỗi giây firmware cũng in một dòng telemetry. link, sta và save bị từ chối khi đang arm. Ví dụ dòng: “disarm | VBAT:3.92V | RC r:1500 p:1500 t:1000 y:1500 | ang p:+0.4 r:-0.2 | mot RF:1000 RR:1000 LR:1000 LF:1000”.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Huge APP? Wi-Fi, Bluetooth Classic và BLE cùng biên dịch ra khoảng 1,7 MB, không vừa phân vùng mặc định 1,25 MB. Huge APP cho 3 MB và bỏ cập nhật qua mạng (OTA), thứ drone không cần. Nếu khởi động dừng ở thông báo WHO_AM_I, hãy kiểm tra dây SPI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Làm theo thứ tự. Mỗi bài dùng điều bài trước đã dạy. Bài 2 là thói quen an toàn quan trọng nhất: mỗi lần đụng tới một dấu ở bất kỳ đâu, lặp lại nó trước khi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Hãy mở slide này khi đọc mã. Phần lớn chú thích trong sketch dùng đúng các từ tiếng Anh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câu hỏi này nối cả khóa học lại: dấu và phản hồi, cảm biến và giới hạn, kiểm tra ở biên, và bài kiểm thử có thể thất bại. Nếu bạn trả lời được bằng lời của mình, kèm một ví dụ trong mã cho mỗi câu, bạn đã hiểu thiết kế của firmware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điều về hành vi của drone này đều đến từ chính sketch — khi slide và mã không khớp, mã đúng. Repository: github.com/quangvu16/Esp32_Drone. Cảm ơn bạn đã theo hết 150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826220"/>
            <a:ext cx="10566400" cy="4218980"/>
          </a:xfrm>
          <a:prstGeom prst="rect">
            <a:avLst/>
          </a:prstGeom>
          <a:noFill/>
          <a:ln/>
        </p:spPr>
        <p:txBody>
          <a:bodyPr wrap="square" lIns="0" tIns="0" rIns="0" bIns="0" rtlCol="0" anchor="t"/>
          <a:lstStyle>
            <a:lvl1pPr algn="l" indent="0" marL="0">
              <a:lnSpc>
                <a:spcPct val="140000"/>
              </a:lnSpc>
              <a:buNone/>
              <a:defRPr lang="en-US" sz="1600" dirty="0">
                <a:solidFill>
                  <a:srgbClr val="13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2.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2.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slideLayout" Target="../slideLayouts/slideLayout2.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2.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slideLayout" Target="../slideLayouts/slideLayout2.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slideLayout" Target="../slideLayouts/slideLayout2.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slideLayout" Target="../slideLayouts/slideLayout2.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image" Target="../media/image-134-1.png"/><Relationship Id="rId2" Type="http://schemas.openxmlformats.org/officeDocument/2006/relationships/slideLayout" Target="../slideLayouts/slideLayout2.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slideLayout" Target="../slideLayouts/slideLayout2.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9E5C"/>
                </a:solidFill>
                <a:latin typeface="IBM Plex Sans" pitchFamily="34" charset="0"/>
                <a:ea typeface="IBM Plex Sans" pitchFamily="34" charset="-122"/>
                <a:cs typeface="IBM Plex Sans" pitchFamily="34" charset="-120"/>
              </a:rPr>
              <a:t>KHÓA HỌC CHO NGƯỜI MỚI · 150 SLIDE</a:t>
            </a:r>
            <a:endParaRPr lang="en-US" sz="1400" dirty="0"/>
          </a:p>
        </p:txBody>
      </p:sp>
      <p:sp>
        <p:nvSpPr>
          <p:cNvPr id="3" name="Text 1"/>
          <p:cNvSpPr/>
          <p:nvPr>
            <p:ph type="title"/>
          </p:nvPr>
        </p:nvSpPr>
        <p:spPr>
          <a:xfrm>
            <a:off x="812800" y="1214090"/>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0"/>
                </a:solidFill>
                <a:latin typeface="IBM Plex Sans" pitchFamily="34" charset="0"/>
                <a:ea typeface="IBM Plex Sans" pitchFamily="34" charset="-122"/>
                <a:cs typeface="IBM Plex Sans" pitchFamily="34" charset="-120"/>
              </a:rPr>
              <a:t>Drone ESP32 hoạt động như thế nào</a:t>
            </a:r>
            <a:endParaRPr lang="en-US" sz="5600" dirty="0"/>
          </a:p>
        </p:txBody>
      </p:sp>
      <p:sp>
        <p:nvSpPr>
          <p:cNvPr id="4" name="Text 2"/>
          <p:cNvSpPr/>
          <p:nvPr/>
        </p:nvSpPr>
        <p:spPr>
          <a:xfrm>
            <a:off x="812800" y="2859931"/>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9D4"/>
                </a:solidFill>
                <a:latin typeface="IBM Plex Sans" pitchFamily="34" charset="0"/>
                <a:ea typeface="IBM Plex Sans" pitchFamily="34" charset="-122"/>
                <a:cs typeface="IBM Plex Sans" pitchFamily="34" charset="-120"/>
              </a:rPr>
              <a:t>Linh kiện, thiết kế firmware và mã nguồn — từng dòng, bằng lời đơn giản.</a:t>
            </a:r>
            <a:endParaRPr lang="en-US" sz="2200" dirty="0"/>
          </a:p>
        </p:txBody>
      </p:sp>
      <p:sp>
        <p:nvSpPr>
          <p:cNvPr id="5" name="Text 3"/>
          <p:cNvSpPr/>
          <p:nvPr/>
        </p:nvSpPr>
        <p:spPr>
          <a:xfrm>
            <a:off x="819150" y="5624860"/>
            <a:ext cx="2042914" cy="413990"/>
          </a:xfrm>
          <a:prstGeom prst="roundRect">
            <a:avLst>
              <a:gd name="adj" fmla="val 50000"/>
            </a:avLst>
          </a:prstGeom>
          <a:noFill/>
          <a:ln w="12700">
            <a:solidFill>
              <a:srgbClr val="3A4A5C"/>
            </a:solidFill>
            <a:prstDash val="solid"/>
          </a:ln>
        </p:spPr>
        <p:txBody>
          <a:bodyPr wrap="none" lIns="0" tIns="0" rIns="0" bIns="0" rtlCol="0" anchor="ctr">
            <a:normAutofit/>
          </a:bodyPr>
          <a:lstStyle/>
          <a:p>
            <a:pPr algn="ctr" indent="0" marL="0">
              <a:lnSpc>
                <a:spcPts val="1960"/>
              </a:lnSpc>
              <a:buNone/>
            </a:pPr>
            <a:r>
              <a:rPr lang="en-US" sz="1400" dirty="0">
                <a:solidFill>
                  <a:srgbClr val="E6EBF0"/>
                </a:solidFill>
                <a:latin typeface="IBM Plex Sans" pitchFamily="34" charset="0"/>
                <a:ea typeface="IBM Plex Sans" pitchFamily="34" charset="-122"/>
                <a:cs typeface="IBM Plex Sans" pitchFamily="34" charset="-120"/>
              </a:rPr>
              <a:t>Bo mạch XW_Z1 V2.0</a:t>
            </a:r>
            <a:endParaRPr lang="en-US" sz="1400" dirty="0"/>
          </a:p>
        </p:txBody>
      </p:sp>
      <p:sp>
        <p:nvSpPr>
          <p:cNvPr id="6" name="Text 4"/>
          <p:cNvSpPr/>
          <p:nvPr/>
        </p:nvSpPr>
        <p:spPr>
          <a:xfrm>
            <a:off x="3027164" y="5624860"/>
            <a:ext cx="1835596" cy="413990"/>
          </a:xfrm>
          <a:prstGeom prst="roundRect">
            <a:avLst>
              <a:gd name="adj" fmla="val 50000"/>
            </a:avLst>
          </a:prstGeom>
          <a:noFill/>
          <a:ln w="12700">
            <a:solidFill>
              <a:srgbClr val="3A4A5C"/>
            </a:solidFill>
            <a:prstDash val="solid"/>
          </a:ln>
        </p:spPr>
        <p:txBody>
          <a:bodyPr wrap="none" lIns="0" tIns="0" rIns="0" bIns="0" rtlCol="0" anchor="ctr">
            <a:normAutofit/>
          </a:bodyPr>
          <a:lstStyle/>
          <a:p>
            <a:pPr algn="ctr" indent="0" marL="0">
              <a:lnSpc>
                <a:spcPts val="1960"/>
              </a:lnSpc>
              <a:buNone/>
            </a:pPr>
            <a:r>
              <a:rPr lang="en-US" sz="1400" dirty="0">
                <a:solidFill>
                  <a:srgbClr val="E6EBF0"/>
                </a:solidFill>
                <a:latin typeface="IBM Plex Sans" pitchFamily="34" charset="0"/>
                <a:ea typeface="IBM Plex Sans" pitchFamily="34" charset="-122"/>
                <a:cs typeface="IBM Plex Sans" pitchFamily="34" charset="-120"/>
              </a:rPr>
              <a:t>ESP32 + MPU6500</a:t>
            </a:r>
            <a:endParaRPr lang="en-US" sz="1400" dirty="0"/>
          </a:p>
        </p:txBody>
      </p:sp>
      <p:sp>
        <p:nvSpPr>
          <p:cNvPr id="7" name="Text 5"/>
          <p:cNvSpPr/>
          <p:nvPr/>
        </p:nvSpPr>
        <p:spPr>
          <a:xfrm>
            <a:off x="5027861" y="5624860"/>
            <a:ext cx="1669504" cy="413990"/>
          </a:xfrm>
          <a:prstGeom prst="roundRect">
            <a:avLst>
              <a:gd name="adj" fmla="val 50000"/>
            </a:avLst>
          </a:prstGeom>
          <a:noFill/>
          <a:ln w="12700">
            <a:solidFill>
              <a:srgbClr val="3A4A5C"/>
            </a:solidFill>
            <a:prstDash val="solid"/>
          </a:ln>
        </p:spPr>
        <p:txBody>
          <a:bodyPr wrap="none" lIns="0" tIns="0" rIns="0" bIns="0" rtlCol="0" anchor="ctr">
            <a:normAutofit/>
          </a:bodyPr>
          <a:lstStyle/>
          <a:p>
            <a:pPr algn="ctr" indent="0" marL="0">
              <a:lnSpc>
                <a:spcPts val="1960"/>
              </a:lnSpc>
              <a:buNone/>
            </a:pPr>
            <a:r>
              <a:rPr lang="en-US" sz="1400" dirty="0">
                <a:solidFill>
                  <a:srgbClr val="E6EBF0"/>
                </a:solidFill>
                <a:latin typeface="IBM Plex Sans" pitchFamily="34" charset="0"/>
                <a:ea typeface="IBM Plex Sans" pitchFamily="34" charset="-122"/>
                <a:cs typeface="IBM Plex Sans" pitchFamily="34" charset="-120"/>
              </a:rPr>
              <a:t>Esp32_drone.ino</a:t>
            </a:r>
            <a:endParaRPr lang="en-US" sz="1400" dirty="0"/>
          </a:p>
        </p:txBody>
      </p:sp>
      <p:sp>
        <p:nvSpPr>
          <p:cNvPr id="8" name="Text 6"/>
          <p:cNvSpPr/>
          <p:nvPr/>
        </p:nvSpPr>
        <p:spPr>
          <a:xfrm>
            <a:off x="6862465" y="5624860"/>
            <a:ext cx="2160935" cy="413990"/>
          </a:xfrm>
          <a:prstGeom prst="roundRect">
            <a:avLst>
              <a:gd name="adj" fmla="val 50000"/>
            </a:avLst>
          </a:prstGeom>
          <a:noFill/>
          <a:ln w="12700">
            <a:solidFill>
              <a:srgbClr val="3A4A5C"/>
            </a:solidFill>
            <a:prstDash val="solid"/>
          </a:ln>
        </p:spPr>
        <p:txBody>
          <a:bodyPr wrap="none" lIns="0" tIns="0" rIns="0" bIns="0" rtlCol="0" anchor="ctr">
            <a:normAutofit/>
          </a:bodyPr>
          <a:lstStyle/>
          <a:p>
            <a:pPr algn="ctr" indent="0" marL="0">
              <a:lnSpc>
                <a:spcPts val="1960"/>
              </a:lnSpc>
              <a:buNone/>
            </a:pPr>
            <a:r>
              <a:rPr lang="en-US" sz="1400" dirty="0">
                <a:solidFill>
                  <a:srgbClr val="E6EBF0"/>
                </a:solidFill>
                <a:latin typeface="IBM Plex Sans" pitchFamily="34" charset="0"/>
                <a:ea typeface="IBM Plex Sans" pitchFamily="34" charset="-122"/>
                <a:cs typeface="IBM Plex Sans" pitchFamily="34" charset="-120"/>
              </a:rPr>
              <a:t>Ứng dụng Android · iOS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CHÀO MỪNG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Sau khóa học, bạn sẽ làm được gì</a:t>
            </a:r>
            <a:endParaRPr lang="en-US" sz="3000" dirty="0"/>
          </a:p>
        </p:txBody>
      </p:sp>
      <p:sp>
        <p:nvSpPr>
          <p:cNvPr id="4" name="Shape 2"/>
          <p:cNvSpPr/>
          <p:nvPr/>
        </p:nvSpPr>
        <p:spPr>
          <a:xfrm>
            <a:off x="819150" y="1781770"/>
            <a:ext cx="5168900" cy="1435100"/>
          </a:xfrm>
          <a:prstGeom prst="roundRect">
            <a:avLst>
              <a:gd name="adj" fmla="val 6637"/>
            </a:avLst>
          </a:prstGeom>
          <a:solidFill>
            <a:srgbClr val="FDFCF8"/>
          </a:solidFill>
          <a:ln w="12700">
            <a:solidFill>
              <a:srgbClr val="E2DFD6"/>
            </a:solidFill>
            <a:prstDash val="solid"/>
          </a:ln>
        </p:spPr>
      </p:sp>
      <p:sp>
        <p:nvSpPr>
          <p:cNvPr id="5" name="Text 3"/>
          <p:cNvSpPr/>
          <p:nvPr/>
        </p:nvSpPr>
        <p:spPr>
          <a:xfrm>
            <a:off x="1079500" y="204212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2E"/>
                </a:solidFill>
                <a:latin typeface="IBM Plex Sans" pitchFamily="34" charset="0"/>
                <a:ea typeface="IBM Plex Sans" pitchFamily="34" charset="-122"/>
                <a:cs typeface="IBM Plex Sans" pitchFamily="34" charset="-120"/>
              </a:rPr>
              <a:t>Giải thích cách bay</a:t>
            </a:r>
            <a:endParaRPr lang="en-US" sz="2000" dirty="0"/>
          </a:p>
        </p:txBody>
      </p:sp>
      <p:sp>
        <p:nvSpPr>
          <p:cNvPr id="6" name="Text 4"/>
          <p:cNvSpPr/>
          <p:nvPr/>
        </p:nvSpPr>
        <p:spPr>
          <a:xfrm>
            <a:off x="1079500" y="24231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Vì sao bốn cánh quạt có thể bay lên, nghiêng và xoay — và vì sao nó rơi nếu không có máy tính.</a:t>
            </a:r>
            <a:endParaRPr lang="en-US" sz="1500" dirty="0"/>
          </a:p>
        </p:txBody>
      </p:sp>
      <p:sp>
        <p:nvSpPr>
          <p:cNvPr id="7" name="Shape 5"/>
          <p:cNvSpPr/>
          <p:nvPr/>
        </p:nvSpPr>
        <p:spPr>
          <a:xfrm>
            <a:off x="6203950" y="1781770"/>
            <a:ext cx="5168900" cy="1435100"/>
          </a:xfrm>
          <a:prstGeom prst="roundRect">
            <a:avLst>
              <a:gd name="adj" fmla="val 6637"/>
            </a:avLst>
          </a:prstGeom>
          <a:solidFill>
            <a:srgbClr val="FDFCF8"/>
          </a:solidFill>
          <a:ln w="12700">
            <a:solidFill>
              <a:srgbClr val="E2DFD6"/>
            </a:solidFill>
            <a:prstDash val="solid"/>
          </a:ln>
        </p:spPr>
      </p:sp>
      <p:sp>
        <p:nvSpPr>
          <p:cNvPr id="8" name="Text 6"/>
          <p:cNvSpPr/>
          <p:nvPr/>
        </p:nvSpPr>
        <p:spPr>
          <a:xfrm>
            <a:off x="6464300" y="204212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2E"/>
                </a:solidFill>
                <a:latin typeface="IBM Plex Sans" pitchFamily="34" charset="0"/>
                <a:ea typeface="IBM Plex Sans" pitchFamily="34" charset="-122"/>
                <a:cs typeface="IBM Plex Sans" pitchFamily="34" charset="-120"/>
              </a:rPr>
              <a:t>Gọi tên mọi linh kiện</a:t>
            </a:r>
            <a:endParaRPr lang="en-US" sz="2000" dirty="0"/>
          </a:p>
        </p:txBody>
      </p:sp>
      <p:sp>
        <p:nvSpPr>
          <p:cNvPr id="9" name="Text 7"/>
          <p:cNvSpPr/>
          <p:nvPr/>
        </p:nvSpPr>
        <p:spPr>
          <a:xfrm>
            <a:off x="6464300" y="24231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ESP32, cảm biến chuyển động, mạch lái động cơ, đo pin — và từng chân làm gì.</a:t>
            </a:r>
            <a:endParaRPr lang="en-US" sz="1500" dirty="0"/>
          </a:p>
        </p:txBody>
      </p:sp>
      <p:sp>
        <p:nvSpPr>
          <p:cNvPr id="10" name="Shape 8"/>
          <p:cNvSpPr/>
          <p:nvPr/>
        </p:nvSpPr>
        <p:spPr>
          <a:xfrm>
            <a:off x="819150" y="3432770"/>
            <a:ext cx="5168900" cy="1435100"/>
          </a:xfrm>
          <a:prstGeom prst="roundRect">
            <a:avLst>
              <a:gd name="adj" fmla="val 6637"/>
            </a:avLst>
          </a:prstGeom>
          <a:solidFill>
            <a:srgbClr val="FDFCF8"/>
          </a:solidFill>
          <a:ln w="12700">
            <a:solidFill>
              <a:srgbClr val="E2DFD6"/>
            </a:solidFill>
            <a:prstDash val="solid"/>
          </a:ln>
        </p:spPr>
      </p:sp>
      <p:sp>
        <p:nvSpPr>
          <p:cNvPr id="11" name="Text 9"/>
          <p:cNvSpPr/>
          <p:nvPr/>
        </p:nvSpPr>
        <p:spPr>
          <a:xfrm>
            <a:off x="1079500" y="369312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2E"/>
                </a:solidFill>
                <a:latin typeface="IBM Plex Sans" pitchFamily="34" charset="0"/>
                <a:ea typeface="IBM Plex Sans" pitchFamily="34" charset="-122"/>
                <a:cs typeface="IBM Plex Sans" pitchFamily="34" charset="-120"/>
              </a:rPr>
              <a:t>Đọc được firmware</a:t>
            </a:r>
            <a:endParaRPr lang="en-US" sz="2000" dirty="0"/>
          </a:p>
        </p:txBody>
      </p:sp>
      <p:sp>
        <p:nvSpPr>
          <p:cNvPr id="12" name="Text 10"/>
          <p:cNvSpPr/>
          <p:nvPr/>
        </p:nvSpPr>
        <p:spPr>
          <a:xfrm>
            <a:off x="1079500" y="40741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Theo một vòng lặp của mã từ lúc đọc cảm biến đến lúc ra lệnh động cơ, 250 lần mỗi giây.</a:t>
            </a:r>
            <a:endParaRPr lang="en-US" sz="1500" dirty="0"/>
          </a:p>
        </p:txBody>
      </p:sp>
      <p:sp>
        <p:nvSpPr>
          <p:cNvPr id="13" name="Shape 11"/>
          <p:cNvSpPr/>
          <p:nvPr/>
        </p:nvSpPr>
        <p:spPr>
          <a:xfrm>
            <a:off x="6203950" y="3432770"/>
            <a:ext cx="5168900" cy="1435100"/>
          </a:xfrm>
          <a:prstGeom prst="roundRect">
            <a:avLst>
              <a:gd name="adj" fmla="val 6637"/>
            </a:avLst>
          </a:prstGeom>
          <a:solidFill>
            <a:srgbClr val="FDFCF8"/>
          </a:solidFill>
          <a:ln w="12700">
            <a:solidFill>
              <a:srgbClr val="E2DFD6"/>
            </a:solidFill>
            <a:prstDash val="solid"/>
          </a:ln>
        </p:spPr>
      </p:sp>
      <p:sp>
        <p:nvSpPr>
          <p:cNvPr id="14" name="Text 12"/>
          <p:cNvSpPr/>
          <p:nvPr/>
        </p:nvSpPr>
        <p:spPr>
          <a:xfrm>
            <a:off x="6464300" y="3693120"/>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02E"/>
                </a:solidFill>
                <a:latin typeface="IBM Plex Sans" pitchFamily="34" charset="0"/>
                <a:ea typeface="IBM Plex Sans" pitchFamily="34" charset="-122"/>
                <a:cs typeface="IBM Plex Sans" pitchFamily="34" charset="-120"/>
              </a:rPr>
              <a:t>Sửa đổi an toàn</a:t>
            </a:r>
            <a:endParaRPr lang="en-US" sz="2000" dirty="0"/>
          </a:p>
        </p:txBody>
      </p:sp>
      <p:sp>
        <p:nvSpPr>
          <p:cNvPr id="15" name="Text 13"/>
          <p:cNvSpPr/>
          <p:nvPr/>
        </p:nvSpPr>
        <p:spPr>
          <a:xfrm>
            <a:off x="6464300" y="4074120"/>
            <a:ext cx="47876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Biết có những lớp an toàn nào, chạy được bài kiểm thử, và sửa một chỗ nhỏ mà không làm hỏng chúng.</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Chào mừng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CHÀO MỪNG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Chiếc drone trong nháy mắt</a:t>
            </a:r>
            <a:endParaRPr lang="en-US" sz="3000" dirty="0"/>
          </a:p>
        </p:txBody>
      </p:sp>
      <p:sp>
        <p:nvSpPr>
          <p:cNvPr id="4" name="Shape 2"/>
          <p:cNvSpPr/>
          <p:nvPr/>
        </p:nvSpPr>
        <p:spPr>
          <a:xfrm>
            <a:off x="812800" y="1775420"/>
            <a:ext cx="3403600" cy="1990725"/>
          </a:xfrm>
          <a:prstGeom prst="roundRect">
            <a:avLst>
              <a:gd name="adj" fmla="val 5104"/>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4</a:t>
            </a:r>
            <a:endParaRPr lang="en-US" sz="4400" dirty="0"/>
          </a:p>
        </p:txBody>
      </p:sp>
      <p:sp>
        <p:nvSpPr>
          <p:cNvPr id="6" name="Text 4"/>
          <p:cNvSpPr/>
          <p:nvPr/>
        </p:nvSpPr>
        <p:spPr>
          <a:xfrm>
            <a:off x="10922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động cơ chổi than 8520, cấp điện thẳng từ pin qua MOSFET</a:t>
            </a:r>
            <a:endParaRPr lang="en-US" sz="1500" dirty="0"/>
          </a:p>
        </p:txBody>
      </p:sp>
      <p:sp>
        <p:nvSpPr>
          <p:cNvPr id="7" name="Shape 5"/>
          <p:cNvSpPr/>
          <p:nvPr/>
        </p:nvSpPr>
        <p:spPr>
          <a:xfrm>
            <a:off x="4394200" y="1775420"/>
            <a:ext cx="3403600" cy="1990725"/>
          </a:xfrm>
          <a:prstGeom prst="roundRect">
            <a:avLst>
              <a:gd name="adj" fmla="val 5104"/>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1</a:t>
            </a:r>
            <a:endParaRPr lang="en-US" sz="4400" dirty="0"/>
          </a:p>
        </p:txBody>
      </p:sp>
      <p:sp>
        <p:nvSpPr>
          <p:cNvPr id="9" name="Text 7"/>
          <p:cNvSpPr/>
          <p:nvPr/>
        </p:nvSpPr>
        <p:spPr>
          <a:xfrm>
            <a:off x="4673600" y="271522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cảm biến chuyển động (MPU6500). Không có cảm biến áp suất, GPS hay la bàn</a:t>
            </a:r>
            <a:endParaRPr lang="en-US" sz="1500" dirty="0"/>
          </a:p>
        </p:txBody>
      </p:sp>
      <p:sp>
        <p:nvSpPr>
          <p:cNvPr id="10" name="Shape 8"/>
          <p:cNvSpPr/>
          <p:nvPr/>
        </p:nvSpPr>
        <p:spPr>
          <a:xfrm>
            <a:off x="7975600" y="1775420"/>
            <a:ext cx="3403600" cy="1990725"/>
          </a:xfrm>
          <a:prstGeom prst="roundRect">
            <a:avLst>
              <a:gd name="adj" fmla="val 5104"/>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250</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lần mỗi giây vòng điều khiển đọc, quyết định và đặt động cơ</a:t>
            </a:r>
            <a:endParaRPr lang="en-US" sz="1500" dirty="0"/>
          </a:p>
        </p:txBody>
      </p:sp>
      <p:sp>
        <p:nvSpPr>
          <p:cNvPr id="13" name="Text 11"/>
          <p:cNvSpPr/>
          <p:nvPr/>
        </p:nvSpPr>
        <p:spPr>
          <a:xfrm>
            <a:off x="812800" y="402014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Một chip ESP32 làm tất cả: điều khiển bay, Wi-Fi và Bluetooth tới điện thoại, và đầu vào máy thu vô tuyến SBUS.</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Chào mừng · 3 · Nguồn: phần chú thích đầu file Esp32_drone.ino</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CHÀO MỪNG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Bản đồ khóa học: 12 phần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702074"/>
        </p:xfrm>
        <a:graphic>
          <a:graphicData uri="http://schemas.openxmlformats.org/drawingml/2006/table">
            <a:tbl>
              <a:tblPr/>
              <a:tblGrid>
                <a:gridCol w="844296"/>
                <a:gridCol w="4432554"/>
                <a:gridCol w="844296"/>
                <a:gridCol w="4432554"/>
              </a:tblGrid>
              <a:tr h="386011">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Phần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Phần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Chào mừng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Bộ trộn và động cơ</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Quadcopter bay như thế nào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Đầu vào: SBUS và CRTP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Các linh kiện phần cứng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Chế độ bay và an toàn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Kiến trúc firmware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Dẫn đường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Đọc cảm biến chuyển động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Kiểm thử và quy trình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Điều khiển PID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Tổng kết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74419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Phần 2–3 không cần mã. Từ phần 4, mỗi ý tưởng đều được chỉ ra trong firmware thật.</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Chào mừng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CHÀO MỪNG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Cách đọc các slide mã nguồn</a:t>
            </a:r>
            <a:endParaRPr lang="en-US" sz="3000" dirty="0"/>
          </a:p>
        </p:txBody>
      </p:sp>
      <p:sp>
        <p:nvSpPr>
          <p:cNvPr id="4" name="Text 2"/>
          <p:cNvSpPr/>
          <p:nvPr/>
        </p:nvSpPr>
        <p:spPr>
          <a:xfrm>
            <a:off x="812800" y="1775420"/>
            <a:ext cx="5828754" cy="2006600"/>
          </a:xfrm>
          <a:prstGeom prst="roundRect">
            <a:avLst>
              <a:gd name="adj" fmla="val 5063"/>
            </a:avLst>
          </a:prstGeom>
          <a:solidFill>
            <a:srgbClr val="1B2633"/>
          </a:solidFill>
          <a:ln/>
        </p:spPr>
        <p:txBody>
          <a:bodyPr wrap="square" lIns="224242" tIns="173442" rIns="64620" bIns="148042" rtlCol="0" anchor="t">
            <a:normAutofit/>
          </a:bodyPr>
          <a:lstStyle/>
          <a:p>
            <a:pPr algn="l" indent="0" marL="0">
              <a:lnSpc>
                <a:spcPts val="2100"/>
              </a:lnSpc>
              <a:buNone/>
            </a:pPr>
            <a:r>
              <a:rPr lang="en-US" sz="1400" dirty="0">
                <a:solidFill>
                  <a:srgbClr val="8FA3B8"/>
                </a:solidFill>
                <a:latin typeface="JetBrains Mono" pitchFamily="49" charset="0"/>
                <a:ea typeface="JetBrains Mono" pitchFamily="49" charset="-122"/>
                <a:cs typeface="JetBrains Mono" pitchFamily="49" charset="-120"/>
              </a:rPr>
              <a:t>// chú thích giải thích dòng bên dưới</a:t>
            </a:r>
            <a:endParaRPr lang="en-US" sz="1400" dirty="0"/>
          </a:p>
          <a:p>
            <a:pPr algn="l" indent="0" marL="0">
              <a:lnSpc>
                <a:spcPts val="2100"/>
              </a:lnSpc>
              <a:buNone/>
            </a:pPr>
            <a:r>
              <a:rPr lang="en-US" sz="1400" dirty="0">
                <a:solidFill>
                  <a:srgbClr val="E6EBF0"/>
                </a:solidFill>
                <a:latin typeface="JetBrains Mono" pitchFamily="49" charset="0"/>
                <a:ea typeface="JetBrains Mono" pitchFamily="49" charset="-122"/>
                <a:cs typeface="JetBrains Mono" pitchFamily="49" charset="-120"/>
              </a:rPr>
              <a:t>#</a:t>
            </a:r>
            <a:r>
              <a:rPr lang="en-US" sz="1400" dirty="0">
                <a:solidFill>
                  <a:srgbClr val="F29E5C"/>
                </a:solidFill>
                <a:latin typeface="JetBrains Mono" pitchFamily="49" charset="0"/>
                <a:ea typeface="JetBrains Mono" pitchFamily="49" charset="-122"/>
                <a:cs typeface="JetBrains Mono" pitchFamily="49" charset="-120"/>
              </a:rPr>
              <a:t>define</a:t>
            </a:r>
            <a:r>
              <a:rPr lang="en-US" sz="1400" dirty="0">
                <a:solidFill>
                  <a:srgbClr val="E6EBF0"/>
                </a:solidFill>
                <a:latin typeface="JetBrains Mono" pitchFamily="49" charset="0"/>
                <a:ea typeface="JetBrains Mono" pitchFamily="49" charset="-122"/>
                <a:cs typeface="JetBrains Mono" pitchFamily="49" charset="-120"/>
              </a:rPr>
              <a:t> LOOP_TIME_US  4000</a:t>
            </a:r>
            <a:endParaRPr lang="en-US" sz="1400" dirty="0"/>
          </a:p>
          <a:p>
            <a:pPr algn="l" indent="0" marL="0">
              <a:lnSpc>
                <a:spcPts val="2100"/>
              </a:lnSpc>
              <a:buNone/>
            </a:pPr>
            <a:endParaRPr lang="en-US" sz="1400" dirty="0"/>
          </a:p>
          <a:p>
            <a:pPr algn="l" indent="0" marL="0">
              <a:lnSpc>
                <a:spcPts val="2100"/>
              </a:lnSpc>
              <a:buNone/>
            </a:pPr>
            <a:r>
              <a:rPr lang="en-US" sz="1400" dirty="0">
                <a:solidFill>
                  <a:srgbClr val="F29E5C"/>
                </a:solidFill>
                <a:latin typeface="JetBrains Mono" pitchFamily="49" charset="0"/>
                <a:ea typeface="JetBrains Mono" pitchFamily="49" charset="-122"/>
                <a:cs typeface="JetBrains Mono" pitchFamily="49" charset="-120"/>
              </a:rPr>
              <a:t>void</a:t>
            </a:r>
            <a:r>
              <a:rPr lang="en-US" sz="1400" dirty="0">
                <a:solidFill>
                  <a:srgbClr val="E6EBF0"/>
                </a:solidFill>
                <a:latin typeface="JetBrains Mono" pitchFamily="49" charset="0"/>
                <a:ea typeface="JetBrains Mono" pitchFamily="49" charset="-122"/>
                <a:cs typeface="JetBrains Mono" pitchFamily="49" charset="-120"/>
              </a:rPr>
              <a:t> loop() {</a:t>
            </a:r>
            <a:endParaRPr lang="en-US" sz="1400" dirty="0"/>
          </a:p>
          <a:p>
            <a:pPr algn="l" indent="0" marL="0">
              <a:lnSpc>
                <a:spcPts val="2100"/>
              </a:lnSpc>
              <a:buNone/>
            </a:pPr>
            <a:r>
              <a:rPr lang="en-US" sz="1400" dirty="0">
                <a:solidFill>
                  <a:srgbClr val="E6EBF0"/>
                </a:solidFill>
                <a:latin typeface="JetBrains Mono" pitchFamily="49" charset="0"/>
                <a:ea typeface="JetBrains Mono" pitchFamily="49" charset="-122"/>
                <a:cs typeface="JetBrains Mono" pitchFamily="49" charset="-120"/>
              </a:rPr>
              <a:t>  mpuReadRaw();  </a:t>
            </a:r>
            <a:r>
              <a:rPr lang="en-US" sz="1400" dirty="0">
                <a:solidFill>
                  <a:srgbClr val="8FA3B8"/>
                </a:solidFill>
                <a:latin typeface="JetBrains Mono" pitchFamily="49" charset="0"/>
                <a:ea typeface="JetBrains Mono" pitchFamily="49" charset="-122"/>
                <a:cs typeface="JetBrains Mono" pitchFamily="49" charset="-120"/>
              </a:rPr>
              <a:t>// đọc cảm biến</a:t>
            </a:r>
            <a:endParaRPr lang="en-US" sz="1400" dirty="0"/>
          </a:p>
          <a:p>
            <a:pPr algn="l" indent="0" marL="0">
              <a:lnSpc>
                <a:spcPts val="2100"/>
              </a:lnSpc>
              <a:buNone/>
            </a:pPr>
            <a:r>
              <a:rPr lang="en-US" sz="1400" dirty="0">
                <a:solidFill>
                  <a:srgbClr val="E6EBF0"/>
                </a:solidFill>
                <a:latin typeface="JetBrains Mono" pitchFamily="49" charset="0"/>
                <a:ea typeface="JetBrains Mono" pitchFamily="49" charset="-122"/>
                <a:cs typeface="JetBrains Mono" pitchFamily="49" charset="-120"/>
              </a:rPr>
              <a:t>}</a:t>
            </a:r>
            <a:endParaRPr lang="en-US" sz="1400" dirty="0"/>
          </a:p>
        </p:txBody>
      </p:sp>
      <p:sp>
        <p:nvSpPr>
          <p:cNvPr id="5" name="Text 3"/>
          <p:cNvSpPr/>
          <p:nvPr/>
        </p:nvSpPr>
        <p:spPr>
          <a:xfrm>
            <a:off x="6895554" y="2057400"/>
            <a:ext cx="4618155"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Xám</a:t>
            </a:r>
            <a:r>
              <a:rPr lang="en-US" sz="1600" dirty="0">
                <a:solidFill>
                  <a:srgbClr val="13202E"/>
                </a:solidFill>
                <a:latin typeface="IBM Plex Sans" pitchFamily="34" charset="0"/>
                <a:ea typeface="IBM Plex Sans" pitchFamily="34" charset="-122"/>
                <a:cs typeface="IBM Plex Sans" pitchFamily="34" charset="-120"/>
              </a:rPr>
              <a:t> = chú thích. Trình biên dịch bỏ qua; nó dành cho người đọc.</a:t>
            </a:r>
            <a:endParaRPr lang="en-US" sz="1600" dirty="0"/>
          </a:p>
        </p:txBody>
      </p:sp>
      <p:sp>
        <p:nvSpPr>
          <p:cNvPr id="6" name="Text 4"/>
          <p:cNvSpPr/>
          <p:nvPr/>
        </p:nvSpPr>
        <p:spPr>
          <a:xfrm>
            <a:off x="6895554" y="2778720"/>
            <a:ext cx="461815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501A"/>
                </a:solidFill>
                <a:latin typeface="IBM Plex Sans" pitchFamily="34" charset="0"/>
                <a:ea typeface="IBM Plex Sans" pitchFamily="34" charset="-122"/>
                <a:cs typeface="IBM Plex Sans" pitchFamily="34" charset="-120"/>
              </a:rPr>
              <a:t>Cam</a:t>
            </a:r>
            <a:r>
              <a:rPr lang="en-US" sz="1600" dirty="0">
                <a:solidFill>
                  <a:srgbClr val="13202E"/>
                </a:solidFill>
                <a:latin typeface="IBM Plex Sans" pitchFamily="34" charset="0"/>
                <a:ea typeface="IBM Plex Sans" pitchFamily="34" charset="-122"/>
                <a:cs typeface="IBM Plex Sans" pitchFamily="34" charset="-120"/>
              </a:rPr>
              <a:t> = từ khóa C++ như </a:t>
            </a:r>
            <a:r>
              <a:rPr lang="en-US" sz="1600" i="1" dirty="0">
                <a:solidFill>
                  <a:srgbClr val="13202E"/>
                </a:solidFill>
                <a:latin typeface="IBM Plex Sans" pitchFamily="34" charset="0"/>
                <a:ea typeface="IBM Plex Sans" pitchFamily="34" charset="-122"/>
                <a:cs typeface="IBM Plex Sans" pitchFamily="34" charset="-120"/>
              </a:rPr>
              <a:t>void</a:t>
            </a:r>
            <a:r>
              <a:rPr lang="en-US" sz="1600" dirty="0">
                <a:solidFill>
                  <a:srgbClr val="13202E"/>
                </a:solidFill>
                <a:latin typeface="IBM Plex Sans" pitchFamily="34" charset="0"/>
                <a:ea typeface="IBM Plex Sans" pitchFamily="34" charset="-122"/>
                <a:cs typeface="IBM Plex Sans" pitchFamily="34" charset="-120"/>
              </a:rPr>
              <a:t>, </a:t>
            </a:r>
            <a:r>
              <a:rPr lang="en-US" sz="1600" i="1" dirty="0">
                <a:solidFill>
                  <a:srgbClr val="13202E"/>
                </a:solidFill>
                <a:latin typeface="IBM Plex Sans" pitchFamily="34" charset="0"/>
                <a:ea typeface="IBM Plex Sans" pitchFamily="34" charset="-122"/>
                <a:cs typeface="IBM Plex Sans" pitchFamily="34" charset="-120"/>
              </a:rPr>
              <a:t>if</a:t>
            </a:r>
            <a:r>
              <a:rPr lang="en-US" sz="1600" dirty="0">
                <a:solidFill>
                  <a:srgbClr val="13202E"/>
                </a:solidFill>
                <a:latin typeface="IBM Plex Sans" pitchFamily="34" charset="0"/>
                <a:ea typeface="IBM Plex Sans" pitchFamily="34" charset="-122"/>
                <a:cs typeface="IBM Plex Sans" pitchFamily="34" charset="-120"/>
              </a:rPr>
              <a:t>, </a:t>
            </a:r>
            <a:r>
              <a:rPr lang="en-US" sz="1600" i="1" dirty="0">
                <a:solidFill>
                  <a:srgbClr val="13202E"/>
                </a:solidFill>
                <a:latin typeface="IBM Plex Sans" pitchFamily="34" charset="0"/>
                <a:ea typeface="IBM Plex Sans" pitchFamily="34" charset="-122"/>
                <a:cs typeface="IBM Plex Sans" pitchFamily="34" charset="-120"/>
              </a:rPr>
              <a:t>float</a:t>
            </a:r>
            <a:r>
              <a:rPr lang="en-US" sz="1600" dirty="0">
                <a:solidFill>
                  <a:srgbClr val="13202E"/>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6895554" y="3215580"/>
            <a:ext cx="461815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Trắng</a:t>
            </a:r>
            <a:r>
              <a:rPr lang="en-US" sz="1600" dirty="0">
                <a:solidFill>
                  <a:srgbClr val="13202E"/>
                </a:solidFill>
                <a:latin typeface="IBM Plex Sans" pitchFamily="34" charset="0"/>
                <a:ea typeface="IBM Plex Sans" pitchFamily="34" charset="-122"/>
                <a:cs typeface="IBM Plex Sans" pitchFamily="34" charset="-120"/>
              </a:rPr>
              <a:t> = chính đoạn mã. Tên lấy từ file thật.</a:t>
            </a:r>
            <a:endParaRPr lang="en-US" sz="1600" dirty="0"/>
          </a:p>
        </p:txBody>
      </p:sp>
      <p:sp>
        <p:nvSpPr>
          <p:cNvPr id="8" name="Text 6"/>
          <p:cNvSpPr/>
          <p:nvPr/>
        </p:nvSpPr>
        <p:spPr>
          <a:xfrm>
            <a:off x="812800" y="40360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Mã được rút gọn bằng “…” khi một phần không cần cho ý tưởng. Chân trang cho biết nó nằm ở đâu.</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Chào mừng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CHÀO MỪNG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Trước khi chạm vào drone: ba quy tắc</a:t>
            </a:r>
            <a:endParaRPr lang="en-US" sz="3000" dirty="0"/>
          </a:p>
        </p:txBody>
      </p:sp>
      <p:sp>
        <p:nvSpPr>
          <p:cNvPr id="4" name="Shape 2"/>
          <p:cNvSpPr/>
          <p:nvPr/>
        </p:nvSpPr>
        <p:spPr>
          <a:xfrm>
            <a:off x="819150" y="1781770"/>
            <a:ext cx="10553700" cy="754360"/>
          </a:xfrm>
          <a:prstGeom prst="roundRect">
            <a:avLst>
              <a:gd name="adj" fmla="val 12627"/>
            </a:avLst>
          </a:prstGeom>
          <a:solidFill>
            <a:srgbClr val="FDFCF8"/>
          </a:solidFill>
          <a:ln w="12700">
            <a:solidFill>
              <a:srgbClr val="E2DFD6"/>
            </a:solidFill>
            <a:prstDash val="solid"/>
          </a:ln>
        </p:spPr>
      </p:sp>
      <p:sp>
        <p:nvSpPr>
          <p:cNvPr id="5" name="Text 3"/>
          <p:cNvSpPr/>
          <p:nvPr/>
        </p:nvSpPr>
        <p:spPr>
          <a:xfrm>
            <a:off x="1054100" y="1927820"/>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6" name="Text 4"/>
          <p:cNvSpPr/>
          <p:nvPr/>
        </p:nvSpPr>
        <p:spPr>
          <a:xfrm>
            <a:off x="1638300" y="2030363"/>
            <a:ext cx="778341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Tháo cánh quạt</a:t>
            </a:r>
            <a:r>
              <a:rPr lang="en-US" sz="1500" dirty="0">
                <a:solidFill>
                  <a:srgbClr val="13202E"/>
                </a:solidFill>
                <a:latin typeface="IBM Plex Sans" pitchFamily="34" charset="0"/>
                <a:ea typeface="IBM Plex Sans" pitchFamily="34" charset="-122"/>
                <a:cs typeface="IBM Plex Sans" pitchFamily="34" charset="-120"/>
              </a:rPr>
              <a:t> cho mọi lần thử trên bàn. Cánh đang quay có thể cắt vào da.</a:t>
            </a:r>
            <a:endParaRPr lang="en-US" sz="1500" dirty="0"/>
          </a:p>
        </p:txBody>
      </p:sp>
      <p:sp>
        <p:nvSpPr>
          <p:cNvPr id="7" name="Shape 5"/>
          <p:cNvSpPr/>
          <p:nvPr/>
        </p:nvSpPr>
        <p:spPr>
          <a:xfrm>
            <a:off x="819150" y="2663130"/>
            <a:ext cx="10553700" cy="754360"/>
          </a:xfrm>
          <a:prstGeom prst="roundRect">
            <a:avLst>
              <a:gd name="adj" fmla="val 12627"/>
            </a:avLst>
          </a:prstGeom>
          <a:solidFill>
            <a:srgbClr val="FDFCF8"/>
          </a:solidFill>
          <a:ln w="12700">
            <a:solidFill>
              <a:srgbClr val="E2DFD6"/>
            </a:solidFill>
            <a:prstDash val="solid"/>
          </a:ln>
        </p:spPr>
      </p:sp>
      <p:sp>
        <p:nvSpPr>
          <p:cNvPr id="8" name="Text 6"/>
          <p:cNvSpPr/>
          <p:nvPr/>
        </p:nvSpPr>
        <p:spPr>
          <a:xfrm>
            <a:off x="1054100" y="2809180"/>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9" name="Text 7"/>
          <p:cNvSpPr/>
          <p:nvPr/>
        </p:nvSpPr>
        <p:spPr>
          <a:xfrm>
            <a:off x="1638300" y="2911723"/>
            <a:ext cx="972820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Biết cách dừng.</a:t>
            </a:r>
            <a:r>
              <a:rPr lang="en-US" sz="1500" dirty="0">
                <a:solidFill>
                  <a:srgbClr val="13202E"/>
                </a:solidFill>
                <a:latin typeface="IBM Plex Sans" pitchFamily="34" charset="0"/>
                <a:ea typeface="IBM Plex Sans" pitchFamily="34" charset="-122"/>
                <a:cs typeface="IBM Plex Sans" pitchFamily="34" charset="-120"/>
              </a:rPr>
              <a:t> CẮT ĐỘNG CƠ trong ứng dụng, hoặc thao tác disarm trên tay điều khiển, trước khi arm.</a:t>
            </a:r>
            <a:endParaRPr lang="en-US" sz="1500" dirty="0"/>
          </a:p>
        </p:txBody>
      </p:sp>
      <p:sp>
        <p:nvSpPr>
          <p:cNvPr id="10" name="Shape 8"/>
          <p:cNvSpPr/>
          <p:nvPr/>
        </p:nvSpPr>
        <p:spPr>
          <a:xfrm>
            <a:off x="819150" y="3544491"/>
            <a:ext cx="10553700" cy="754360"/>
          </a:xfrm>
          <a:prstGeom prst="roundRect">
            <a:avLst>
              <a:gd name="adj" fmla="val 12627"/>
            </a:avLst>
          </a:prstGeom>
          <a:solidFill>
            <a:srgbClr val="FDFCF8"/>
          </a:solidFill>
          <a:ln w="12700">
            <a:solidFill>
              <a:srgbClr val="E2DFD6"/>
            </a:solidFill>
            <a:prstDash val="solid"/>
          </a:ln>
        </p:spPr>
      </p:sp>
      <p:sp>
        <p:nvSpPr>
          <p:cNvPr id="11" name="Text 9"/>
          <p:cNvSpPr/>
          <p:nvPr/>
        </p:nvSpPr>
        <p:spPr>
          <a:xfrm>
            <a:off x="1054100" y="369054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2" name="Text 10"/>
          <p:cNvSpPr/>
          <p:nvPr/>
        </p:nvSpPr>
        <p:spPr>
          <a:xfrm>
            <a:off x="1638300" y="3793083"/>
            <a:ext cx="8309431"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Mỗi lần chỉ đổi một thứ,</a:t>
            </a:r>
            <a:r>
              <a:rPr lang="en-US" sz="1500" dirty="0">
                <a:solidFill>
                  <a:srgbClr val="13202E"/>
                </a:solidFill>
                <a:latin typeface="IBM Plex Sans" pitchFamily="34" charset="0"/>
                <a:ea typeface="IBM Plex Sans" pitchFamily="34" charset="-122"/>
                <a:cs typeface="IBM Plex Sans" pitchFamily="34" charset="-120"/>
              </a:rPr>
              <a:t> rồi thử. Đổi hai thứ cùng lúc sẽ không biết cái nào gây lỗi.</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Chào mừng · 6 · Nguồn: docs/USER_GUIDE.md §1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02</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Quadcopter bay như thế nào</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Bốn cánh quạt, ba trục, và vì sao nó không thể bay nếu thiếu máy tính.</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Quadcopter là bốn chiếc quạt thổi không khí xuống</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Mỗi cánh hất không khí xuống. Không khí đẩy cánh </a:t>
            </a:r>
            <a:r>
              <a:rPr lang="en-US" sz="1600" b="1" dirty="0">
                <a:solidFill>
                  <a:srgbClr val="13202E"/>
                </a:solidFill>
                <a:latin typeface="IBM Plex Sans" pitchFamily="34" charset="0"/>
                <a:ea typeface="IBM Plex Sans" pitchFamily="34" charset="-122"/>
                <a:cs typeface="IBM Plex Sans" pitchFamily="34" charset="-120"/>
              </a:rPr>
              <a:t>lên</a:t>
            </a:r>
            <a:r>
              <a:rPr lang="en-US" sz="1600" dirty="0">
                <a:solidFill>
                  <a:srgbClr val="13202E"/>
                </a:solidFill>
                <a:latin typeface="IBM Plex Sans" pitchFamily="34" charset="0"/>
                <a:ea typeface="IBM Plex Sans" pitchFamily="34" charset="-122"/>
                <a:cs typeface="IBM Plex Sans" pitchFamily="34" charset="-120"/>
              </a:rPr>
              <a:t> với lực bằng như vậy: </a:t>
            </a:r>
            <a:r>
              <a:rPr lang="en-US" sz="1600" b="1" dirty="0">
                <a:solidFill>
                  <a:srgbClr val="B5501A"/>
                </a:solidFill>
                <a:latin typeface="IBM Plex Sans" pitchFamily="34" charset="0"/>
                <a:ea typeface="IBM Plex Sans" pitchFamily="34" charset="-122"/>
                <a:cs typeface="IBM Plex Sans" pitchFamily="34" charset="-120"/>
              </a:rPr>
              <a:t>lực đẩy</a:t>
            </a:r>
            <a:r>
              <a:rPr lang="en-US" sz="1600" dirty="0">
                <a:solidFill>
                  <a:srgbClr val="13202E"/>
                </a:solidFill>
                <a:latin typeface="IBM Plex Sans" pitchFamily="34" charset="0"/>
                <a:ea typeface="IBM Plex Sans" pitchFamily="34" charset="-122"/>
                <a:cs typeface="IBM Plex Sans" pitchFamily="34" charset="-120"/>
              </a:rPr>
              <a:t>.</a:t>
            </a:r>
            <a:endParaRPr lang="en-US" sz="1600" dirty="0"/>
          </a:p>
        </p:txBody>
      </p:sp>
      <p:sp>
        <p:nvSpPr>
          <p:cNvPr id="5" name="Text 3"/>
          <p:cNvSpPr/>
          <p:nvPr/>
        </p:nvSpPr>
        <p:spPr>
          <a:xfrm>
            <a:off x="812800" y="24637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Cánh quay nhanh hơn</a:t>
            </a:r>
            <a:r>
              <a:rPr lang="en-US" sz="1400" dirty="0">
                <a:solidFill>
                  <a:srgbClr val="13202E"/>
                </a:solidFill>
                <a:latin typeface="IBM Plex Sans" pitchFamily="34" charset="0"/>
                <a:ea typeface="IBM Plex Sans" pitchFamily="34" charset="-122"/>
                <a:cs typeface="IBM Plex Sans" pitchFamily="34" charset="-120"/>
              </a:rPr>
              <a:t> → nhiều không khí hơn mỗi giây → góc đó có nhiều lực đẩy hơn.</a:t>
            </a:r>
            <a:endParaRPr lang="en-US" sz="1400" dirty="0"/>
          </a:p>
        </p:txBody>
      </p:sp>
      <p:sp>
        <p:nvSpPr>
          <p:cNvPr id="6" name="Text 4"/>
          <p:cNvSpPr/>
          <p:nvPr/>
        </p:nvSpPr>
        <p:spPr>
          <a:xfrm>
            <a:off x="812800" y="31011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Không có cánh lái</a:t>
            </a:r>
            <a:r>
              <a:rPr lang="en-US" sz="1400" dirty="0">
                <a:solidFill>
                  <a:srgbClr val="13202E"/>
                </a:solidFill>
                <a:latin typeface="IBM Plex Sans" pitchFamily="34" charset="0"/>
                <a:ea typeface="IBM Plex Sans" pitchFamily="34" charset="-122"/>
                <a:cs typeface="IBM Plex Sans" pitchFamily="34" charset="-120"/>
              </a:rPr>
              <a:t>: khác máy bay, mọi chuyển động đến từ việc đổi tốc độ bốn động cơ.</a:t>
            </a:r>
            <a:endParaRPr lang="en-US" sz="1400" dirty="0"/>
          </a:p>
        </p:txBody>
      </p:sp>
      <p:sp>
        <p:nvSpPr>
          <p:cNvPr id="7" name="Shape 5"/>
          <p:cNvSpPr/>
          <p:nvPr/>
        </p:nvSpPr>
        <p:spPr>
          <a:xfrm>
            <a:off x="812800" y="3738662"/>
            <a:ext cx="5054600" cy="800050"/>
          </a:xfrm>
          <a:prstGeom prst="roundRect">
            <a:avLst>
              <a:gd name="adj" fmla="val 12699"/>
            </a:avLst>
          </a:prstGeom>
          <a:solidFill>
            <a:srgbClr val="13202E"/>
          </a:solidFill>
          <a:ln/>
        </p:spPr>
      </p:sp>
      <p:sp>
        <p:nvSpPr>
          <p:cNvPr id="8" name="Text 6"/>
          <p:cNvSpPr/>
          <p:nvPr/>
        </p:nvSpPr>
        <p:spPr>
          <a:xfrm>
            <a:off x="1016000" y="389106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9" name="Text 7"/>
          <p:cNvSpPr/>
          <p:nvPr/>
        </p:nvSpPr>
        <p:spPr>
          <a:xfrm>
            <a:off x="1016000" y="4155182"/>
            <a:ext cx="47876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Chèo thuyền: mái chèo đẩy nước ra sau, thuyền tiến lên.</a:t>
            </a:r>
            <a:endParaRPr lang="en-US" sz="1300" dirty="0"/>
          </a:p>
        </p:txBody>
      </p:sp>
      <p:sp>
        <p:nvSpPr>
          <p:cNvPr id="10" name="Shape 8"/>
          <p:cNvSpPr/>
          <p:nvPr/>
        </p:nvSpPr>
        <p:spPr>
          <a:xfrm>
            <a:off x="6172200" y="1775420"/>
            <a:ext cx="5207000" cy="3556000"/>
          </a:xfrm>
          <a:prstGeom prst="roundRect">
            <a:avLst>
              <a:gd name="adj" fmla="val 2857"/>
            </a:avLst>
          </a:prstGeom>
          <a:solidFill>
            <a:srgbClr val="FDFCF8"/>
          </a:solidFill>
          <a:ln/>
        </p:spPr>
      </p:sp>
      <p:pic>
        <p:nvPicPr>
          <p:cNvPr id="11" name="Image 0" descr="Nhìn ngang: cánh đẩy không khí xuống, lực đẩy nâng drone lên, trọng lượng kéo xuống">    </p:cNvPr>
          <p:cNvPicPr>
            <a:picLocks noChangeAspect="1"/>
          </p:cNvPicPr>
          <p:nvPr/>
        </p:nvPicPr>
        <p:blipFill>
          <a:blip r:embed="rId1"/>
          <a:srcRect l="0" r="0" t="0" b="0"/>
          <a:stretch/>
        </p:blipFill>
        <p:spPr>
          <a:xfrm>
            <a:off x="6172200" y="1775420"/>
            <a:ext cx="5207000" cy="3556000"/>
          </a:xfrm>
          <a:prstGeom prst="rect">
            <a:avLst/>
          </a:prstGeom>
        </p:spPr>
      </p:pic>
      <p:sp>
        <p:nvSpPr>
          <p:cNvPr id="12" name="Text 9"/>
          <p:cNvSpPr/>
          <p:nvPr/>
        </p:nvSpPr>
        <p:spPr>
          <a:xfrm>
            <a:off x="7670800" y="2359620"/>
            <a:ext cx="1130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Lực đẩy ↑</a:t>
            </a:r>
            <a:endParaRPr lang="en-US" sz="1300" dirty="0"/>
          </a:p>
        </p:txBody>
      </p:sp>
      <p:sp>
        <p:nvSpPr>
          <p:cNvPr id="13" name="Text 10"/>
          <p:cNvSpPr/>
          <p:nvPr/>
        </p:nvSpPr>
        <p:spPr>
          <a:xfrm>
            <a:off x="8978900" y="2359620"/>
            <a:ext cx="9398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Lực đẩy ↑</a:t>
            </a:r>
            <a:endParaRPr lang="en-US" sz="1300" dirty="0"/>
          </a:p>
        </p:txBody>
      </p:sp>
      <p:sp>
        <p:nvSpPr>
          <p:cNvPr id="14" name="Text 11"/>
          <p:cNvSpPr/>
          <p:nvPr/>
        </p:nvSpPr>
        <p:spPr>
          <a:xfrm>
            <a:off x="6400800" y="4759920"/>
            <a:ext cx="2158365"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Không khí bị đẩy xuống ↓</a:t>
            </a:r>
            <a:endParaRPr lang="en-US" sz="1300" dirty="0"/>
          </a:p>
        </p:txBody>
      </p:sp>
      <p:sp>
        <p:nvSpPr>
          <p:cNvPr id="15" name="Text 12"/>
          <p:cNvSpPr/>
          <p:nvPr/>
        </p:nvSpPr>
        <p:spPr>
          <a:xfrm>
            <a:off x="8890000" y="4569420"/>
            <a:ext cx="11303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Trọng lượng ↓</a:t>
            </a:r>
            <a:endParaRPr lang="en-US" sz="13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Lực đẩy so với trọng lượng quyết định lên hay xuống</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Lên hay xuống là cuộc kéo co giữa lực đẩy và trọng lượng.</a:t>
            </a:r>
            <a:endParaRPr lang="en-US" sz="1600" dirty="0"/>
          </a:p>
        </p:txBody>
      </p:sp>
      <p:sp>
        <p:nvSpPr>
          <p:cNvPr id="5" name="Text 3"/>
          <p:cNvSpPr/>
          <p:nvPr/>
        </p:nvSpPr>
        <p:spPr>
          <a:xfrm>
            <a:off x="812800" y="24637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Tăng ga → bay lên. Ga ở giữa → </a:t>
            </a:r>
            <a:r>
              <a:rPr lang="en-US" sz="1400" b="1" dirty="0">
                <a:solidFill>
                  <a:srgbClr val="13202E"/>
                </a:solidFill>
                <a:latin typeface="IBM Plex Sans" pitchFamily="34" charset="0"/>
                <a:ea typeface="IBM Plex Sans" pitchFamily="34" charset="-122"/>
                <a:cs typeface="IBM Plex Sans" pitchFamily="34" charset="-120"/>
              </a:rPr>
              <a:t>lơ lửng</a:t>
            </a:r>
            <a:r>
              <a:rPr lang="en-US" sz="1400" dirty="0">
                <a:solidFill>
                  <a:srgbClr val="13202E"/>
                </a:solidFill>
                <a:latin typeface="IBM Plex Sans" pitchFamily="34" charset="0"/>
                <a:ea typeface="IBM Plex Sans" pitchFamily="34" charset="-122"/>
                <a:cs typeface="IBM Plex Sans" pitchFamily="34" charset="-120"/>
              </a:rPr>
              <a:t>. Giảm ga → hạ xuống.</a:t>
            </a:r>
            <a:endParaRPr lang="en-US" sz="1400" dirty="0"/>
          </a:p>
        </p:txBody>
      </p:sp>
      <p:sp>
        <p:nvSpPr>
          <p:cNvPr id="6" name="Text 4"/>
          <p:cNvSpPr/>
          <p:nvPr/>
        </p:nvSpPr>
        <p:spPr>
          <a:xfrm>
            <a:off x="812800" y="28522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Khi pin yếu dần, cùng mức ga cho ít lực đẩy hơn — nên giữ nguyên mức ga thì drone từ từ hạ.</a:t>
            </a:r>
            <a:endParaRPr lang="en-US" sz="1400" dirty="0"/>
          </a:p>
        </p:txBody>
      </p:sp>
      <p:sp>
        <p:nvSpPr>
          <p:cNvPr id="7" name="Shape 5"/>
          <p:cNvSpPr/>
          <p:nvPr/>
        </p:nvSpPr>
        <p:spPr>
          <a:xfrm>
            <a:off x="812800" y="3489771"/>
            <a:ext cx="5054600" cy="1031180"/>
          </a:xfrm>
          <a:prstGeom prst="roundRect">
            <a:avLst>
              <a:gd name="adj" fmla="val 9853"/>
            </a:avLst>
          </a:prstGeom>
          <a:solidFill>
            <a:srgbClr val="13202E"/>
          </a:solidFill>
          <a:ln/>
        </p:spPr>
      </p:sp>
      <p:sp>
        <p:nvSpPr>
          <p:cNvPr id="8" name="Text 6"/>
          <p:cNvSpPr/>
          <p:nvPr/>
        </p:nvSpPr>
        <p:spPr>
          <a:xfrm>
            <a:off x="1016000" y="36421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9" name="Text 7"/>
          <p:cNvSpPr/>
          <p:nvPr/>
        </p:nvSpPr>
        <p:spPr>
          <a:xfrm>
            <a:off x="1016000" y="39062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Drone 40 g cần khoảng 40 g lực đẩy để lơ lửng: mỗi động cơ khoảng 10 g (số minh họa).</a:t>
            </a:r>
            <a:endParaRPr lang="en-US" sz="1300" dirty="0"/>
          </a:p>
        </p:txBody>
      </p:sp>
      <p:sp>
        <p:nvSpPr>
          <p:cNvPr id="10" name="Shape 8"/>
          <p:cNvSpPr/>
          <p:nvPr/>
        </p:nvSpPr>
        <p:spPr>
          <a:xfrm>
            <a:off x="6172200" y="1775420"/>
            <a:ext cx="5207000" cy="3556000"/>
          </a:xfrm>
          <a:prstGeom prst="roundRect">
            <a:avLst>
              <a:gd name="adj" fmla="val 2857"/>
            </a:avLst>
          </a:prstGeom>
          <a:solidFill>
            <a:srgbClr val="FDFCF8"/>
          </a:solidFill>
          <a:ln/>
        </p:spPr>
      </p:sp>
      <p:pic>
        <p:nvPicPr>
          <p:cNvPr id="11" name="Image 0" descr="Ba drone: mũi tên lực đẩy dài hơn, bằng và ngắn hơn mũi tên trọng lượng">    </p:cNvPr>
          <p:cNvPicPr>
            <a:picLocks noChangeAspect="1"/>
          </p:cNvPicPr>
          <p:nvPr/>
        </p:nvPicPr>
        <p:blipFill>
          <a:blip r:embed="rId1"/>
          <a:srcRect l="0" r="0" t="0" b="0"/>
          <a:stretch/>
        </p:blipFill>
        <p:spPr>
          <a:xfrm>
            <a:off x="6172200" y="1775420"/>
            <a:ext cx="5207000" cy="3556000"/>
          </a:xfrm>
          <a:prstGeom prst="rect">
            <a:avLst/>
          </a:prstGeom>
        </p:spPr>
      </p:pic>
      <p:sp>
        <p:nvSpPr>
          <p:cNvPr id="12" name="Text 9"/>
          <p:cNvSpPr/>
          <p:nvPr/>
        </p:nvSpPr>
        <p:spPr>
          <a:xfrm>
            <a:off x="6337300" y="469642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Bay lên</a:t>
            </a:r>
            <a:endParaRPr lang="en-US" sz="1400" dirty="0"/>
          </a:p>
        </p:txBody>
      </p:sp>
      <p:sp>
        <p:nvSpPr>
          <p:cNvPr id="13" name="Text 10"/>
          <p:cNvSpPr/>
          <p:nvPr/>
        </p:nvSpPr>
        <p:spPr>
          <a:xfrm>
            <a:off x="6337300" y="4950420"/>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lực đẩy &gt; trọng lượng</a:t>
            </a:r>
            <a:endParaRPr lang="en-US" sz="1200" dirty="0"/>
          </a:p>
        </p:txBody>
      </p:sp>
      <p:sp>
        <p:nvSpPr>
          <p:cNvPr id="14" name="Text 11"/>
          <p:cNvSpPr/>
          <p:nvPr/>
        </p:nvSpPr>
        <p:spPr>
          <a:xfrm>
            <a:off x="7988300" y="469642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Lơ lửng</a:t>
            </a:r>
            <a:endParaRPr lang="en-US" sz="1400" dirty="0"/>
          </a:p>
        </p:txBody>
      </p:sp>
      <p:sp>
        <p:nvSpPr>
          <p:cNvPr id="15" name="Text 12"/>
          <p:cNvSpPr/>
          <p:nvPr/>
        </p:nvSpPr>
        <p:spPr>
          <a:xfrm>
            <a:off x="7988300" y="4950420"/>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lực đẩy = trọng lượng</a:t>
            </a:r>
            <a:endParaRPr lang="en-US" sz="1200" dirty="0"/>
          </a:p>
        </p:txBody>
      </p:sp>
      <p:sp>
        <p:nvSpPr>
          <p:cNvPr id="16" name="Text 13"/>
          <p:cNvSpPr/>
          <p:nvPr/>
        </p:nvSpPr>
        <p:spPr>
          <a:xfrm>
            <a:off x="9639300" y="4696420"/>
            <a:ext cx="15748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Hạ xuống</a:t>
            </a:r>
            <a:endParaRPr lang="en-US" sz="1400" dirty="0"/>
          </a:p>
        </p:txBody>
      </p:sp>
      <p:sp>
        <p:nvSpPr>
          <p:cNvPr id="17" name="Text 14"/>
          <p:cNvSpPr/>
          <p:nvPr/>
        </p:nvSpPr>
        <p:spPr>
          <a:xfrm>
            <a:off x="9639300" y="4950420"/>
            <a:ext cx="1574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lực đẩy &lt; trọng lượng</a:t>
            </a:r>
            <a:endParaRPr lang="en-US" sz="1200" dirty="0"/>
          </a:p>
        </p:txBody>
      </p:sp>
      <p:sp>
        <p:nvSpPr>
          <p:cNvPr id="18" name="Text 15"/>
          <p:cNvSpPr/>
          <p:nvPr/>
        </p:nvSpPr>
        <p:spPr>
          <a:xfrm>
            <a:off x="9156700" y="1877020"/>
            <a:ext cx="215836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B5501A"/>
                </a:solidFill>
                <a:latin typeface="IBM Plex Sans" pitchFamily="34" charset="0"/>
                <a:ea typeface="IBM Plex Sans" pitchFamily="34" charset="-122"/>
                <a:cs typeface="IBM Plex Sans" pitchFamily="34" charset="-120"/>
              </a:rPr>
              <a:t>■</a:t>
            </a:r>
            <a:r>
              <a:rPr lang="en-US" sz="1200" dirty="0">
                <a:solidFill>
                  <a:srgbClr val="13202E"/>
                </a:solidFill>
                <a:latin typeface="IBM Plex Sans" pitchFamily="34" charset="0"/>
                <a:ea typeface="IBM Plex Sans" pitchFamily="34" charset="-122"/>
                <a:cs typeface="IBM Plex Sans" pitchFamily="34" charset="-120"/>
              </a:rPr>
              <a:t> lực đẩy </a:t>
            </a:r>
            <a:r>
              <a:rPr lang="en-US" sz="1200" dirty="0">
                <a:solidFill>
                  <a:srgbClr val="13202E"/>
                </a:solidFill>
                <a:latin typeface="IBM Plex Sans" pitchFamily="34" charset="0"/>
                <a:ea typeface="IBM Plex Sans" pitchFamily="34" charset="-122"/>
                <a:cs typeface="IBM Plex Sans" pitchFamily="34" charset="-120"/>
              </a:rPr>
              <a:t>■</a:t>
            </a:r>
            <a:r>
              <a:rPr lang="en-US" sz="1200" dirty="0">
                <a:solidFill>
                  <a:srgbClr val="13202E"/>
                </a:solidFill>
                <a:latin typeface="IBM Plex Sans" pitchFamily="34" charset="0"/>
                <a:ea typeface="IBM Plex Sans" pitchFamily="34" charset="-122"/>
                <a:cs typeface="IBM Plex Sans" pitchFamily="34" charset="-120"/>
              </a:rPr>
              <a:t> trọng lượng</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Ba cách xoay: roll, pitch, yaw</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Ba cách xoay, cộng thêm ga.</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Roll</a:t>
            </a:r>
            <a:r>
              <a:rPr lang="en-US" sz="1400" dirty="0">
                <a:solidFill>
                  <a:srgbClr val="13202E"/>
                </a:solidFill>
                <a:latin typeface="IBM Plex Sans" pitchFamily="34" charset="0"/>
                <a:ea typeface="IBM Plex Sans" pitchFamily="34" charset="-122"/>
                <a:cs typeface="IBM Plex Sans" pitchFamily="34" charset="-120"/>
              </a:rPr>
              <a:t> làm drone đi ngang.</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Pitch</a:t>
            </a:r>
            <a:r>
              <a:rPr lang="en-US" sz="1400" dirty="0">
                <a:solidFill>
                  <a:srgbClr val="13202E"/>
                </a:solidFill>
                <a:latin typeface="IBM Plex Sans" pitchFamily="34" charset="0"/>
                <a:ea typeface="IBM Plex Sans" pitchFamily="34" charset="-122"/>
                <a:cs typeface="IBM Plex Sans" pitchFamily="34" charset="-120"/>
              </a:rPr>
              <a:t> làm drone tiến hoặc lùi.</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Yaw</a:t>
            </a:r>
            <a:r>
              <a:rPr lang="en-US" sz="1400" dirty="0">
                <a:solidFill>
                  <a:srgbClr val="13202E"/>
                </a:solidFill>
                <a:latin typeface="IBM Plex Sans" pitchFamily="34" charset="0"/>
                <a:ea typeface="IBM Plex Sans" pitchFamily="34" charset="-122"/>
                <a:cs typeface="IBM Plex Sans" pitchFamily="34" charset="-120"/>
              </a:rPr>
              <a:t> đổi hướng mũi.</a:t>
            </a:r>
            <a:endParaRPr lang="en-US" sz="1400" dirty="0"/>
          </a:p>
        </p:txBody>
      </p:sp>
      <p:sp>
        <p:nvSpPr>
          <p:cNvPr id="8" name="Text 6"/>
          <p:cNvSpPr/>
          <p:nvPr/>
        </p:nvSpPr>
        <p:spPr>
          <a:xfrm>
            <a:off x="812800" y="33551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Cộng thêm </a:t>
            </a:r>
            <a:r>
              <a:rPr lang="en-US" sz="1400" b="1" dirty="0">
                <a:solidFill>
                  <a:srgbClr val="13202E"/>
                </a:solidFill>
                <a:latin typeface="IBM Plex Sans" pitchFamily="34" charset="0"/>
                <a:ea typeface="IBM Plex Sans" pitchFamily="34" charset="-122"/>
                <a:cs typeface="IBM Plex Sans" pitchFamily="34" charset="-120"/>
              </a:rPr>
              <a:t>ga</a:t>
            </a:r>
            <a:r>
              <a:rPr lang="en-US" sz="1400" dirty="0">
                <a:solidFill>
                  <a:srgbClr val="13202E"/>
                </a:solidFill>
                <a:latin typeface="IBM Plex Sans" pitchFamily="34" charset="0"/>
                <a:ea typeface="IBM Plex Sans" pitchFamily="34" charset="-122"/>
                <a:cs typeface="IBM Plex Sans" pitchFamily="34" charset="-120"/>
              </a:rPr>
              <a:t> để lên xuống: bốn lệnh điều khiển, và một bộ PID cho mỗi phép xoay.</a:t>
            </a:r>
            <a:endParaRPr lang="en-US" sz="1400" dirty="0"/>
          </a:p>
        </p:txBody>
      </p:sp>
      <p:sp>
        <p:nvSpPr>
          <p:cNvPr id="9" name="Shape 7"/>
          <p:cNvSpPr/>
          <p:nvPr/>
        </p:nvSpPr>
        <p:spPr>
          <a:xfrm>
            <a:off x="6172200" y="1775420"/>
            <a:ext cx="5207000" cy="3556000"/>
          </a:xfrm>
          <a:prstGeom prst="roundRect">
            <a:avLst>
              <a:gd name="adj" fmla="val 2857"/>
            </a:avLst>
          </a:prstGeom>
          <a:solidFill>
            <a:srgbClr val="FDFCF8"/>
          </a:solidFill>
          <a:ln/>
        </p:spPr>
      </p:sp>
      <p:pic>
        <p:nvPicPr>
          <p:cNvPr id="10" name="Image 0" descr="Ba hình: roll nhìn từ trước, pitch nhìn ngang, yaw nhìn từ trên">    </p:cNvPr>
          <p:cNvPicPr>
            <a:picLocks noChangeAspect="1"/>
          </p:cNvPicPr>
          <p:nvPr/>
        </p:nvPicPr>
        <p:blipFill>
          <a:blip r:embed="rId1"/>
          <a:srcRect l="0" r="0" t="0" b="0"/>
          <a:stretch/>
        </p:blipFill>
        <p:spPr>
          <a:xfrm>
            <a:off x="6172200" y="1775420"/>
            <a:ext cx="5207000" cy="3556000"/>
          </a:xfrm>
          <a:prstGeom prst="rect">
            <a:avLst/>
          </a:prstGeom>
        </p:spPr>
      </p:pic>
      <p:sp>
        <p:nvSpPr>
          <p:cNvPr id="11" name="Text 8"/>
          <p:cNvSpPr/>
          <p:nvPr/>
        </p:nvSpPr>
        <p:spPr>
          <a:xfrm>
            <a:off x="6242050" y="1991320"/>
            <a:ext cx="1638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Roll</a:t>
            </a:r>
            <a:endParaRPr lang="en-US" sz="1500" dirty="0"/>
          </a:p>
        </p:txBody>
      </p:sp>
      <p:sp>
        <p:nvSpPr>
          <p:cNvPr id="12" name="Text 9"/>
          <p:cNvSpPr/>
          <p:nvPr/>
        </p:nvSpPr>
        <p:spPr>
          <a:xfrm>
            <a:off x="6242050" y="4505920"/>
            <a:ext cx="1638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nhìn trước: một cánh chúc xuống</a:t>
            </a:r>
            <a:endParaRPr lang="en-US" sz="1200" dirty="0"/>
          </a:p>
        </p:txBody>
      </p:sp>
      <p:sp>
        <p:nvSpPr>
          <p:cNvPr id="13" name="Text 10"/>
          <p:cNvSpPr/>
          <p:nvPr/>
        </p:nvSpPr>
        <p:spPr>
          <a:xfrm>
            <a:off x="7956550" y="1991320"/>
            <a:ext cx="1638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Pitch</a:t>
            </a:r>
            <a:endParaRPr lang="en-US" sz="1500" dirty="0"/>
          </a:p>
        </p:txBody>
      </p:sp>
      <p:sp>
        <p:nvSpPr>
          <p:cNvPr id="14" name="Text 11"/>
          <p:cNvSpPr/>
          <p:nvPr/>
        </p:nvSpPr>
        <p:spPr>
          <a:xfrm>
            <a:off x="7956550" y="4505920"/>
            <a:ext cx="1638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nhìn ngang: mũi gật xuống</a:t>
            </a:r>
            <a:endParaRPr lang="en-US" sz="1200" dirty="0"/>
          </a:p>
        </p:txBody>
      </p:sp>
      <p:sp>
        <p:nvSpPr>
          <p:cNvPr id="15" name="Text 12"/>
          <p:cNvSpPr/>
          <p:nvPr/>
        </p:nvSpPr>
        <p:spPr>
          <a:xfrm>
            <a:off x="9671050" y="1991320"/>
            <a:ext cx="1638300" cy="263525"/>
          </a:xfrm>
          <a:prstGeom prst="rect">
            <a:avLst/>
          </a:prstGeom>
          <a:noFill/>
          <a:ln/>
        </p:spPr>
        <p:txBody>
          <a:bodyPr wrap="square" lIns="0" tIns="0" rIns="0" bIns="0" rtlCol="0" anchor="t">
            <a:normAutofit/>
          </a:bodyPr>
          <a:lstStyle/>
          <a:p>
            <a:pPr algn="ctr"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Yaw</a:t>
            </a:r>
            <a:endParaRPr lang="en-US" sz="1500" dirty="0"/>
          </a:p>
        </p:txBody>
      </p:sp>
      <p:sp>
        <p:nvSpPr>
          <p:cNvPr id="16" name="Text 13"/>
          <p:cNvSpPr/>
          <p:nvPr/>
        </p:nvSpPr>
        <p:spPr>
          <a:xfrm>
            <a:off x="9671050" y="4505920"/>
            <a:ext cx="1638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nhìn trên: lắc đầu “không”</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Hai cánh quay một chiều, hai cánh quay chiều kia</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Cánh đang quay vặn drone theo chiều ngược lại. Trộn chiều quay sẽ triệt tiêu lực vặn.</a:t>
            </a:r>
            <a:endParaRPr lang="en-US" sz="1600" dirty="0"/>
          </a:p>
        </p:txBody>
      </p:sp>
      <p:sp>
        <p:nvSpPr>
          <p:cNvPr id="5" name="Text 3"/>
          <p:cNvSpPr/>
          <p:nvPr/>
        </p:nvSpPr>
        <p:spPr>
          <a:xfrm>
            <a:off x="812800" y="24637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Thuận chiều (CW)</a:t>
            </a:r>
            <a:r>
              <a:rPr lang="en-US" sz="1400" dirty="0">
                <a:solidFill>
                  <a:srgbClr val="13202E"/>
                </a:solidFill>
                <a:latin typeface="IBM Plex Sans" pitchFamily="34" charset="0"/>
                <a:ea typeface="IBM Plex Sans" pitchFamily="34" charset="-122"/>
                <a:cs typeface="IBM Plex Sans" pitchFamily="34" charset="-120"/>
              </a:rPr>
              <a:t>: trước-phải (RF) và sau-trái (LR).</a:t>
            </a:r>
            <a:endParaRPr lang="en-US" sz="1400" dirty="0"/>
          </a:p>
        </p:txBody>
      </p:sp>
      <p:sp>
        <p:nvSpPr>
          <p:cNvPr id="6" name="Text 4"/>
          <p:cNvSpPr/>
          <p:nvPr/>
        </p:nvSpPr>
        <p:spPr>
          <a:xfrm>
            <a:off x="812800" y="28522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Ngược chiều (CCW)</a:t>
            </a:r>
            <a:r>
              <a:rPr lang="en-US" sz="1400" dirty="0">
                <a:solidFill>
                  <a:srgbClr val="13202E"/>
                </a:solidFill>
                <a:latin typeface="IBM Plex Sans" pitchFamily="34" charset="0"/>
                <a:ea typeface="IBM Plex Sans" pitchFamily="34" charset="-122"/>
                <a:cs typeface="IBM Plex Sans" pitchFamily="34" charset="-120"/>
              </a:rPr>
              <a:t>: sau-phải (RR) và trước-trái (LF).</a:t>
            </a:r>
            <a:endParaRPr lang="en-US" sz="1400" dirty="0"/>
          </a:p>
        </p:txBody>
      </p:sp>
      <p:sp>
        <p:nvSpPr>
          <p:cNvPr id="7" name="Text 5"/>
          <p:cNvSpPr/>
          <p:nvPr/>
        </p:nvSpPr>
        <p:spPr>
          <a:xfrm>
            <a:off x="812800" y="32408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Mỗi cặp nằm trên một đường chéo nên lực vặn triệt tiêu và drone cân bằng.</a:t>
            </a:r>
            <a:endParaRPr lang="en-US" sz="1400" dirty="0"/>
          </a:p>
        </p:txBody>
      </p:sp>
      <p:sp>
        <p:nvSpPr>
          <p:cNvPr id="8" name="Shape 6"/>
          <p:cNvSpPr/>
          <p:nvPr/>
        </p:nvSpPr>
        <p:spPr>
          <a:xfrm>
            <a:off x="812800" y="3878362"/>
            <a:ext cx="5054600" cy="1031180"/>
          </a:xfrm>
          <a:prstGeom prst="roundRect">
            <a:avLst>
              <a:gd name="adj" fmla="val 9853"/>
            </a:avLst>
          </a:prstGeom>
          <a:solidFill>
            <a:srgbClr val="13202E"/>
          </a:solidFill>
          <a:ln/>
        </p:spPr>
      </p:sp>
      <p:sp>
        <p:nvSpPr>
          <p:cNvPr id="9" name="Text 7"/>
          <p:cNvSpPr/>
          <p:nvPr/>
        </p:nvSpPr>
        <p:spPr>
          <a:xfrm>
            <a:off x="1016000" y="403076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29488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Hai quạt trần treo lỏng, quay ngược chiều nhau, sẽ triệt tiêu lực vặn của nhau.</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Nhìn từ trên khung X: RF và LR quay thuận chiều kim đồng hồ, RR và LF quay ngược">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226300" y="2346920"/>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LF</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CCW</a:t>
            </a:r>
            <a:endParaRPr lang="en-US" sz="1200" dirty="0"/>
          </a:p>
        </p:txBody>
      </p:sp>
      <p:sp>
        <p:nvSpPr>
          <p:cNvPr id="14" name="Text 11"/>
          <p:cNvSpPr/>
          <p:nvPr/>
        </p:nvSpPr>
        <p:spPr>
          <a:xfrm>
            <a:off x="9258300" y="2346920"/>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RF</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CW</a:t>
            </a:r>
            <a:endParaRPr lang="en-US" sz="1200" dirty="0"/>
          </a:p>
        </p:txBody>
      </p:sp>
      <p:sp>
        <p:nvSpPr>
          <p:cNvPr id="15" name="Text 12"/>
          <p:cNvSpPr/>
          <p:nvPr/>
        </p:nvSpPr>
        <p:spPr>
          <a:xfrm>
            <a:off x="7226300" y="4378920"/>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LR</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CW</a:t>
            </a:r>
            <a:endParaRPr lang="en-US" sz="1200" dirty="0"/>
          </a:p>
        </p:txBody>
      </p:sp>
      <p:sp>
        <p:nvSpPr>
          <p:cNvPr id="16" name="Text 13"/>
          <p:cNvSpPr/>
          <p:nvPr/>
        </p:nvSpPr>
        <p:spPr>
          <a:xfrm>
            <a:off x="9258300" y="4378920"/>
            <a:ext cx="1066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RR</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CCW</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11 · Nguồn: chú thích #define YAW_DIRECTION trong Esp32_drone.ino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Roll: cho một bên đẩy mạnh hơn</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Để roll sang phải, động cơ trái tăng tốc và động cơ phải giảm tốc.</a:t>
            </a:r>
            <a:endParaRPr lang="en-US" sz="1600" dirty="0"/>
          </a:p>
        </p:txBody>
      </p:sp>
      <p:sp>
        <p:nvSpPr>
          <p:cNvPr id="5" name="Text 3"/>
          <p:cNvSpPr/>
          <p:nvPr/>
        </p:nvSpPr>
        <p:spPr>
          <a:xfrm>
            <a:off x="812800" y="24637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01A"/>
                </a:solidFill>
                <a:latin typeface="IBM Plex Sans" pitchFamily="34" charset="0"/>
                <a:ea typeface="IBM Plex Sans" pitchFamily="34" charset="-122"/>
                <a:cs typeface="IBM Plex Sans" pitchFamily="34" charset="-120"/>
              </a:rPr>
              <a:t>Cam, to hơn</a:t>
            </a:r>
            <a:r>
              <a:rPr lang="en-US" sz="1400" dirty="0">
                <a:solidFill>
                  <a:srgbClr val="13202E"/>
                </a:solidFill>
                <a:latin typeface="IBM Plex Sans" pitchFamily="34" charset="0"/>
                <a:ea typeface="IBM Plex Sans" pitchFamily="34" charset="-122"/>
                <a:cs typeface="IBM Plex Sans" pitchFamily="34" charset="-120"/>
              </a:rPr>
              <a:t> = nhanh hơn: LF và LR đẩy mạnh hơn, bên trái nâng lên.</a:t>
            </a:r>
            <a:endParaRPr lang="en-US" sz="1400" dirty="0"/>
          </a:p>
        </p:txBody>
      </p:sp>
      <p:sp>
        <p:nvSpPr>
          <p:cNvPr id="6" name="Text 4"/>
          <p:cNvSpPr/>
          <p:nvPr/>
        </p:nvSpPr>
        <p:spPr>
          <a:xfrm>
            <a:off x="812800" y="31011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A3"/>
                </a:solidFill>
                <a:latin typeface="IBM Plex Sans" pitchFamily="34" charset="0"/>
                <a:ea typeface="IBM Plex Sans" pitchFamily="34" charset="-122"/>
                <a:cs typeface="IBM Plex Sans" pitchFamily="34" charset="-120"/>
              </a:rPr>
              <a:t>Xanh, nhỏ hơn</a:t>
            </a:r>
            <a:r>
              <a:rPr lang="en-US" sz="1400" dirty="0">
                <a:solidFill>
                  <a:srgbClr val="13202E"/>
                </a:solidFill>
                <a:latin typeface="IBM Plex Sans" pitchFamily="34" charset="0"/>
                <a:ea typeface="IBM Plex Sans" pitchFamily="34" charset="-122"/>
                <a:cs typeface="IBM Plex Sans" pitchFamily="34" charset="-120"/>
              </a:rPr>
              <a:t> = chậm hơn: RF và RR đẩy yếu hơn, bên phải hạ xuống.</a:t>
            </a:r>
            <a:endParaRPr lang="en-US" sz="1400" dirty="0"/>
          </a:p>
        </p:txBody>
      </p:sp>
      <p:sp>
        <p:nvSpPr>
          <p:cNvPr id="7" name="Text 5"/>
          <p:cNvSpPr/>
          <p:nvPr/>
        </p:nvSpPr>
        <p:spPr>
          <a:xfrm>
            <a:off x="812800" y="3738662"/>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Kết quả: drone nghiêng phải và trượt sang phải →</a:t>
            </a:r>
            <a:endParaRPr lang="en-US" sz="1400" dirty="0"/>
          </a:p>
        </p:txBody>
      </p:sp>
      <p:sp>
        <p:nvSpPr>
          <p:cNvPr id="8" name="Shape 6"/>
          <p:cNvSpPr/>
          <p:nvPr/>
        </p:nvSpPr>
        <p:spPr>
          <a:xfrm>
            <a:off x="812800" y="4127252"/>
            <a:ext cx="5054600" cy="1031180"/>
          </a:xfrm>
          <a:prstGeom prst="roundRect">
            <a:avLst>
              <a:gd name="adj" fmla="val 9853"/>
            </a:avLst>
          </a:prstGeom>
          <a:solidFill>
            <a:srgbClr val="13202E"/>
          </a:solidFill>
          <a:ln/>
        </p:spPr>
      </p:sp>
      <p:sp>
        <p:nvSpPr>
          <p:cNvPr id="9" name="Text 7"/>
          <p:cNvSpPr/>
          <p:nvPr/>
        </p:nvSpPr>
        <p:spPr>
          <a:xfrm>
            <a:off x="1016000" y="427965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54377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Lơ lửng 50% cả bốn. Roll phải: LF, LR → 55%; RF, RR → 45%. Trung bình vẫn 50%.</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Nhìn từ trên: động cơ trái lớn, màu cam (nhanh hơn), động cơ phải nhỏ, màu xanh (chậm hơn), mũi tên sang phải">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226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LF</a:t>
            </a:r>
            <a:endParaRPr lang="en-US" sz="1200" dirty="0"/>
          </a:p>
        </p:txBody>
      </p:sp>
      <p:sp>
        <p:nvSpPr>
          <p:cNvPr id="14" name="Text 11"/>
          <p:cNvSpPr/>
          <p:nvPr/>
        </p:nvSpPr>
        <p:spPr>
          <a:xfrm>
            <a:off x="9258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RF</a:t>
            </a:r>
            <a:endParaRPr lang="en-US" sz="1200" dirty="0"/>
          </a:p>
        </p:txBody>
      </p:sp>
      <p:sp>
        <p:nvSpPr>
          <p:cNvPr id="15" name="Text 12"/>
          <p:cNvSpPr/>
          <p:nvPr/>
        </p:nvSpPr>
        <p:spPr>
          <a:xfrm>
            <a:off x="7226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LR</a:t>
            </a:r>
            <a:endParaRPr lang="en-US" sz="1200" dirty="0"/>
          </a:p>
        </p:txBody>
      </p:sp>
      <p:sp>
        <p:nvSpPr>
          <p:cNvPr id="16" name="Text 13"/>
          <p:cNvSpPr/>
          <p:nvPr/>
        </p:nvSpPr>
        <p:spPr>
          <a:xfrm>
            <a:off x="9258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RR</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Pitch: trước so với sau</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Muốn bay tới, đẩy mạnh hơn ở phía sau.</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01A"/>
                </a:solidFill>
                <a:latin typeface="IBM Plex Sans" pitchFamily="34" charset="0"/>
                <a:ea typeface="IBM Plex Sans" pitchFamily="34" charset="-122"/>
                <a:cs typeface="IBM Plex Sans" pitchFamily="34" charset="-120"/>
              </a:rPr>
              <a:t>Sau (RR, LR) nhanh hơn</a:t>
            </a:r>
            <a:r>
              <a:rPr lang="en-US" sz="1400" dirty="0">
                <a:solidFill>
                  <a:srgbClr val="13202E"/>
                </a:solidFill>
                <a:latin typeface="IBM Plex Sans" pitchFamily="34" charset="0"/>
                <a:ea typeface="IBM Plex Sans" pitchFamily="34" charset="-122"/>
                <a:cs typeface="IBM Plex Sans" pitchFamily="34" charset="-120"/>
              </a:rPr>
              <a:t> → đuôi nâng lên.</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A3"/>
                </a:solidFill>
                <a:latin typeface="IBM Plex Sans" pitchFamily="34" charset="0"/>
                <a:ea typeface="IBM Plex Sans" pitchFamily="34" charset="-122"/>
                <a:cs typeface="IBM Plex Sans" pitchFamily="34" charset="-120"/>
              </a:rPr>
              <a:t>Trước (RF, LF) chậm hơn</a:t>
            </a:r>
            <a:r>
              <a:rPr lang="en-US" sz="1400" dirty="0">
                <a:solidFill>
                  <a:srgbClr val="13202E"/>
                </a:solidFill>
                <a:latin typeface="IBM Plex Sans" pitchFamily="34" charset="0"/>
                <a:ea typeface="IBM Plex Sans" pitchFamily="34" charset="-122"/>
                <a:cs typeface="IBM Plex Sans" pitchFamily="34" charset="-120"/>
              </a:rPr>
              <a:t> → mũi hạ xuống.</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Lực đẩy giờ hơi hướng về trước, nên drone tiến lên ↑</a:t>
            </a:r>
            <a:endParaRPr lang="en-US" sz="1400" dirty="0"/>
          </a:p>
        </p:txBody>
      </p:sp>
      <p:sp>
        <p:nvSpPr>
          <p:cNvPr id="8" name="Shape 6"/>
          <p:cNvSpPr/>
          <p:nvPr/>
        </p:nvSpPr>
        <p:spPr>
          <a:xfrm>
            <a:off x="812800" y="3355181"/>
            <a:ext cx="5054600" cy="1031180"/>
          </a:xfrm>
          <a:prstGeom prst="roundRect">
            <a:avLst>
              <a:gd name="adj" fmla="val 9853"/>
            </a:avLst>
          </a:prstGeom>
          <a:solidFill>
            <a:srgbClr val="13202E"/>
          </a:solidFill>
          <a:ln/>
        </p:spPr>
      </p:sp>
      <p:sp>
        <p:nvSpPr>
          <p:cNvPr id="9" name="Text 7"/>
          <p:cNvSpPr/>
          <p:nvPr/>
        </p:nvSpPr>
        <p:spPr>
          <a:xfrm>
            <a:off x="1016000" y="350758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377170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Ngả người về trước trên xe đạp để bắt đầu lăn bánh: nghiêng trước, rồi mới đi.</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Nhìn từ trên: động cơ sau nhanh hơn (cam), động cơ trước chậm hơn (xanh), mũi tên về trước">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226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LF</a:t>
            </a:r>
            <a:endParaRPr lang="en-US" sz="1200" dirty="0"/>
          </a:p>
        </p:txBody>
      </p:sp>
      <p:sp>
        <p:nvSpPr>
          <p:cNvPr id="14" name="Text 11"/>
          <p:cNvSpPr/>
          <p:nvPr/>
        </p:nvSpPr>
        <p:spPr>
          <a:xfrm>
            <a:off x="9258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RF</a:t>
            </a:r>
            <a:endParaRPr lang="en-US" sz="1200" dirty="0"/>
          </a:p>
        </p:txBody>
      </p:sp>
      <p:sp>
        <p:nvSpPr>
          <p:cNvPr id="15" name="Text 12"/>
          <p:cNvSpPr/>
          <p:nvPr/>
        </p:nvSpPr>
        <p:spPr>
          <a:xfrm>
            <a:off x="7226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LR</a:t>
            </a:r>
            <a:endParaRPr lang="en-US" sz="1200" dirty="0"/>
          </a:p>
        </p:txBody>
      </p:sp>
      <p:sp>
        <p:nvSpPr>
          <p:cNvPr id="16" name="Text 13"/>
          <p:cNvSpPr/>
          <p:nvPr/>
        </p:nvSpPr>
        <p:spPr>
          <a:xfrm>
            <a:off x="9258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RR</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Yaw: dùng lực vặn một cách có chủ ý</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Muốn xoay, dùng lực vặn một cách có chủ ý.</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Tăng tốc </a:t>
            </a:r>
            <a:r>
              <a:rPr lang="en-US" sz="1400" b="1" dirty="0">
                <a:solidFill>
                  <a:srgbClr val="B5501A"/>
                </a:solidFill>
                <a:latin typeface="IBM Plex Sans" pitchFamily="34" charset="0"/>
                <a:ea typeface="IBM Plex Sans" pitchFamily="34" charset="-122"/>
                <a:cs typeface="IBM Plex Sans" pitchFamily="34" charset="-120"/>
              </a:rPr>
              <a:t>cặp CW (RF, LR)</a:t>
            </a:r>
            <a:r>
              <a:rPr lang="en-US" sz="1400" dirty="0">
                <a:solidFill>
                  <a:srgbClr val="13202E"/>
                </a:solidFill>
                <a:latin typeface="IBM Plex Sans" pitchFamily="34" charset="0"/>
                <a:ea typeface="IBM Plex Sans" pitchFamily="34" charset="-122"/>
                <a:cs typeface="IBM Plex Sans" pitchFamily="34" charset="-120"/>
              </a:rPr>
              <a:t> và giảm tốc </a:t>
            </a:r>
            <a:r>
              <a:rPr lang="en-US" sz="1400" b="1" dirty="0">
                <a:solidFill>
                  <a:srgbClr val="2F6FA3"/>
                </a:solidFill>
                <a:latin typeface="IBM Plex Sans" pitchFamily="34" charset="0"/>
                <a:ea typeface="IBM Plex Sans" pitchFamily="34" charset="-122"/>
                <a:cs typeface="IBM Plex Sans" pitchFamily="34" charset="-120"/>
              </a:rPr>
              <a:t>cặp CCW (RR, LF)</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Lực vặn không còn triệt tiêu: thân xoay theo chiều ngược lại (mũi tên cam).</a:t>
            </a:r>
            <a:endParaRPr lang="en-US" sz="1400" dirty="0"/>
          </a:p>
        </p:txBody>
      </p:sp>
      <p:sp>
        <p:nvSpPr>
          <p:cNvPr id="7" name="Text 5"/>
          <p:cNvSpPr/>
          <p:nvPr/>
        </p:nvSpPr>
        <p:spPr>
          <a:xfrm>
            <a:off x="812800" y="32154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Tổng lực đẩy không đổi, nên giữ độ cao.</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Ngồi ghế xoay, vung tay về một phía: người bạn xoay về phía kia.</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Nhìn từ trên: cánh thuận chiều RF và LR nhanh hơn, thân xoay ngược chiều kim đồng hồ (mũi tên cam)">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226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LF</a:t>
            </a:r>
            <a:endParaRPr lang="en-US" sz="1200" dirty="0"/>
          </a:p>
        </p:txBody>
      </p:sp>
      <p:sp>
        <p:nvSpPr>
          <p:cNvPr id="14" name="Text 11"/>
          <p:cNvSpPr/>
          <p:nvPr/>
        </p:nvSpPr>
        <p:spPr>
          <a:xfrm>
            <a:off x="9258300" y="2442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RF</a:t>
            </a:r>
            <a:endParaRPr lang="en-US" sz="1200" dirty="0"/>
          </a:p>
        </p:txBody>
      </p:sp>
      <p:sp>
        <p:nvSpPr>
          <p:cNvPr id="15" name="Text 12"/>
          <p:cNvSpPr/>
          <p:nvPr/>
        </p:nvSpPr>
        <p:spPr>
          <a:xfrm>
            <a:off x="7226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LR</a:t>
            </a:r>
            <a:endParaRPr lang="en-US" sz="1200" dirty="0"/>
          </a:p>
        </p:txBody>
      </p:sp>
      <p:sp>
        <p:nvSpPr>
          <p:cNvPr id="16" name="Text 13"/>
          <p:cNvSpPr/>
          <p:nvPr/>
        </p:nvSpPr>
        <p:spPr>
          <a:xfrm>
            <a:off x="9258300" y="4474170"/>
            <a:ext cx="10668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RR</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14 · Nguồn: #define PID_YAW_KP trong Esp32_drone.ino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Tóm tắt: động cơ nào thay đổi cho mỗi động tác</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063750"/>
        </p:xfrm>
        <a:graphic>
          <a:graphicData uri="http://schemas.openxmlformats.org/drawingml/2006/table">
            <a:tbl>
              <a:tblPr/>
              <a:tblGrid>
                <a:gridCol w="3588258"/>
                <a:gridCol w="2321814"/>
                <a:gridCol w="2321814"/>
                <a:gridCol w="2321814"/>
              </a:tblGrid>
              <a:tr h="412750">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Động tác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Nhanh hơn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Chậm hơn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Giữ nguyên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Bay lên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cả bốn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tư thế</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Roll sang phải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LF, LR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RF, RR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tổng lực đẩy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Pitch tới (chúc mũi)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RR, LR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RF, LF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tổng lực đẩy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Yaw (cặp CW nhanh hơn)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RF, LR</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RR, LF</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tổng lực đẩy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1058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Mọi động tác đều là “thêm chỗ này, bớt chỗ kia”. Chỉ bay lên mới đổi cả bốn như nhau.</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15 · Nguồn: chú thích motor mixing trong Esp32_drone.ino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Vì sao quadcopter không thể tự bay</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Quadcopter không ổn định: một độ nghiêng nhỏ lớn dần chưa tới một giây.</a:t>
            </a:r>
            <a:endParaRPr lang="en-US" sz="1600" dirty="0"/>
          </a:p>
        </p:txBody>
      </p:sp>
      <p:sp>
        <p:nvSpPr>
          <p:cNvPr id="5" name="Text 3"/>
          <p:cNvSpPr/>
          <p:nvPr/>
        </p:nvSpPr>
        <p:spPr>
          <a:xfrm>
            <a:off x="812800" y="24637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Động cơ không bao giờ bằng nhau</a:t>
            </a:r>
            <a:r>
              <a:rPr lang="en-US" sz="1400" dirty="0">
                <a:solidFill>
                  <a:srgbClr val="13202E"/>
                </a:solidFill>
                <a:latin typeface="IBM Plex Sans" pitchFamily="34" charset="0"/>
                <a:ea typeface="IBM Plex Sans" pitchFamily="34" charset="-122"/>
                <a:cs typeface="IBM Plex Sans" pitchFamily="34" charset="-120"/>
              </a:rPr>
              <a:t>: cùng mức điều khiển, lực đẩy hơi khác.</a:t>
            </a:r>
            <a:endParaRPr lang="en-US" sz="1400" dirty="0"/>
          </a:p>
        </p:txBody>
      </p:sp>
      <p:sp>
        <p:nvSpPr>
          <p:cNvPr id="6" name="Text 4"/>
          <p:cNvSpPr/>
          <p:nvPr/>
        </p:nvSpPr>
        <p:spPr>
          <a:xfrm>
            <a:off x="812800" y="31011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Không khí chuyển động</a:t>
            </a:r>
            <a:r>
              <a:rPr lang="en-US" sz="1400" dirty="0">
                <a:solidFill>
                  <a:srgbClr val="13202E"/>
                </a:solidFill>
                <a:latin typeface="IBM Plex Sans" pitchFamily="34" charset="0"/>
                <a:ea typeface="IBM Plex Sans" pitchFamily="34" charset="-122"/>
                <a:cs typeface="IBM Plex Sans" pitchFamily="34" charset="-120"/>
              </a:rPr>
              <a:t>: gió hay luồng gió của chính drone đẩy một bên.</a:t>
            </a:r>
            <a:endParaRPr lang="en-US" sz="1400" dirty="0"/>
          </a:p>
        </p:txBody>
      </p:sp>
      <p:sp>
        <p:nvSpPr>
          <p:cNvPr id="7" name="Text 5"/>
          <p:cNvSpPr/>
          <p:nvPr/>
        </p:nvSpPr>
        <p:spPr>
          <a:xfrm>
            <a:off x="812800" y="3738662"/>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Nghiêng tự khuếch đại</a:t>
            </a:r>
            <a:r>
              <a:rPr lang="en-US" sz="1400" dirty="0">
                <a:solidFill>
                  <a:srgbClr val="13202E"/>
                </a:solidFill>
                <a:latin typeface="IBM Plex Sans" pitchFamily="34" charset="0"/>
                <a:ea typeface="IBM Plex Sans" pitchFamily="34" charset="-122"/>
                <a:cs typeface="IBM Plex Sans" pitchFamily="34" charset="-120"/>
              </a:rPr>
              <a:t>: drone nghiêng thì trượt, trượt nhanh dần, rồi lật.</a:t>
            </a:r>
            <a:endParaRPr lang="en-US" sz="1400" dirty="0"/>
          </a:p>
        </p:txBody>
      </p:sp>
      <p:sp>
        <p:nvSpPr>
          <p:cNvPr id="8" name="Shape 6"/>
          <p:cNvSpPr/>
          <p:nvPr/>
        </p:nvSpPr>
        <p:spPr>
          <a:xfrm>
            <a:off x="812800" y="4376142"/>
            <a:ext cx="5054600" cy="1031180"/>
          </a:xfrm>
          <a:prstGeom prst="roundRect">
            <a:avLst>
              <a:gd name="adj" fmla="val 9853"/>
            </a:avLst>
          </a:prstGeom>
          <a:solidFill>
            <a:srgbClr val="13202E"/>
          </a:solidFill>
          <a:ln/>
        </p:spPr>
      </p:sp>
      <p:sp>
        <p:nvSpPr>
          <p:cNvPr id="9" name="Text 7"/>
          <p:cNvSpPr/>
          <p:nvPr/>
        </p:nvSpPr>
        <p:spPr>
          <a:xfrm>
            <a:off x="1016000" y="452854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792663"/>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Giữ thăng bằng cây chổi trên tay: ngừng chỉnh là nó đổ. (Đường cong là minh họa.)</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không sửa, độ nghiêng 1,5 độ tăng quá 45 độ trong một giây; có phản hồi thì về 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độ nghiêng (°)</a:t>
            </a:r>
            <a:endParaRPr lang="en-US" sz="1200" dirty="0"/>
          </a:p>
        </p:txBody>
      </p:sp>
      <p:sp>
        <p:nvSpPr>
          <p:cNvPr id="15" name="Text 12"/>
          <p:cNvSpPr/>
          <p:nvPr/>
        </p:nvSpPr>
        <p:spPr>
          <a:xfrm>
            <a:off x="8902700" y="2219920"/>
            <a:ext cx="209296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Không sửa:</a:t>
            </a:r>
            <a:endParaRPr lang="en-US" sz="1300" dirty="0"/>
          </a:p>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lật</a:t>
            </a:r>
            <a:endParaRPr lang="en-US" sz="1300" dirty="0"/>
          </a:p>
        </p:txBody>
      </p:sp>
      <p:sp>
        <p:nvSpPr>
          <p:cNvPr id="16" name="Text 13"/>
          <p:cNvSpPr/>
          <p:nvPr/>
        </p:nvSpPr>
        <p:spPr>
          <a:xfrm>
            <a:off x="9474200" y="3870920"/>
            <a:ext cx="17018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Có phản hồi:</a:t>
            </a:r>
            <a:endParaRPr lang="en-US" sz="1300" dirty="0"/>
          </a:p>
          <a:p>
            <a:pPr algn="l"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giữ thăng bằng</a:t>
            </a:r>
            <a:endParaRPr lang="en-US" sz="13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Cách sửa là phản hồi (feedback)</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Ví dụ: giữ xe trong làn đường. Bạn thấy xe lệch, so với giữa làn, rồi xoay vô-lăng một chút — lặp đi lặp lại.</a:t>
            </a:r>
            <a:endParaRPr lang="en-US" sz="1600" dirty="0"/>
          </a:p>
        </p:txBody>
      </p:sp>
      <p:sp>
        <p:nvSpPr>
          <p:cNvPr id="5" name="Shape 3"/>
          <p:cNvSpPr/>
          <p:nvPr/>
        </p:nvSpPr>
        <p:spPr>
          <a:xfrm>
            <a:off x="819150" y="2320230"/>
            <a:ext cx="10553700" cy="754360"/>
          </a:xfrm>
          <a:prstGeom prst="roundRect">
            <a:avLst>
              <a:gd name="adj" fmla="val 12627"/>
            </a:avLst>
          </a:prstGeom>
          <a:solidFill>
            <a:srgbClr val="FDFCF8"/>
          </a:solidFill>
          <a:ln w="12700">
            <a:solidFill>
              <a:srgbClr val="E2DFD6"/>
            </a:solidFill>
            <a:prstDash val="solid"/>
          </a:ln>
        </p:spPr>
      </p:sp>
      <p:sp>
        <p:nvSpPr>
          <p:cNvPr id="6" name="Text 4"/>
          <p:cNvSpPr/>
          <p:nvPr/>
        </p:nvSpPr>
        <p:spPr>
          <a:xfrm>
            <a:off x="1054100" y="2466280"/>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7" name="Text 5"/>
          <p:cNvSpPr/>
          <p:nvPr/>
        </p:nvSpPr>
        <p:spPr>
          <a:xfrm>
            <a:off x="1638300" y="2568823"/>
            <a:ext cx="552581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Đo</a:t>
            </a:r>
            <a:r>
              <a:rPr lang="en-US" sz="1500" dirty="0">
                <a:solidFill>
                  <a:srgbClr val="13202E"/>
                </a:solidFill>
                <a:latin typeface="IBM Plex Sans" pitchFamily="34" charset="0"/>
                <a:ea typeface="IBM Plex Sans" pitchFamily="34" charset="-122"/>
                <a:cs typeface="IBM Plex Sans" pitchFamily="34" charset="-120"/>
              </a:rPr>
              <a:t> drone đang làm gì lúc này (cảm biến chuyển động).</a:t>
            </a:r>
            <a:endParaRPr lang="en-US" sz="1500" dirty="0"/>
          </a:p>
        </p:txBody>
      </p:sp>
      <p:sp>
        <p:nvSpPr>
          <p:cNvPr id="8" name="Shape 6"/>
          <p:cNvSpPr/>
          <p:nvPr/>
        </p:nvSpPr>
        <p:spPr>
          <a:xfrm>
            <a:off x="819150" y="3201591"/>
            <a:ext cx="10553700" cy="754360"/>
          </a:xfrm>
          <a:prstGeom prst="roundRect">
            <a:avLst>
              <a:gd name="adj" fmla="val 12627"/>
            </a:avLst>
          </a:prstGeom>
          <a:solidFill>
            <a:srgbClr val="FDFCF8"/>
          </a:solidFill>
          <a:ln w="12700">
            <a:solidFill>
              <a:srgbClr val="E2DFD6"/>
            </a:solidFill>
            <a:prstDash val="solid"/>
          </a:ln>
        </p:spPr>
      </p:sp>
      <p:sp>
        <p:nvSpPr>
          <p:cNvPr id="9" name="Text 7"/>
          <p:cNvSpPr/>
          <p:nvPr/>
        </p:nvSpPr>
        <p:spPr>
          <a:xfrm>
            <a:off x="1054100" y="334764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10" name="Text 8"/>
          <p:cNvSpPr/>
          <p:nvPr/>
        </p:nvSpPr>
        <p:spPr>
          <a:xfrm>
            <a:off x="1638300" y="3450183"/>
            <a:ext cx="7063561"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So sánh</a:t>
            </a:r>
            <a:r>
              <a:rPr lang="en-US" sz="1500" dirty="0">
                <a:solidFill>
                  <a:srgbClr val="13202E"/>
                </a:solidFill>
                <a:latin typeface="IBM Plex Sans" pitchFamily="34" charset="0"/>
                <a:ea typeface="IBM Plex Sans" pitchFamily="34" charset="-122"/>
                <a:cs typeface="IBM Plex Sans" pitchFamily="34" charset="-120"/>
              </a:rPr>
              <a:t> với điều ta muốn (setpoint từ cần điều khiển hoặc ứng dụng).</a:t>
            </a:r>
            <a:endParaRPr lang="en-US" sz="1500" dirty="0"/>
          </a:p>
        </p:txBody>
      </p:sp>
      <p:sp>
        <p:nvSpPr>
          <p:cNvPr id="11" name="Shape 9"/>
          <p:cNvSpPr/>
          <p:nvPr/>
        </p:nvSpPr>
        <p:spPr>
          <a:xfrm>
            <a:off x="819150" y="4082951"/>
            <a:ext cx="10553700" cy="754360"/>
          </a:xfrm>
          <a:prstGeom prst="roundRect">
            <a:avLst>
              <a:gd name="adj" fmla="val 12627"/>
            </a:avLst>
          </a:prstGeom>
          <a:solidFill>
            <a:srgbClr val="FDFCF8"/>
          </a:solidFill>
          <a:ln w="12700">
            <a:solidFill>
              <a:srgbClr val="E2DFD6"/>
            </a:solidFill>
            <a:prstDash val="solid"/>
          </a:ln>
        </p:spPr>
      </p:sp>
      <p:sp>
        <p:nvSpPr>
          <p:cNvPr id="12" name="Text 10"/>
          <p:cNvSpPr/>
          <p:nvPr/>
        </p:nvSpPr>
        <p:spPr>
          <a:xfrm>
            <a:off x="1054100" y="422900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3" name="Text 11"/>
          <p:cNvSpPr/>
          <p:nvPr/>
        </p:nvSpPr>
        <p:spPr>
          <a:xfrm>
            <a:off x="1638300" y="4331543"/>
            <a:ext cx="5731490"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Sửa</a:t>
            </a:r>
            <a:r>
              <a:rPr lang="en-US" sz="1500" dirty="0">
                <a:solidFill>
                  <a:srgbClr val="13202E"/>
                </a:solidFill>
                <a:latin typeface="IBM Plex Sans" pitchFamily="34" charset="0"/>
                <a:ea typeface="IBM Plex Sans" pitchFamily="34" charset="-122"/>
                <a:cs typeface="IBM Plex Sans" pitchFamily="34" charset="-120"/>
              </a:rPr>
              <a:t>: đổi động cơ một lượng dựa trên chênh lệch (sai số).</a:t>
            </a:r>
            <a:endParaRPr lang="en-US" sz="1500" dirty="0"/>
          </a:p>
        </p:txBody>
      </p:sp>
      <p:sp>
        <p:nvSpPr>
          <p:cNvPr id="14" name="Shape 12"/>
          <p:cNvSpPr/>
          <p:nvPr/>
        </p:nvSpPr>
        <p:spPr>
          <a:xfrm>
            <a:off x="819150" y="4964311"/>
            <a:ext cx="10553700" cy="754360"/>
          </a:xfrm>
          <a:prstGeom prst="roundRect">
            <a:avLst>
              <a:gd name="adj" fmla="val 12627"/>
            </a:avLst>
          </a:prstGeom>
          <a:solidFill>
            <a:srgbClr val="FDFCF8"/>
          </a:solidFill>
          <a:ln w="12700">
            <a:solidFill>
              <a:srgbClr val="E2DFD6"/>
            </a:solidFill>
            <a:prstDash val="solid"/>
          </a:ln>
        </p:spPr>
      </p:sp>
      <p:sp>
        <p:nvSpPr>
          <p:cNvPr id="15" name="Text 13"/>
          <p:cNvSpPr/>
          <p:nvPr/>
        </p:nvSpPr>
        <p:spPr>
          <a:xfrm>
            <a:off x="1054100" y="511036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4</a:t>
            </a:r>
            <a:endParaRPr lang="en-US" sz="2600" dirty="0"/>
          </a:p>
        </p:txBody>
      </p:sp>
      <p:sp>
        <p:nvSpPr>
          <p:cNvPr id="16" name="Text 14"/>
          <p:cNvSpPr/>
          <p:nvPr/>
        </p:nvSpPr>
        <p:spPr>
          <a:xfrm>
            <a:off x="1638300" y="5212904"/>
            <a:ext cx="3911858"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Lặp lại</a:t>
            </a:r>
            <a:r>
              <a:rPr lang="en-US" sz="1500" dirty="0">
                <a:solidFill>
                  <a:srgbClr val="13202E"/>
                </a:solidFill>
                <a:latin typeface="IBM Plex Sans" pitchFamily="34" charset="0"/>
                <a:ea typeface="IBM Plex Sans" pitchFamily="34" charset="-122"/>
                <a:cs typeface="IBM Plex Sans" pitchFamily="34" charset="-120"/>
              </a:rPr>
              <a:t> — đủ nhanh để sai số luôn nhỏ.</a:t>
            </a:r>
            <a:endParaRPr lang="en-US" sz="15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Một vòng điều khiển, 250 lần mỗi giây</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Bốn bước giống nhau, 250 lần mỗi giây.</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Cảm nhận</a:t>
            </a:r>
            <a:r>
              <a:rPr lang="en-US" sz="1400" dirty="0">
                <a:solidFill>
                  <a:srgbClr val="13202E"/>
                </a:solidFill>
                <a:latin typeface="IBM Plex Sans" pitchFamily="34" charset="0"/>
                <a:ea typeface="IBM Plex Sans" pitchFamily="34" charset="-122"/>
                <a:cs typeface="IBM Plex Sans" pitchFamily="34" charset="-120"/>
              </a:rPr>
              <a:t>: đọc gyro và gia tốc kế qua SPI.</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Ước lượng</a:t>
            </a:r>
            <a:r>
              <a:rPr lang="en-US" sz="1400" dirty="0">
                <a:solidFill>
                  <a:srgbClr val="13202E"/>
                </a:solidFill>
                <a:latin typeface="IBM Plex Sans" pitchFamily="34" charset="0"/>
                <a:ea typeface="IBM Plex Sans" pitchFamily="34" charset="-122"/>
                <a:cs typeface="IBM Plex Sans" pitchFamily="34" charset="-120"/>
              </a:rPr>
              <a:t>: tính các góc nghiêng.</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Quyết định</a:t>
            </a:r>
            <a:r>
              <a:rPr lang="en-US" sz="1400" dirty="0">
                <a:solidFill>
                  <a:srgbClr val="13202E"/>
                </a:solidFill>
                <a:latin typeface="IBM Plex Sans" pitchFamily="34" charset="0"/>
                <a:ea typeface="IBM Plex Sans" pitchFamily="34" charset="-122"/>
                <a:cs typeface="IBM Plex Sans" pitchFamily="34" charset="-120"/>
              </a:rPr>
              <a:t>: PID so sánh điều muốn với điều đang có.</a:t>
            </a:r>
            <a:endParaRPr lang="en-US" sz="1400" dirty="0"/>
          </a:p>
        </p:txBody>
      </p:sp>
      <p:sp>
        <p:nvSpPr>
          <p:cNvPr id="8" name="Text 6"/>
          <p:cNvSpPr/>
          <p:nvPr/>
        </p:nvSpPr>
        <p:spPr>
          <a:xfrm>
            <a:off x="812800" y="33551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Hành động</a:t>
            </a:r>
            <a:r>
              <a:rPr lang="en-US" sz="1400" dirty="0">
                <a:solidFill>
                  <a:srgbClr val="13202E"/>
                </a:solidFill>
                <a:latin typeface="IBM Plex Sans" pitchFamily="34" charset="0"/>
                <a:ea typeface="IBM Plex Sans" pitchFamily="34" charset="-122"/>
                <a:cs typeface="IBM Plex Sans" pitchFamily="34" charset="-120"/>
              </a:rPr>
              <a:t>: bộ trộn đặt duty bốn động cơ — rồi chờ đủ 4 ms.</a:t>
            </a:r>
            <a:endParaRPr lang="en-US" sz="1400" dirty="0"/>
          </a:p>
        </p:txBody>
      </p:sp>
      <p:sp>
        <p:nvSpPr>
          <p:cNvPr id="9" name="Shape 7"/>
          <p:cNvSpPr/>
          <p:nvPr/>
        </p:nvSpPr>
        <p:spPr>
          <a:xfrm>
            <a:off x="812800" y="3743771"/>
            <a:ext cx="5054600" cy="1031180"/>
          </a:xfrm>
          <a:prstGeom prst="roundRect">
            <a:avLst>
              <a:gd name="adj" fmla="val 9853"/>
            </a:avLst>
          </a:prstGeom>
          <a:solidFill>
            <a:srgbClr val="13202E"/>
          </a:solidFill>
          <a:ln/>
        </p:spPr>
      </p:sp>
      <p:sp>
        <p:nvSpPr>
          <p:cNvPr id="10" name="Text 8"/>
          <p:cNvSpPr/>
          <p:nvPr/>
        </p:nvSpPr>
        <p:spPr>
          <a:xfrm>
            <a:off x="1016000" y="38961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1" name="Text 9"/>
          <p:cNvSpPr/>
          <p:nvPr/>
        </p:nvSpPr>
        <p:spPr>
          <a:xfrm>
            <a:off x="1016000" y="41602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Gyro báo roll 6 °/s → góc 2,1° → PID muốn 0 → động cơ trái +8, phải −8 → chờ.</a:t>
            </a:r>
            <a:endParaRPr lang="en-US" sz="1300" dirty="0"/>
          </a:p>
        </p:txBody>
      </p:sp>
      <p:sp>
        <p:nvSpPr>
          <p:cNvPr id="12" name="Shape 10"/>
          <p:cNvSpPr/>
          <p:nvPr/>
        </p:nvSpPr>
        <p:spPr>
          <a:xfrm>
            <a:off x="6172200" y="1775420"/>
            <a:ext cx="5207000" cy="3556000"/>
          </a:xfrm>
          <a:prstGeom prst="roundRect">
            <a:avLst>
              <a:gd name="adj" fmla="val 2857"/>
            </a:avLst>
          </a:prstGeom>
          <a:solidFill>
            <a:srgbClr val="FDFCF8"/>
          </a:solidFill>
          <a:ln/>
        </p:spPr>
      </p:sp>
      <p:pic>
        <p:nvPicPr>
          <p:cNvPr id="13" name="Image 0" descr="Một chu trình: cảm nhận, ước lượng, quyết định, hành động, quanh đồng hồ 4 mili giây">    </p:cNvPr>
          <p:cNvPicPr>
            <a:picLocks noChangeAspect="1"/>
          </p:cNvPicPr>
          <p:nvPr/>
        </p:nvPicPr>
        <p:blipFill>
          <a:blip r:embed="rId1"/>
          <a:srcRect l="0" r="0" t="0" b="0"/>
          <a:stretch/>
        </p:blipFill>
        <p:spPr>
          <a:xfrm>
            <a:off x="6172200" y="1775420"/>
            <a:ext cx="5207000" cy="3556000"/>
          </a:xfrm>
          <a:prstGeom prst="rect">
            <a:avLst/>
          </a:prstGeom>
        </p:spPr>
      </p:pic>
      <p:sp>
        <p:nvSpPr>
          <p:cNvPr id="14" name="Text 11"/>
          <p:cNvSpPr/>
          <p:nvPr/>
        </p:nvSpPr>
        <p:spPr>
          <a:xfrm>
            <a:off x="8150225" y="19373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Cảm nhận</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mpuReadRaw</a:t>
            </a:r>
            <a:endParaRPr lang="en-US" sz="1200" dirty="0"/>
          </a:p>
        </p:txBody>
      </p:sp>
      <p:sp>
        <p:nvSpPr>
          <p:cNvPr id="15" name="Text 12"/>
          <p:cNvSpPr/>
          <p:nvPr/>
        </p:nvSpPr>
        <p:spPr>
          <a:xfrm>
            <a:off x="9966325" y="33216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Ước lượng</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attitudeUpdate</a:t>
            </a:r>
            <a:endParaRPr lang="en-US" sz="1200" dirty="0"/>
          </a:p>
        </p:txBody>
      </p:sp>
      <p:sp>
        <p:nvSpPr>
          <p:cNvPr id="16" name="Text 13"/>
          <p:cNvSpPr/>
          <p:nvPr/>
        </p:nvSpPr>
        <p:spPr>
          <a:xfrm>
            <a:off x="8150225" y="47059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Quyết định</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pidCompute</a:t>
            </a:r>
            <a:endParaRPr lang="en-US" sz="1200" dirty="0"/>
          </a:p>
        </p:txBody>
      </p:sp>
      <p:sp>
        <p:nvSpPr>
          <p:cNvPr id="17" name="Text 14"/>
          <p:cNvSpPr/>
          <p:nvPr/>
        </p:nvSpPr>
        <p:spPr>
          <a:xfrm>
            <a:off x="6334125" y="33216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Hành động</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motorMix</a:t>
            </a:r>
            <a:endParaRPr lang="en-US" sz="1200" dirty="0"/>
          </a:p>
        </p:txBody>
      </p:sp>
      <p:sp>
        <p:nvSpPr>
          <p:cNvPr id="18" name="Text 15"/>
          <p:cNvSpPr/>
          <p:nvPr/>
        </p:nvSpPr>
        <p:spPr>
          <a:xfrm>
            <a:off x="8242300" y="3286720"/>
            <a:ext cx="1066800" cy="46990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4 ms</a:t>
            </a:r>
            <a:endParaRPr lang="en-US" sz="1400" dirty="0"/>
          </a:p>
          <a:p>
            <a:pPr algn="ctr" indent="0" marL="0">
              <a:lnSpc>
                <a:spcPts val="1750"/>
              </a:lnSpc>
              <a:buNone/>
            </a:pPr>
            <a:r>
              <a:rPr lang="en-US" sz="1400" dirty="0">
                <a:solidFill>
                  <a:srgbClr val="F6F5F0"/>
                </a:solidFill>
                <a:latin typeface="IBM Plex Sans" pitchFamily="34" charset="0"/>
                <a:ea typeface="IBM Plex Sans" pitchFamily="34" charset="-122"/>
                <a:cs typeface="IBM Plex Sans" pitchFamily="34" charset="-120"/>
              </a:rPr>
              <a:t>250 lần/s</a:t>
            </a:r>
            <a:endParaRPr lang="en-US" sz="14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18 · Nguồn: loop() trong Esp32_drone.ino</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CÁCH BAY</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Vì sao 250 lần mỗi giây?</a:t>
            </a:r>
            <a:endParaRPr lang="en-US" sz="3000" dirty="0"/>
          </a:p>
        </p:txBody>
      </p:sp>
      <p:sp>
        <p:nvSpPr>
          <p:cNvPr id="4" name="Shape 2"/>
          <p:cNvSpPr/>
          <p:nvPr/>
        </p:nvSpPr>
        <p:spPr>
          <a:xfrm>
            <a:off x="812800" y="1775420"/>
            <a:ext cx="3403600" cy="1990725"/>
          </a:xfrm>
          <a:prstGeom prst="roundRect">
            <a:avLst>
              <a:gd name="adj" fmla="val 5104"/>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4 ms</a:t>
            </a:r>
            <a:endParaRPr lang="en-US" sz="4400" dirty="0"/>
          </a:p>
        </p:txBody>
      </p:sp>
      <p:sp>
        <p:nvSpPr>
          <p:cNvPr id="6" name="Text 4"/>
          <p:cNvSpPr/>
          <p:nvPr/>
        </p:nvSpPr>
        <p:spPr>
          <a:xfrm>
            <a:off x="1092200" y="271522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mỗi vòng (LOOP_TIME_US 4000). Đủ ngắn để bắt kịp độ nghiêng trước khi nó lớn.</a:t>
            </a:r>
            <a:endParaRPr lang="en-US" sz="1500" dirty="0"/>
          </a:p>
        </p:txBody>
      </p:sp>
      <p:sp>
        <p:nvSpPr>
          <p:cNvPr id="7" name="Shape 5"/>
          <p:cNvSpPr/>
          <p:nvPr/>
        </p:nvSpPr>
        <p:spPr>
          <a:xfrm>
            <a:off x="4394200" y="1775420"/>
            <a:ext cx="3403600" cy="1990725"/>
          </a:xfrm>
          <a:prstGeom prst="roundRect">
            <a:avLst>
              <a:gd name="adj" fmla="val 5104"/>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250 Hz</a:t>
            </a:r>
            <a:endParaRPr lang="en-US" sz="4400" dirty="0"/>
          </a:p>
        </p:txBody>
      </p:sp>
      <p:sp>
        <p:nvSpPr>
          <p:cNvPr id="9" name="Text 7"/>
          <p:cNvSpPr/>
          <p:nvPr/>
        </p:nvSpPr>
        <p:spPr>
          <a:xfrm>
            <a:off x="46736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tốc độ lấy mẫu của cảm biến được đặt khớp: 1 kHz ÷ (1 + 3).</a:t>
            </a:r>
            <a:endParaRPr lang="en-US" sz="1500" dirty="0"/>
          </a:p>
        </p:txBody>
      </p:sp>
      <p:sp>
        <p:nvSpPr>
          <p:cNvPr id="10" name="Shape 8"/>
          <p:cNvSpPr/>
          <p:nvPr/>
        </p:nvSpPr>
        <p:spPr>
          <a:xfrm>
            <a:off x="7975600" y="1775420"/>
            <a:ext cx="3403600" cy="1990725"/>
          </a:xfrm>
          <a:prstGeom prst="roundRect">
            <a:avLst>
              <a:gd name="adj" fmla="val 5104"/>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 0,5°</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ví dụ độ lệch giữa hai vòng — nhỏ, nên mỗi lần sửa cũng nhỏ.</a:t>
            </a:r>
            <a:endParaRPr lang="en-US" sz="1500" dirty="0"/>
          </a:p>
        </p:txBody>
      </p:sp>
      <p:sp>
        <p:nvSpPr>
          <p:cNvPr id="13" name="Text 11"/>
          <p:cNvSpPr/>
          <p:nvPr/>
        </p:nvSpPr>
        <p:spPr>
          <a:xfrm>
            <a:off x="812800" y="402014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Quy tắc nhớ: vòng điều khiển phải chạy nhanh hơn nhiều so với tốc độ drone có thể lật.</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Cách bay · 19 · Nguồn: #define LOOP_TIME_US, SMPLRT_DIV trong mpuInit()</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CÁCH BAY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các cánh quạt quay CW và CCW xen kẽ?</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nghĩ về lực vặn mỗi cánh tạo lên thân.</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quadcopter chỉ đi ngang được bằng cách nghiêng?</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lực đẩy hướng về đâu?</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yaw cần hệ số lớn hơn roll?</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mô-men từ cánh nhỏ rất yếu.</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vòng lặp phải nhanh?</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một độ nghiêng nhỏ lớn lên nhanh thế nào?</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Cách bay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03</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Các linh kiện phần cứng</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Mọi linh kiện trên bo mạch, chúng làm gì, và firmware nói chuyện với chúng thế nào.</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Bo mạch trong một hình</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Một chip ở giữa; mọi thứ khác cắm vào nó.</a:t>
            </a:r>
            <a:endParaRPr lang="en-US" sz="1600" dirty="0"/>
          </a:p>
        </p:txBody>
      </p:sp>
      <p:sp>
        <p:nvSpPr>
          <p:cNvPr id="5" name="Text 3"/>
          <p:cNvSpPr/>
          <p:nvPr/>
        </p:nvSpPr>
        <p:spPr>
          <a:xfrm>
            <a:off x="812800" y="218941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Đầu vào</a:t>
            </a:r>
            <a:r>
              <a:rPr lang="en-US" sz="1400" dirty="0">
                <a:solidFill>
                  <a:srgbClr val="13202E"/>
                </a:solidFill>
                <a:latin typeface="IBM Plex Sans" pitchFamily="34" charset="0"/>
                <a:ea typeface="IBM Plex Sans" pitchFamily="34" charset="-122"/>
                <a:cs typeface="IBM Plex Sans" pitchFamily="34" charset="-120"/>
              </a:rPr>
              <a:t> (trái): cảm biến chuyển động qua SPI, máy thu RC tùy chọn qua UART, điện áp pin qua ADC.</a:t>
            </a:r>
            <a:endParaRPr lang="en-US" sz="1400" dirty="0"/>
          </a:p>
        </p:txBody>
      </p:sp>
      <p:sp>
        <p:nvSpPr>
          <p:cNvPr id="6" name="Text 4"/>
          <p:cNvSpPr/>
          <p:nvPr/>
        </p:nvSpPr>
        <p:spPr>
          <a:xfrm>
            <a:off x="812800" y="2826891"/>
            <a:ext cx="5359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Đầu ra</a:t>
            </a:r>
            <a:r>
              <a:rPr lang="en-US" sz="1400" dirty="0">
                <a:solidFill>
                  <a:srgbClr val="13202E"/>
                </a:solidFill>
                <a:latin typeface="IBM Plex Sans" pitchFamily="34" charset="0"/>
                <a:ea typeface="IBM Plex Sans" pitchFamily="34" charset="-122"/>
                <a:cs typeface="IBM Plex Sans" pitchFamily="34" charset="-120"/>
              </a:rPr>
              <a:t> (phải): PWM tới bốn công tắc MOSFET, lái bốn động cơ.</a:t>
            </a:r>
            <a:endParaRPr lang="en-US" sz="1400" dirty="0"/>
          </a:p>
        </p:txBody>
      </p:sp>
      <p:sp>
        <p:nvSpPr>
          <p:cNvPr id="7" name="Text 5"/>
          <p:cNvSpPr/>
          <p:nvPr/>
        </p:nvSpPr>
        <p:spPr>
          <a:xfrm>
            <a:off x="812800" y="32154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Radio</a:t>
            </a:r>
            <a:r>
              <a:rPr lang="en-US" sz="1400" dirty="0">
                <a:solidFill>
                  <a:srgbClr val="13202E"/>
                </a:solidFill>
                <a:latin typeface="IBM Plex Sans" pitchFamily="34" charset="0"/>
                <a:ea typeface="IBM Plex Sans" pitchFamily="34" charset="-122"/>
                <a:cs typeface="IBM Plex Sans" pitchFamily="34" charset="-120"/>
              </a:rPr>
              <a:t> (trên): điện thoại nói chuyện với ESP32 qua Wi-Fi hoặc Bluetooth.</a:t>
            </a:r>
            <a:endParaRPr lang="en-US" sz="1400" dirty="0"/>
          </a:p>
        </p:txBody>
      </p:sp>
      <p:sp>
        <p:nvSpPr>
          <p:cNvPr id="8" name="Shape 6"/>
          <p:cNvSpPr/>
          <p:nvPr/>
        </p:nvSpPr>
        <p:spPr>
          <a:xfrm>
            <a:off x="6172200" y="1775420"/>
            <a:ext cx="5207000" cy="3556000"/>
          </a:xfrm>
          <a:prstGeom prst="roundRect">
            <a:avLst>
              <a:gd name="adj" fmla="val 2857"/>
            </a:avLst>
          </a:prstGeom>
          <a:solidFill>
            <a:srgbClr val="FDFCF8"/>
          </a:solidFill>
          <a:ln/>
        </p:spPr>
      </p:sp>
      <p:pic>
        <p:nvPicPr>
          <p:cNvPr id="9" name="Image 0" descr="Sơ đồ khối: điện thoại nối radio tới ESP32; MPU6500 qua SPI và SBUS qua UART vào ESP32; PWM ra MOSFET và động cơ; pin cấp cho động cơ và mạch logic">    </p:cNvPr>
          <p:cNvPicPr>
            <a:picLocks noChangeAspect="1"/>
          </p:cNvPicPr>
          <p:nvPr/>
        </p:nvPicPr>
        <p:blipFill>
          <a:blip r:embed="rId1"/>
          <a:srcRect l="0" r="0" t="0" b="0"/>
          <a:stretch/>
        </p:blipFill>
        <p:spPr>
          <a:xfrm>
            <a:off x="6172200" y="1775420"/>
            <a:ext cx="5207000" cy="3556000"/>
          </a:xfrm>
          <a:prstGeom prst="rect">
            <a:avLst/>
          </a:prstGeom>
        </p:spPr>
      </p:pic>
      <p:sp>
        <p:nvSpPr>
          <p:cNvPr id="10" name="Text 7"/>
          <p:cNvSpPr/>
          <p:nvPr/>
        </p:nvSpPr>
        <p:spPr>
          <a:xfrm>
            <a:off x="8150225" y="1873845"/>
            <a:ext cx="1250950" cy="460970"/>
          </a:xfrm>
          <a:prstGeom prst="roundRect">
            <a:avLst>
              <a:gd name="adj" fmla="val 14464"/>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Ứng dụng</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điện thoại</a:t>
            </a:r>
            <a:endParaRPr lang="en-US" sz="1200" dirty="0"/>
          </a:p>
        </p:txBody>
      </p:sp>
      <p:sp>
        <p:nvSpPr>
          <p:cNvPr id="11" name="Text 8"/>
          <p:cNvSpPr/>
          <p:nvPr/>
        </p:nvSpPr>
        <p:spPr>
          <a:xfrm>
            <a:off x="8023225" y="3054945"/>
            <a:ext cx="1504950" cy="521891"/>
          </a:xfrm>
          <a:prstGeom prst="roundRect">
            <a:avLst>
              <a:gd name="adj" fmla="val 12776"/>
            </a:avLst>
          </a:prstGeom>
          <a:solidFill>
            <a:srgbClr val="13202E"/>
          </a:solidFill>
          <a:ln w="19050">
            <a:solidFill>
              <a:srgbClr val="13202E"/>
            </a:solidFill>
            <a:prstDash val="solid"/>
          </a:ln>
        </p:spPr>
        <p:txBody>
          <a:bodyPr wrap="square" lIns="28097" tIns="28097" rIns="28097" bIns="2697" rtlCol="0" anchor="t">
            <a:normAutofit/>
          </a:bodyPr>
          <a:lstStyle/>
          <a:p>
            <a:pPr algn="ctr" indent="0" marL="0">
              <a:lnSpc>
                <a:spcPts val="1680"/>
              </a:lnSpc>
              <a:buNone/>
            </a:pPr>
            <a:r>
              <a:rPr lang="en-US" sz="1400" b="1" dirty="0">
                <a:solidFill>
                  <a:srgbClr val="F6F5F0"/>
                </a:solidFill>
                <a:latin typeface="IBM Plex Sans" pitchFamily="34" charset="0"/>
                <a:ea typeface="IBM Plex Sans" pitchFamily="34" charset="-122"/>
                <a:cs typeface="IBM Plex Sans" pitchFamily="34" charset="-120"/>
              </a:rPr>
              <a:t>ESP32</a:t>
            </a:r>
            <a:endParaRPr lang="en-US" sz="1400" dirty="0"/>
          </a:p>
          <a:p>
            <a:pPr algn="ctr" indent="0" marL="0">
              <a:lnSpc>
                <a:spcPts val="1680"/>
              </a:lnSpc>
              <a:buNone/>
            </a:pPr>
            <a:r>
              <a:rPr lang="en-US" sz="1400" b="1" dirty="0">
                <a:solidFill>
                  <a:srgbClr val="F6F5F0"/>
                </a:solidFill>
                <a:latin typeface="IBM Plex Sans" pitchFamily="34" charset="0"/>
                <a:ea typeface="IBM Plex Sans" pitchFamily="34" charset="-122"/>
                <a:cs typeface="IBM Plex Sans" pitchFamily="34" charset="-120"/>
              </a:rPr>
              <a:t>bộ não + radio</a:t>
            </a:r>
            <a:endParaRPr lang="en-US" sz="1400" dirty="0"/>
          </a:p>
        </p:txBody>
      </p:sp>
      <p:sp>
        <p:nvSpPr>
          <p:cNvPr id="12" name="Text 9"/>
          <p:cNvSpPr/>
          <p:nvPr/>
        </p:nvSpPr>
        <p:spPr>
          <a:xfrm>
            <a:off x="6308725" y="29279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MPU6500</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gyro + gia tốc</a:t>
            </a:r>
            <a:endParaRPr lang="en-US" sz="1200" dirty="0"/>
          </a:p>
        </p:txBody>
      </p:sp>
      <p:sp>
        <p:nvSpPr>
          <p:cNvPr id="13" name="Text 10"/>
          <p:cNvSpPr/>
          <p:nvPr/>
        </p:nvSpPr>
        <p:spPr>
          <a:xfrm>
            <a:off x="6308725" y="36899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Máy thu SBUS</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(tùy chọn)</a:t>
            </a:r>
            <a:endParaRPr lang="en-US" sz="1200" dirty="0"/>
          </a:p>
        </p:txBody>
      </p:sp>
      <p:sp>
        <p:nvSpPr>
          <p:cNvPr id="14" name="Text 11"/>
          <p:cNvSpPr/>
          <p:nvPr/>
        </p:nvSpPr>
        <p:spPr>
          <a:xfrm>
            <a:off x="6308725" y="4515445"/>
            <a:ext cx="1250950" cy="460970"/>
          </a:xfrm>
          <a:prstGeom prst="roundRect">
            <a:avLst>
              <a:gd name="adj" fmla="val 1446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Pin LiPo</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1S</a:t>
            </a:r>
            <a:endParaRPr lang="en-US" sz="1200" dirty="0"/>
          </a:p>
        </p:txBody>
      </p:sp>
      <p:sp>
        <p:nvSpPr>
          <p:cNvPr id="15" name="Text 12"/>
          <p:cNvSpPr/>
          <p:nvPr/>
        </p:nvSpPr>
        <p:spPr>
          <a:xfrm>
            <a:off x="9991725" y="3308945"/>
            <a:ext cx="1250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4 × AO3416</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MOSFETs</a:t>
            </a:r>
            <a:endParaRPr lang="en-US" sz="1200" dirty="0"/>
          </a:p>
        </p:txBody>
      </p:sp>
      <p:sp>
        <p:nvSpPr>
          <p:cNvPr id="16" name="Text 13"/>
          <p:cNvSpPr/>
          <p:nvPr/>
        </p:nvSpPr>
        <p:spPr>
          <a:xfrm>
            <a:off x="9991725" y="4451945"/>
            <a:ext cx="1250950" cy="460970"/>
          </a:xfrm>
          <a:prstGeom prst="roundRect">
            <a:avLst>
              <a:gd name="adj" fmla="val 1446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4 × 8520</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động cơ</a:t>
            </a:r>
            <a:endParaRPr lang="en-US" sz="1200" dirty="0"/>
          </a:p>
        </p:txBody>
      </p:sp>
      <p:sp>
        <p:nvSpPr>
          <p:cNvPr id="17" name="Text 14"/>
          <p:cNvSpPr/>
          <p:nvPr/>
        </p:nvSpPr>
        <p:spPr>
          <a:xfrm>
            <a:off x="8864600" y="2524720"/>
            <a:ext cx="1130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Wi-Fi / BT</a:t>
            </a:r>
            <a:endParaRPr lang="en-US" sz="1200" dirty="0"/>
          </a:p>
        </p:txBody>
      </p:sp>
      <p:sp>
        <p:nvSpPr>
          <p:cNvPr id="18" name="Text 15"/>
          <p:cNvSpPr/>
          <p:nvPr/>
        </p:nvSpPr>
        <p:spPr>
          <a:xfrm>
            <a:off x="7581900" y="2905720"/>
            <a:ext cx="495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SPI</a:t>
            </a:r>
            <a:endParaRPr lang="en-US" sz="1200" dirty="0"/>
          </a:p>
        </p:txBody>
      </p:sp>
      <p:sp>
        <p:nvSpPr>
          <p:cNvPr id="19" name="Text 16"/>
          <p:cNvSpPr/>
          <p:nvPr/>
        </p:nvSpPr>
        <p:spPr>
          <a:xfrm>
            <a:off x="7581900" y="3667720"/>
            <a:ext cx="495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UART</a:t>
            </a:r>
            <a:endParaRPr lang="en-US" sz="1200" dirty="0"/>
          </a:p>
        </p:txBody>
      </p:sp>
      <p:sp>
        <p:nvSpPr>
          <p:cNvPr id="20" name="Text 17"/>
          <p:cNvSpPr/>
          <p:nvPr/>
        </p:nvSpPr>
        <p:spPr>
          <a:xfrm>
            <a:off x="9563100" y="3274020"/>
            <a:ext cx="4699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PWM</a:t>
            </a:r>
            <a:endParaRPr lang="en-US" sz="1200" dirty="0"/>
          </a:p>
        </p:txBody>
      </p:sp>
      <p:sp>
        <p:nvSpPr>
          <p:cNvPr id="21" name="Text 18"/>
          <p:cNvSpPr/>
          <p:nvPr/>
        </p:nvSpPr>
        <p:spPr>
          <a:xfrm>
            <a:off x="9042400" y="4467820"/>
            <a:ext cx="939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nguồn</a:t>
            </a:r>
            <a:endParaRPr lang="en-US" sz="1200" dirty="0"/>
          </a:p>
        </p:txBody>
      </p:sp>
      <p:sp>
        <p:nvSpPr>
          <p:cNvPr id="22" name="Text 19"/>
          <p:cNvSpPr/>
          <p:nvPr/>
        </p:nvSpPr>
        <p:spPr>
          <a:xfrm>
            <a:off x="7620000" y="4188420"/>
            <a:ext cx="11049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3.3 V + ADC</a:t>
            </a:r>
            <a:endParaRPr lang="en-US" sz="12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22 · Nguồn: các #define chân trong Esp32_drone.ino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ESP32: bộ não</a:t>
            </a:r>
            <a:endParaRPr lang="en-US" sz="3000" dirty="0"/>
          </a:p>
        </p:txBody>
      </p:sp>
      <p:sp>
        <p:nvSpPr>
          <p:cNvPr id="4" name="Shape 2"/>
          <p:cNvSpPr/>
          <p:nvPr/>
        </p:nvSpPr>
        <p:spPr>
          <a:xfrm>
            <a:off x="819150" y="1781770"/>
            <a:ext cx="3390900" cy="1318171"/>
          </a:xfrm>
          <a:prstGeom prst="roundRect">
            <a:avLst>
              <a:gd name="adj" fmla="val 7226"/>
            </a:avLst>
          </a:prstGeom>
          <a:solidFill>
            <a:srgbClr val="FDFCF8"/>
          </a:solidFill>
          <a:ln w="12700">
            <a:solidFill>
              <a:srgbClr val="E2DFD6"/>
            </a:solidFill>
            <a:prstDash val="solid"/>
          </a:ln>
        </p:spPr>
      </p:sp>
      <p:sp>
        <p:nvSpPr>
          <p:cNvPr id="5" name="Text 3"/>
          <p:cNvSpPr/>
          <p:nvPr/>
        </p:nvSpPr>
        <p:spPr>
          <a:xfrm>
            <a:off x="10795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Hai nhân, tới 240 MHz</a:t>
            </a:r>
            <a:endParaRPr lang="en-US" sz="1800" dirty="0"/>
          </a:p>
        </p:txBody>
      </p:sp>
      <p:sp>
        <p:nvSpPr>
          <p:cNvPr id="6" name="Text 4"/>
          <p:cNvSpPr/>
          <p:nvPr/>
        </p:nvSpPr>
        <p:spPr>
          <a:xfrm>
            <a:off x="10795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Dư sức cho vòng 250 Hz với phép tính số thực.</a:t>
            </a:r>
            <a:endParaRPr lang="en-US" sz="1400" dirty="0"/>
          </a:p>
        </p:txBody>
      </p:sp>
      <p:sp>
        <p:nvSpPr>
          <p:cNvPr id="7" name="Shape 5"/>
          <p:cNvSpPr/>
          <p:nvPr/>
        </p:nvSpPr>
        <p:spPr>
          <a:xfrm>
            <a:off x="4400550" y="1781770"/>
            <a:ext cx="3390900" cy="1318171"/>
          </a:xfrm>
          <a:prstGeom prst="roundRect">
            <a:avLst>
              <a:gd name="adj" fmla="val 7226"/>
            </a:avLst>
          </a:prstGeom>
          <a:solidFill>
            <a:srgbClr val="FDFCF8"/>
          </a:solidFill>
          <a:ln w="12700">
            <a:solidFill>
              <a:srgbClr val="E2DFD6"/>
            </a:solidFill>
            <a:prstDash val="solid"/>
          </a:ln>
        </p:spPr>
      </p:sp>
      <p:sp>
        <p:nvSpPr>
          <p:cNvPr id="8" name="Text 6"/>
          <p:cNvSpPr/>
          <p:nvPr/>
        </p:nvSpPr>
        <p:spPr>
          <a:xfrm>
            <a:off x="46609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Wi-Fi và Bluetooth có sẵn</a:t>
            </a:r>
            <a:endParaRPr lang="en-US" sz="1800" dirty="0"/>
          </a:p>
        </p:txBody>
      </p:sp>
      <p:sp>
        <p:nvSpPr>
          <p:cNvPr id="9" name="Text 7"/>
          <p:cNvSpPr/>
          <p:nvPr/>
        </p:nvSpPr>
        <p:spPr>
          <a:xfrm>
            <a:off x="46609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Điện thoại kết nối trực tiếp — không cần chip radio riêng.</a:t>
            </a:r>
            <a:endParaRPr lang="en-US" sz="1400" dirty="0"/>
          </a:p>
        </p:txBody>
      </p:sp>
      <p:sp>
        <p:nvSpPr>
          <p:cNvPr id="10" name="Shape 8"/>
          <p:cNvSpPr/>
          <p:nvPr/>
        </p:nvSpPr>
        <p:spPr>
          <a:xfrm>
            <a:off x="7981950" y="1781770"/>
            <a:ext cx="3390900" cy="1318171"/>
          </a:xfrm>
          <a:prstGeom prst="roundRect">
            <a:avLst>
              <a:gd name="adj" fmla="val 7226"/>
            </a:avLst>
          </a:prstGeom>
          <a:solidFill>
            <a:srgbClr val="FDFCF8"/>
          </a:solidFill>
          <a:ln w="12700">
            <a:solidFill>
              <a:srgbClr val="E2DFD6"/>
            </a:solidFill>
            <a:prstDash val="solid"/>
          </a:ln>
        </p:spPr>
      </p:sp>
      <p:sp>
        <p:nvSpPr>
          <p:cNvPr id="11" name="Text 9"/>
          <p:cNvSpPr/>
          <p:nvPr/>
        </p:nvSpPr>
        <p:spPr>
          <a:xfrm>
            <a:off x="82423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Khối phần cứng hỗ trợ</a:t>
            </a:r>
            <a:endParaRPr lang="en-US" sz="1800" dirty="0"/>
          </a:p>
        </p:txBody>
      </p:sp>
      <p:sp>
        <p:nvSpPr>
          <p:cNvPr id="12" name="Text 10"/>
          <p:cNvSpPr/>
          <p:nvPr/>
        </p:nvSpPr>
        <p:spPr>
          <a:xfrm>
            <a:off x="82423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SPI, UART, PWM LEDC và ADC làm việc định thời bằng phần cứng.</a:t>
            </a:r>
            <a:endParaRPr lang="en-US" sz="1400" dirty="0"/>
          </a:p>
        </p:txBody>
      </p:sp>
      <p:sp>
        <p:nvSpPr>
          <p:cNvPr id="13" name="Shape 11"/>
          <p:cNvSpPr/>
          <p:nvPr/>
        </p:nvSpPr>
        <p:spPr>
          <a:xfrm>
            <a:off x="812800" y="3360291"/>
            <a:ext cx="10566400" cy="1018480"/>
          </a:xfrm>
          <a:prstGeom prst="roundRect">
            <a:avLst>
              <a:gd name="adj" fmla="val 9976"/>
            </a:avLst>
          </a:prstGeom>
          <a:solidFill>
            <a:srgbClr val="13202E"/>
          </a:solidFill>
          <a:ln/>
        </p:spPr>
      </p:sp>
      <p:sp>
        <p:nvSpPr>
          <p:cNvPr id="14" name="Text 12"/>
          <p:cNvSpPr/>
          <p:nvPr/>
        </p:nvSpPr>
        <p:spPr>
          <a:xfrm>
            <a:off x="1117600" y="358889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5" name="Text 13"/>
          <p:cNvSpPr/>
          <p:nvPr/>
        </p:nvSpPr>
        <p:spPr>
          <a:xfrm>
            <a:off x="1117600" y="386571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Như một chiếc điện thoại kiêm luôn bộ phát Wi-Fi: vừa tính toán vừa liên lạc, không cần hộp thêm.</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23 · Nguồn: datasheet Espressif ESP32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MPU6500: cảm biến chuyển động</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Một chip nhỏ chứa hai cảm biến, mỗi cảm biến đo ba trục.</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312420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Con quay hồi chuyển (gyro)</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Drone xoay nhanh bao nhiêu, theo độ/giây. Dải đặt ±500 °/s.</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Gia tốc kế</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Lực đẩy mà nó cảm nhận, gồm cả trọng lực. Dải đặt ±8 g.</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Kết nối SPI</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ESP32 đọc 14 byte một lượt mỗi vòng.</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24 · Nguồn: datasheet TDK InvenSense MPU-6500; mpuInit()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Gyro và gia tốc kế: mỗi cái sửa cho cái kia</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Mỗi cảm biến sai theo một cách khác nhau.</a:t>
            </a:r>
            <a:endParaRPr lang="en-US" sz="1600" dirty="0"/>
          </a:p>
        </p:txBody>
      </p:sp>
      <p:sp>
        <p:nvSpPr>
          <p:cNvPr id="5" name="Text 3"/>
          <p:cNvSpPr/>
          <p:nvPr/>
        </p:nvSpPr>
        <p:spPr>
          <a:xfrm>
            <a:off x="812800" y="2189411"/>
            <a:ext cx="5359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01A"/>
                </a:solidFill>
                <a:latin typeface="IBM Plex Sans" pitchFamily="34" charset="0"/>
                <a:ea typeface="IBM Plex Sans" pitchFamily="34" charset="-122"/>
                <a:cs typeface="IBM Plex Sans" pitchFamily="34" charset="-120"/>
              </a:rPr>
              <a:t>Gyro</a:t>
            </a:r>
            <a:r>
              <a:rPr lang="en-US" sz="1400" dirty="0">
                <a:solidFill>
                  <a:srgbClr val="13202E"/>
                </a:solidFill>
                <a:latin typeface="IBM Plex Sans" pitchFamily="34" charset="0"/>
                <a:ea typeface="IBM Plex Sans" pitchFamily="34" charset="-122"/>
                <a:cs typeface="IBM Plex Sans" pitchFamily="34" charset="-120"/>
              </a:rPr>
              <a:t>: nhanh và mượt, nhưng độ lệch nhỏ cộng dồn — góc bị trôi.</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A3"/>
                </a:solidFill>
                <a:latin typeface="IBM Plex Sans" pitchFamily="34" charset="0"/>
                <a:ea typeface="IBM Plex Sans" pitchFamily="34" charset="-122"/>
                <a:cs typeface="IBM Plex Sans" pitchFamily="34" charset="-120"/>
              </a:rPr>
              <a:t>Gia tốc kế</a:t>
            </a:r>
            <a:r>
              <a:rPr lang="en-US" sz="1400" dirty="0">
                <a:solidFill>
                  <a:srgbClr val="13202E"/>
                </a:solidFill>
                <a:latin typeface="IBM Plex Sans" pitchFamily="34" charset="0"/>
                <a:ea typeface="IBM Plex Sans" pitchFamily="34" charset="-122"/>
                <a:cs typeface="IBM Plex Sans" pitchFamily="34" charset="-120"/>
              </a:rPr>
              <a:t>: biết “phía dưới” ở đâu và không trôi, nhưng rung làm nó nhiễu.</a:t>
            </a:r>
            <a:endParaRPr lang="en-US" sz="1400" dirty="0"/>
          </a:p>
        </p:txBody>
      </p:sp>
      <p:sp>
        <p:nvSpPr>
          <p:cNvPr id="7" name="Text 5"/>
          <p:cNvSpPr/>
          <p:nvPr/>
        </p:nvSpPr>
        <p:spPr>
          <a:xfrm>
            <a:off x="812800" y="32154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Phần 5 kết hợp chúng để mỗi cái bù điểm yếu của cái kia.</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Gyro = đồng hồ bấm giờ (chính xác, trôi). Gia tốc kế = mặt trời (luôn đúng, khó đọc khi trời mây).</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góc thật phẳng ở 10 độ; ước lượng gyro mượt nhưng trôi lên; ước lượng gia tốc kế nhiễu quanh 1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góc (°)</a:t>
            </a:r>
            <a:endParaRPr lang="en-US" sz="1200" dirty="0"/>
          </a:p>
        </p:txBody>
      </p:sp>
      <p:sp>
        <p:nvSpPr>
          <p:cNvPr id="15" name="Text 12"/>
          <p:cNvSpPr/>
          <p:nvPr/>
        </p:nvSpPr>
        <p:spPr>
          <a:xfrm>
            <a:off x="9728200" y="2359620"/>
            <a:ext cx="14478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Gyro: mượt,</a:t>
            </a:r>
            <a:endParaRPr lang="en-US" sz="1200" dirty="0"/>
          </a:p>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nhưng trôi</a:t>
            </a:r>
            <a:endParaRPr lang="en-US" sz="1200" dirty="0"/>
          </a:p>
        </p:txBody>
      </p:sp>
      <p:sp>
        <p:nvSpPr>
          <p:cNvPr id="16" name="Text 13"/>
          <p:cNvSpPr/>
          <p:nvPr/>
        </p:nvSpPr>
        <p:spPr>
          <a:xfrm>
            <a:off x="9728200" y="4061420"/>
            <a:ext cx="14478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Gia tốc kế: đúng</a:t>
            </a:r>
            <a:endParaRPr lang="en-US" sz="1200" dirty="0"/>
          </a:p>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trung bình, nhiễu</a:t>
            </a:r>
            <a:endParaRPr lang="en-US" sz="1200" dirty="0"/>
          </a:p>
        </p:txBody>
      </p:sp>
      <p:sp>
        <p:nvSpPr>
          <p:cNvPr id="17" name="Text 14"/>
          <p:cNvSpPr/>
          <p:nvPr/>
        </p:nvSpPr>
        <p:spPr>
          <a:xfrm>
            <a:off x="6870700" y="2956520"/>
            <a:ext cx="1320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góc thật 10°</a:t>
            </a:r>
            <a:endParaRPr lang="en-US" sz="12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25 · Nguồn: chú thích attitudeUpdate()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SPI: bốn dây nối tới cảm biến</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Bốn dây, mỗi dây một chiều.</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SCK</a:t>
            </a:r>
            <a:r>
              <a:rPr lang="en-US" sz="1400" dirty="0">
                <a:solidFill>
                  <a:srgbClr val="13202E"/>
                </a:solidFill>
                <a:latin typeface="IBM Plex Sans" pitchFamily="34" charset="0"/>
                <a:ea typeface="IBM Plex Sans" pitchFamily="34" charset="-122"/>
                <a:cs typeface="IBM Plex Sans" pitchFamily="34" charset="-120"/>
              </a:rPr>
              <a:t>: xung nhịp — ESP32 đặt tốc độ.</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MOSI</a:t>
            </a:r>
            <a:r>
              <a:rPr lang="en-US" sz="1400" dirty="0">
                <a:solidFill>
                  <a:srgbClr val="13202E"/>
                </a:solidFill>
                <a:latin typeface="IBM Plex Sans" pitchFamily="34" charset="0"/>
                <a:ea typeface="IBM Plex Sans" pitchFamily="34" charset="-122"/>
                <a:cs typeface="IBM Plex Sans" pitchFamily="34" charset="-120"/>
              </a:rPr>
              <a:t>: dữ liệu ra cảm biến. </a:t>
            </a:r>
            <a:r>
              <a:rPr lang="en-US" sz="1400" b="1" dirty="0">
                <a:solidFill>
                  <a:srgbClr val="13202E"/>
                </a:solidFill>
                <a:latin typeface="IBM Plex Sans" pitchFamily="34" charset="0"/>
                <a:ea typeface="IBM Plex Sans" pitchFamily="34" charset="-122"/>
                <a:cs typeface="IBM Plex Sans" pitchFamily="34" charset="-120"/>
              </a:rPr>
              <a:t>MISO</a:t>
            </a:r>
            <a:r>
              <a:rPr lang="en-US" sz="1400" dirty="0">
                <a:solidFill>
                  <a:srgbClr val="13202E"/>
                </a:solidFill>
                <a:latin typeface="IBM Plex Sans" pitchFamily="34" charset="0"/>
                <a:ea typeface="IBM Plex Sans" pitchFamily="34" charset="-122"/>
                <a:cs typeface="IBM Plex Sans" pitchFamily="34" charset="-120"/>
              </a:rPr>
              <a:t>: dữ liệu về.</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CS</a:t>
            </a:r>
            <a:r>
              <a:rPr lang="en-US" sz="1400" dirty="0">
                <a:solidFill>
                  <a:srgbClr val="13202E"/>
                </a:solidFill>
                <a:latin typeface="IBM Plex Sans" pitchFamily="34" charset="0"/>
                <a:ea typeface="IBM Plex Sans" pitchFamily="34" charset="-122"/>
                <a:cs typeface="IBM Plex Sans" pitchFamily="34" charset="-120"/>
              </a:rPr>
              <a:t>: LOW nghĩa là “tôi đang nói với bạn”.</a:t>
            </a:r>
            <a:endParaRPr lang="en-US" sz="1400" dirty="0"/>
          </a:p>
        </p:txBody>
      </p:sp>
      <p:sp>
        <p:nvSpPr>
          <p:cNvPr id="8" name="Text 6"/>
          <p:cNvSpPr/>
          <p:nvPr/>
        </p:nvSpPr>
        <p:spPr>
          <a:xfrm>
            <a:off x="812800" y="33551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Firmware chạy SPI ở 1 MHz, chế độ 0.</a:t>
            </a:r>
            <a:endParaRPr lang="en-US" sz="1400" dirty="0"/>
          </a:p>
        </p:txBody>
      </p:sp>
      <p:sp>
        <p:nvSpPr>
          <p:cNvPr id="9" name="Shape 7"/>
          <p:cNvSpPr/>
          <p:nvPr/>
        </p:nvSpPr>
        <p:spPr>
          <a:xfrm>
            <a:off x="812800" y="3743771"/>
            <a:ext cx="5054600" cy="1031180"/>
          </a:xfrm>
          <a:prstGeom prst="roundRect">
            <a:avLst>
              <a:gd name="adj" fmla="val 9853"/>
            </a:avLst>
          </a:prstGeom>
          <a:solidFill>
            <a:srgbClr val="13202E"/>
          </a:solidFill>
          <a:ln/>
        </p:spPr>
      </p:sp>
      <p:sp>
        <p:nvSpPr>
          <p:cNvPr id="10" name="Text 8"/>
          <p:cNvSpPr/>
          <p:nvPr/>
        </p:nvSpPr>
        <p:spPr>
          <a:xfrm>
            <a:off x="1016000" y="38961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1" name="Text 9"/>
          <p:cNvSpPr/>
          <p:nvPr/>
        </p:nvSpPr>
        <p:spPr>
          <a:xfrm>
            <a:off x="1016000" y="41602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Đọc 14 byte ở 1 MHz mất khoảng 0,12 ms — 3% của vòng 4 ms.</a:t>
            </a:r>
            <a:endParaRPr lang="en-US" sz="1300" dirty="0"/>
          </a:p>
        </p:txBody>
      </p:sp>
      <p:sp>
        <p:nvSpPr>
          <p:cNvPr id="12" name="Shape 10"/>
          <p:cNvSpPr/>
          <p:nvPr/>
        </p:nvSpPr>
        <p:spPr>
          <a:xfrm>
            <a:off x="6172200" y="1775420"/>
            <a:ext cx="5207000" cy="3556000"/>
          </a:xfrm>
          <a:prstGeom prst="roundRect">
            <a:avLst>
              <a:gd name="adj" fmla="val 2857"/>
            </a:avLst>
          </a:prstGeom>
          <a:solidFill>
            <a:srgbClr val="FDFCF8"/>
          </a:solidFill>
          <a:ln/>
        </p:spPr>
      </p:sp>
      <p:pic>
        <p:nvPicPr>
          <p:cNvPr id="13" name="Image 0" descr="Hai khối ESP32 và MPU6500 nối bằng bốn dây: SCK, MOSI và CS đi tới cảm biến, MISO đi về">    </p:cNvPr>
          <p:cNvPicPr>
            <a:picLocks noChangeAspect="1"/>
          </p:cNvPicPr>
          <p:nvPr/>
        </p:nvPicPr>
        <p:blipFill>
          <a:blip r:embed="rId1"/>
          <a:srcRect l="0" r="0" t="0" b="0"/>
          <a:stretch/>
        </p:blipFill>
        <p:spPr>
          <a:xfrm>
            <a:off x="6172200" y="1775420"/>
            <a:ext cx="5207000" cy="3556000"/>
          </a:xfrm>
          <a:prstGeom prst="rect">
            <a:avLst/>
          </a:prstGeom>
        </p:spPr>
      </p:pic>
      <p:sp>
        <p:nvSpPr>
          <p:cNvPr id="14" name="Text 11"/>
          <p:cNvSpPr/>
          <p:nvPr/>
        </p:nvSpPr>
        <p:spPr>
          <a:xfrm>
            <a:off x="6334125" y="2165945"/>
            <a:ext cx="1250950" cy="521891"/>
          </a:xfrm>
          <a:prstGeom prst="roundRect">
            <a:avLst>
              <a:gd name="adj" fmla="val 12776"/>
            </a:avLst>
          </a:prstGeom>
          <a:solidFill>
            <a:srgbClr val="13202E"/>
          </a:solidFill>
          <a:ln w="19050">
            <a:solidFill>
              <a:srgbClr val="13202E"/>
            </a:solidFill>
            <a:prstDash val="solid"/>
          </a:ln>
        </p:spPr>
        <p:txBody>
          <a:bodyPr wrap="square" lIns="28097" tIns="28097" rIns="28097" bIns="2697" rtlCol="0" anchor="t">
            <a:normAutofit/>
          </a:bodyPr>
          <a:lstStyle/>
          <a:p>
            <a:pPr algn="ctr" indent="0" marL="0">
              <a:lnSpc>
                <a:spcPts val="1680"/>
              </a:lnSpc>
              <a:buNone/>
            </a:pPr>
            <a:r>
              <a:rPr lang="en-US" sz="1400" b="1" dirty="0">
                <a:solidFill>
                  <a:srgbClr val="F6F5F0"/>
                </a:solidFill>
                <a:latin typeface="IBM Plex Sans" pitchFamily="34" charset="0"/>
                <a:ea typeface="IBM Plex Sans" pitchFamily="34" charset="-122"/>
                <a:cs typeface="IBM Plex Sans" pitchFamily="34" charset="-120"/>
              </a:rPr>
              <a:t>ESP32</a:t>
            </a:r>
            <a:endParaRPr lang="en-US" sz="1400" dirty="0"/>
          </a:p>
          <a:p>
            <a:pPr algn="ctr" indent="0" marL="0">
              <a:lnSpc>
                <a:spcPts val="1680"/>
              </a:lnSpc>
              <a:buNone/>
            </a:pPr>
            <a:r>
              <a:rPr lang="en-US" sz="1400" b="1" dirty="0">
                <a:solidFill>
                  <a:srgbClr val="F6F5F0"/>
                </a:solidFill>
                <a:latin typeface="IBM Plex Sans" pitchFamily="34" charset="0"/>
                <a:ea typeface="IBM Plex Sans" pitchFamily="34" charset="-122"/>
                <a:cs typeface="IBM Plex Sans" pitchFamily="34" charset="-120"/>
              </a:rPr>
              <a:t>(chủ)</a:t>
            </a:r>
            <a:endParaRPr lang="en-US" sz="1400" dirty="0"/>
          </a:p>
        </p:txBody>
      </p:sp>
      <p:sp>
        <p:nvSpPr>
          <p:cNvPr id="15" name="Text 12"/>
          <p:cNvSpPr/>
          <p:nvPr/>
        </p:nvSpPr>
        <p:spPr>
          <a:xfrm>
            <a:off x="9966325" y="2165945"/>
            <a:ext cx="1250950" cy="521891"/>
          </a:xfrm>
          <a:prstGeom prst="roundRect">
            <a:avLst>
              <a:gd name="adj" fmla="val 12776"/>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680"/>
              </a:lnSpc>
              <a:buNone/>
            </a:pPr>
            <a:r>
              <a:rPr lang="en-US" sz="1400" b="1" dirty="0">
                <a:solidFill>
                  <a:srgbClr val="13202E"/>
                </a:solidFill>
                <a:latin typeface="IBM Plex Sans" pitchFamily="34" charset="0"/>
                <a:ea typeface="IBM Plex Sans" pitchFamily="34" charset="-122"/>
                <a:cs typeface="IBM Plex Sans" pitchFamily="34" charset="-120"/>
              </a:rPr>
              <a:t>MPU6500</a:t>
            </a:r>
            <a:endParaRPr lang="en-US" sz="1400" dirty="0"/>
          </a:p>
          <a:p>
            <a:pPr algn="ctr" indent="0" marL="0">
              <a:lnSpc>
                <a:spcPts val="1680"/>
              </a:lnSpc>
              <a:buNone/>
            </a:pPr>
            <a:r>
              <a:rPr lang="en-US" sz="1400" b="1" dirty="0">
                <a:solidFill>
                  <a:srgbClr val="13202E"/>
                </a:solidFill>
                <a:latin typeface="IBM Plex Sans" pitchFamily="34" charset="0"/>
                <a:ea typeface="IBM Plex Sans" pitchFamily="34" charset="-122"/>
                <a:cs typeface="IBM Plex Sans" pitchFamily="34" charset="-120"/>
              </a:rPr>
              <a:t>(cảm biến)</a:t>
            </a:r>
            <a:endParaRPr lang="en-US" sz="1400" dirty="0"/>
          </a:p>
        </p:txBody>
      </p:sp>
      <p:sp>
        <p:nvSpPr>
          <p:cNvPr id="16" name="Text 13"/>
          <p:cNvSpPr/>
          <p:nvPr/>
        </p:nvSpPr>
        <p:spPr>
          <a:xfrm>
            <a:off x="7728267" y="2448520"/>
            <a:ext cx="2158365"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SCK · GPIO 18</a:t>
            </a:r>
            <a:endParaRPr lang="en-US" sz="1200" dirty="0"/>
          </a:p>
        </p:txBody>
      </p:sp>
      <p:sp>
        <p:nvSpPr>
          <p:cNvPr id="17" name="Text 14"/>
          <p:cNvSpPr/>
          <p:nvPr/>
        </p:nvSpPr>
        <p:spPr>
          <a:xfrm>
            <a:off x="7728267" y="3020020"/>
            <a:ext cx="2158365"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MOSI · GPIO 23</a:t>
            </a:r>
            <a:endParaRPr lang="en-US" sz="1200" dirty="0"/>
          </a:p>
        </p:txBody>
      </p:sp>
      <p:sp>
        <p:nvSpPr>
          <p:cNvPr id="18" name="Text 15"/>
          <p:cNvSpPr/>
          <p:nvPr/>
        </p:nvSpPr>
        <p:spPr>
          <a:xfrm>
            <a:off x="7728267" y="3591520"/>
            <a:ext cx="2158365"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MISO · GPIO 19</a:t>
            </a:r>
            <a:endParaRPr lang="en-US" sz="1200" dirty="0"/>
          </a:p>
        </p:txBody>
      </p:sp>
      <p:sp>
        <p:nvSpPr>
          <p:cNvPr id="19" name="Text 16"/>
          <p:cNvSpPr/>
          <p:nvPr/>
        </p:nvSpPr>
        <p:spPr>
          <a:xfrm>
            <a:off x="7728267" y="4163020"/>
            <a:ext cx="2158365"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CS · GPIO 5</a:t>
            </a:r>
            <a:endParaRPr lang="en-US" sz="12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26 · Nguồn: #define PIN_SCK / PIN_MISO / PIN_MOSI / PIN_MPU_CS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SBUS: máy thu RC tùy chọn</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Một máy thu vô tuyến mô hình có thể cắm vào GPIO 4 để bay bằng tay điều khiển thật.</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Một dây tín hiệu</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16 kênh gói trong một khung 25 byte.</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Chuẩn nối tiếp lạ</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100000 baud, 8 bit dữ liệu, parity chẵn, 2 bit stop, đảo mức.</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Lưới an toàn</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SBUS luôn bay ở chế độ rate thủ công. Phần 8 giải mã nó.</a:t>
            </a:r>
            <a:endParaRPr lang="en-US" sz="1400" dirty="0"/>
          </a:p>
        </p:txBody>
      </p:sp>
      <p:sp>
        <p:nvSpPr>
          <p:cNvPr id="14" name="Shape 12"/>
          <p:cNvSpPr/>
          <p:nvPr/>
        </p:nvSpPr>
        <p:spPr>
          <a:xfrm>
            <a:off x="812800" y="3916511"/>
            <a:ext cx="10566400" cy="1018480"/>
          </a:xfrm>
          <a:prstGeom prst="roundRect">
            <a:avLst>
              <a:gd name="adj" fmla="val 9976"/>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Serial2.begin(100000, SERIAL_8E2, PIN_SBUS_RX, -1, true); — chữ true cuối cùng bật chế độ đảo.</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27 · Nguồn: sbusInit()</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MOSFET AO3416: công tắc động cơ</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Một chân GPIO không thể cấp điện cho động cơ. MOSFET là công tắc điện tử làm được việc đó.</a:t>
            </a:r>
            <a:endParaRPr lang="en-US" sz="1700" dirty="0"/>
          </a:p>
        </p:txBody>
      </p:sp>
      <p:sp>
        <p:nvSpPr>
          <p:cNvPr id="5" name="Shape 3"/>
          <p:cNvSpPr/>
          <p:nvPr/>
        </p:nvSpPr>
        <p:spPr>
          <a:xfrm>
            <a:off x="819150" y="2337991"/>
            <a:ext cx="3390900" cy="1567061"/>
          </a:xfrm>
          <a:prstGeom prst="roundRect">
            <a:avLst>
              <a:gd name="adj" fmla="val 6078"/>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Tín hiệu nhỏ vào</a:t>
            </a:r>
            <a:endParaRPr lang="en-US" sz="1800" dirty="0"/>
          </a:p>
        </p:txBody>
      </p:sp>
      <p:sp>
        <p:nvSpPr>
          <p:cNvPr id="7" name="Text 5"/>
          <p:cNvSpPr/>
          <p:nvPr/>
        </p:nvSpPr>
        <p:spPr>
          <a:xfrm>
            <a:off x="1079500" y="292343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Chân ESP32 điều khiển cực gate bằng 3,3 V và gần như không tốn dòng.</a:t>
            </a:r>
            <a:endParaRPr lang="en-US" sz="1400" dirty="0"/>
          </a:p>
        </p:txBody>
      </p:sp>
      <p:sp>
        <p:nvSpPr>
          <p:cNvPr id="8" name="Shape 6"/>
          <p:cNvSpPr/>
          <p:nvPr/>
        </p:nvSpPr>
        <p:spPr>
          <a:xfrm>
            <a:off x="4400550" y="2337991"/>
            <a:ext cx="3390900" cy="1567061"/>
          </a:xfrm>
          <a:prstGeom prst="roundRect">
            <a:avLst>
              <a:gd name="adj" fmla="val 6078"/>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Dòng lớn đi qua</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MOSFET cho dòng từ pin chạy qua động cơ.</a:t>
            </a:r>
            <a:endParaRPr lang="en-US" sz="1400" dirty="0"/>
          </a:p>
        </p:txBody>
      </p:sp>
      <p:sp>
        <p:nvSpPr>
          <p:cNvPr id="11" name="Shape 9"/>
          <p:cNvSpPr/>
          <p:nvPr/>
        </p:nvSpPr>
        <p:spPr>
          <a:xfrm>
            <a:off x="7981950" y="2337991"/>
            <a:ext cx="3390900" cy="1567061"/>
          </a:xfrm>
          <a:prstGeom prst="roundRect">
            <a:avLst>
              <a:gd name="adj" fmla="val 6078"/>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Nhanh</a:t>
            </a:r>
            <a:endParaRPr lang="en-US" sz="1800" dirty="0"/>
          </a:p>
        </p:txBody>
      </p:sp>
      <p:sp>
        <p:nvSpPr>
          <p:cNvPr id="13" name="Text 11"/>
          <p:cNvSpPr/>
          <p:nvPr/>
        </p:nvSpPr>
        <p:spPr>
          <a:xfrm>
            <a:off x="82423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Có thể bật tắt 20.000 lần mỗi giây.</a:t>
            </a:r>
            <a:endParaRPr lang="en-US" sz="1400" dirty="0"/>
          </a:p>
        </p:txBody>
      </p:sp>
      <p:sp>
        <p:nvSpPr>
          <p:cNvPr id="14" name="Shape 12"/>
          <p:cNvSpPr/>
          <p:nvPr/>
        </p:nvSpPr>
        <p:spPr>
          <a:xfrm>
            <a:off x="812800" y="4165402"/>
            <a:ext cx="10566400" cy="1018480"/>
          </a:xfrm>
          <a:prstGeom prst="roundRect">
            <a:avLst>
              <a:gd name="adj" fmla="val 9976"/>
            </a:avLst>
          </a:prstGeom>
          <a:solidFill>
            <a:srgbClr val="13202E"/>
          </a:solidFill>
          <a:ln/>
        </p:spPr>
      </p:sp>
      <p:sp>
        <p:nvSpPr>
          <p:cNvPr id="15" name="Text 13"/>
          <p:cNvSpPr/>
          <p:nvPr/>
        </p:nvSpPr>
        <p:spPr>
          <a:xfrm>
            <a:off x="1117600" y="439400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67082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Như một công tắc đèn bạn bật bằng một ngón tay mà điều khiển được cả chiếc đèn lớn.</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28 · Nguồn: datasheet Alpha &amp; Omega AO3416; chú thích PIN_MOTOR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Động cơ chổi than không lõi 8520</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Tên chính là kích thước: rộng 8,5 mm, dài 20 mm.</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Chổi than</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Quay nhanh hơn khi điện áp trung bình cao hơn. Không cần ESC.</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lõi</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Rotor nhẹ nên đổi tốc độ nhanh — tốt cho điều khiển.</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Lái bằng độ rộng xung</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Firmware đặt tỷ lệ thời gian MOSFET mở trong mỗi chu kỳ.</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29 · Nguồn: chú thích phần Motor PWM</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PWM: bật tắt nhanh tạo ra giá trị trung bình</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Bật-tắt, rất nhanh. Động cơ cảm nhận giá trị trung bình.</a:t>
            </a:r>
            <a:endParaRPr lang="en-US" sz="1600" dirty="0"/>
          </a:p>
        </p:txBody>
      </p:sp>
      <p:sp>
        <p:nvSpPr>
          <p:cNvPr id="5" name="Text 3"/>
          <p:cNvSpPr/>
          <p:nvPr/>
        </p:nvSpPr>
        <p:spPr>
          <a:xfrm>
            <a:off x="812800" y="24637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Duty</a:t>
            </a:r>
            <a:r>
              <a:rPr lang="en-US" sz="1400" dirty="0">
                <a:solidFill>
                  <a:srgbClr val="13202E"/>
                </a:solidFill>
                <a:latin typeface="IBM Plex Sans" pitchFamily="34" charset="0"/>
                <a:ea typeface="IBM Plex Sans" pitchFamily="34" charset="-122"/>
                <a:cs typeface="IBM Plex Sans" pitchFamily="34" charset="-120"/>
              </a:rPr>
              <a:t>: tỷ lệ thời gian công tắc BẬT trong mỗi chu kỳ.</a:t>
            </a:r>
            <a:endParaRPr lang="en-US" sz="1400" dirty="0"/>
          </a:p>
        </p:txBody>
      </p:sp>
      <p:sp>
        <p:nvSpPr>
          <p:cNvPr id="6" name="Text 4"/>
          <p:cNvSpPr/>
          <p:nvPr/>
        </p:nvSpPr>
        <p:spPr>
          <a:xfrm>
            <a:off x="812800" y="2852291"/>
            <a:ext cx="5359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20 kHz</a:t>
            </a:r>
            <a:r>
              <a:rPr lang="en-US" sz="1400" dirty="0">
                <a:solidFill>
                  <a:srgbClr val="13202E"/>
                </a:solidFill>
                <a:latin typeface="IBM Plex Sans" pitchFamily="34" charset="0"/>
                <a:ea typeface="IBM Plex Sans" pitchFamily="34" charset="-122"/>
                <a:cs typeface="IBM Plex Sans" pitchFamily="34" charset="-120"/>
              </a:rPr>
              <a:t>: một chu kỳ mỗi 50 µs — quá nhanh để động cơ nhận ra.</a:t>
            </a:r>
            <a:endParaRPr lang="en-US" sz="1400" dirty="0"/>
          </a:p>
        </p:txBody>
      </p:sp>
      <p:sp>
        <p:nvSpPr>
          <p:cNvPr id="7" name="Text 5"/>
          <p:cNvSpPr/>
          <p:nvPr/>
        </p:nvSpPr>
        <p:spPr>
          <a:xfrm>
            <a:off x="812800" y="32408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10 bit</a:t>
            </a:r>
            <a:r>
              <a:rPr lang="en-US" sz="1400" dirty="0">
                <a:solidFill>
                  <a:srgbClr val="13202E"/>
                </a:solidFill>
                <a:latin typeface="IBM Plex Sans" pitchFamily="34" charset="0"/>
                <a:ea typeface="IBM Plex Sans" pitchFamily="34" charset="-122"/>
                <a:cs typeface="IBM Plex Sans" pitchFamily="34" charset="-120"/>
              </a:rPr>
              <a:t>: duty là số từ 0 đến 1023.</a:t>
            </a:r>
            <a:endParaRPr lang="en-US" sz="1400" dirty="0"/>
          </a:p>
        </p:txBody>
      </p:sp>
      <p:sp>
        <p:nvSpPr>
          <p:cNvPr id="8" name="Shape 6"/>
          <p:cNvSpPr/>
          <p:nvPr/>
        </p:nvSpPr>
        <p:spPr>
          <a:xfrm>
            <a:off x="812800" y="3629471"/>
            <a:ext cx="5054600" cy="1031180"/>
          </a:xfrm>
          <a:prstGeom prst="roundRect">
            <a:avLst>
              <a:gd name="adj" fmla="val 9853"/>
            </a:avLst>
          </a:prstGeom>
          <a:solidFill>
            <a:srgbClr val="13202E"/>
          </a:solidFill>
          <a:ln/>
        </p:spPr>
      </p:sp>
      <p:sp>
        <p:nvSpPr>
          <p:cNvPr id="9" name="Text 7"/>
          <p:cNvSpPr/>
          <p:nvPr/>
        </p:nvSpPr>
        <p:spPr>
          <a:xfrm>
            <a:off x="1016000" y="37818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459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Pin 4,0 V, duty 256 trên 1023 (25%) → động cơ cảm nhận khoảng 1,0 V.</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a sóng vuông với duty 25, 50 và 75 phần trăm; đường nét đứt cho thấy mức trung bình tăng dần">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235700" y="2283420"/>
            <a:ext cx="749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25%</a:t>
            </a:r>
            <a:endParaRPr lang="en-US" sz="1500" dirty="0"/>
          </a:p>
        </p:txBody>
      </p:sp>
      <p:sp>
        <p:nvSpPr>
          <p:cNvPr id="14" name="Text 11"/>
          <p:cNvSpPr/>
          <p:nvPr/>
        </p:nvSpPr>
        <p:spPr>
          <a:xfrm>
            <a:off x="6235700" y="3394670"/>
            <a:ext cx="749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50%</a:t>
            </a:r>
            <a:endParaRPr lang="en-US" sz="1500" dirty="0"/>
          </a:p>
        </p:txBody>
      </p:sp>
      <p:sp>
        <p:nvSpPr>
          <p:cNvPr id="15" name="Text 12"/>
          <p:cNvSpPr/>
          <p:nvPr/>
        </p:nvSpPr>
        <p:spPr>
          <a:xfrm>
            <a:off x="6235700" y="4505920"/>
            <a:ext cx="74930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3202E"/>
                </a:solidFill>
                <a:latin typeface="IBM Plex Sans" pitchFamily="34" charset="0"/>
                <a:ea typeface="IBM Plex Sans" pitchFamily="34" charset="-122"/>
                <a:cs typeface="IBM Plex Sans" pitchFamily="34" charset="-120"/>
              </a:rPr>
              <a:t>75%</a:t>
            </a:r>
            <a:endParaRPr lang="en-US" sz="1500" dirty="0"/>
          </a:p>
        </p:txBody>
      </p:sp>
      <p:sp>
        <p:nvSpPr>
          <p:cNvPr id="16" name="Text 13"/>
          <p:cNvSpPr/>
          <p:nvPr/>
        </p:nvSpPr>
        <p:spPr>
          <a:xfrm>
            <a:off x="9677400" y="4988520"/>
            <a:ext cx="15748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 - - trung bình</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30 · Nguồn: #define MOTOR_PWM_FREQ_HZ / MOTOR_PWM_BITS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Pin: một cell LiPo (1S)</a:t>
            </a:r>
            <a:endParaRPr lang="en-US" sz="3000" dirty="0"/>
          </a:p>
        </p:txBody>
      </p:sp>
      <p:sp>
        <p:nvSpPr>
          <p:cNvPr id="4" name="Text 2"/>
          <p:cNvSpPr/>
          <p:nvPr/>
        </p:nvSpPr>
        <p:spPr>
          <a:xfrm>
            <a:off x="812800" y="1775420"/>
            <a:ext cx="53594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Một cell LiPo (1S): điện áp chính là đồng hồ nhiên liệu.</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Cell đầy là </a:t>
            </a:r>
            <a:r>
              <a:rPr lang="en-US" sz="1400" b="1" dirty="0">
                <a:solidFill>
                  <a:srgbClr val="13202E"/>
                </a:solidFill>
                <a:latin typeface="IBM Plex Sans" pitchFamily="34" charset="0"/>
                <a:ea typeface="IBM Plex Sans" pitchFamily="34" charset="-122"/>
                <a:cs typeface="IBM Plex Sans" pitchFamily="34" charset="-120"/>
              </a:rPr>
              <a:t>4,2 V</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Dưới </a:t>
            </a:r>
            <a:r>
              <a:rPr lang="en-US" sz="1400" b="1" dirty="0">
                <a:solidFill>
                  <a:srgbClr val="13202E"/>
                </a:solidFill>
                <a:latin typeface="IBM Plex Sans" pitchFamily="34" charset="0"/>
                <a:ea typeface="IBM Plex Sans" pitchFamily="34" charset="-122"/>
                <a:cs typeface="IBM Plex Sans" pitchFamily="34" charset="-120"/>
              </a:rPr>
              <a:t>3,5 V</a:t>
            </a:r>
            <a:r>
              <a:rPr lang="en-US" sz="1400" dirty="0">
                <a:solidFill>
                  <a:srgbClr val="13202E"/>
                </a:solidFill>
                <a:latin typeface="IBM Plex Sans" pitchFamily="34" charset="0"/>
                <a:ea typeface="IBM Plex Sans" pitchFamily="34" charset="-122"/>
                <a:cs typeface="IBM Plex Sans" pitchFamily="34" charset="-120"/>
              </a:rPr>
              <a:t> firmware cảnh báo (VBAT_CELL_WARN).</a:t>
            </a:r>
            <a:endParaRPr lang="en-US" sz="1400" dirty="0"/>
          </a:p>
        </p:txBody>
      </p:sp>
      <p:sp>
        <p:nvSpPr>
          <p:cNvPr id="7" name="Text 5"/>
          <p:cNvSpPr/>
          <p:nvPr/>
        </p:nvSpPr>
        <p:spPr>
          <a:xfrm>
            <a:off x="812800" y="29665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Dưới </a:t>
            </a:r>
            <a:r>
              <a:rPr lang="en-US" sz="1400" b="1" dirty="0">
                <a:solidFill>
                  <a:srgbClr val="13202E"/>
                </a:solidFill>
                <a:latin typeface="IBM Plex Sans" pitchFamily="34" charset="0"/>
                <a:ea typeface="IBM Plex Sans" pitchFamily="34" charset="-122"/>
                <a:cs typeface="IBM Plex Sans" pitchFamily="34" charset="-120"/>
              </a:rPr>
              <a:t>3,3 V</a:t>
            </a:r>
            <a:r>
              <a:rPr lang="en-US" sz="1400" dirty="0">
                <a:solidFill>
                  <a:srgbClr val="13202E"/>
                </a:solidFill>
                <a:latin typeface="IBM Plex Sans" pitchFamily="34" charset="0"/>
                <a:ea typeface="IBM Plex Sans" pitchFamily="34" charset="-122"/>
                <a:cs typeface="IBM Plex Sans" pitchFamily="34" charset="-120"/>
              </a:rPr>
              <a:t> không cho arm, và tự hạ cánh nếu ở mức đó 3 s (VBAT_CELL_CRIT).</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Lực đẩy cũng giảm theo điện áp — vì vậy độ cao lơ lửng tụt dần trong chuyến bay.</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Thước đo pin từ 3,0 đến 4,2 vôn, cảnh báo ở 3,5 và nguy hiểm ở 3,3">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702800" y="2118320"/>
            <a:ext cx="1638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4,2 V đầy</a:t>
            </a:r>
            <a:endParaRPr lang="en-US" sz="1300" dirty="0"/>
          </a:p>
        </p:txBody>
      </p:sp>
      <p:sp>
        <p:nvSpPr>
          <p:cNvPr id="14" name="Text 11"/>
          <p:cNvSpPr/>
          <p:nvPr/>
        </p:nvSpPr>
        <p:spPr>
          <a:xfrm>
            <a:off x="9702800" y="3305770"/>
            <a:ext cx="1638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3,7 V danh định</a:t>
            </a:r>
            <a:endParaRPr lang="en-US" sz="1300" dirty="0"/>
          </a:p>
        </p:txBody>
      </p:sp>
      <p:sp>
        <p:nvSpPr>
          <p:cNvPr id="15" name="Text 12"/>
          <p:cNvSpPr/>
          <p:nvPr/>
        </p:nvSpPr>
        <p:spPr>
          <a:xfrm>
            <a:off x="9702800" y="3782020"/>
            <a:ext cx="1638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3,5 V cảnh báo</a:t>
            </a:r>
            <a:endParaRPr lang="en-US" sz="1300" dirty="0"/>
          </a:p>
        </p:txBody>
      </p:sp>
      <p:sp>
        <p:nvSpPr>
          <p:cNvPr id="16" name="Text 13"/>
          <p:cNvSpPr/>
          <p:nvPr/>
        </p:nvSpPr>
        <p:spPr>
          <a:xfrm>
            <a:off x="9702800" y="4264620"/>
            <a:ext cx="16383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3,3 V nguy hiểm</a:t>
            </a:r>
            <a:endParaRPr lang="en-US" sz="1300" dirty="0"/>
          </a:p>
        </p:txBody>
      </p:sp>
      <p:sp>
        <p:nvSpPr>
          <p:cNvPr id="17" name="Text 14"/>
          <p:cNvSpPr/>
          <p:nvPr/>
        </p:nvSpPr>
        <p:spPr>
          <a:xfrm>
            <a:off x="6375400" y="2950170"/>
            <a:ext cx="17018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bay</a:t>
            </a:r>
            <a:endParaRPr lang="en-US" sz="1300" dirty="0"/>
          </a:p>
        </p:txBody>
      </p:sp>
      <p:sp>
        <p:nvSpPr>
          <p:cNvPr id="18" name="Text 15"/>
          <p:cNvSpPr/>
          <p:nvPr/>
        </p:nvSpPr>
        <p:spPr>
          <a:xfrm>
            <a:off x="6375400" y="4023320"/>
            <a:ext cx="1701800" cy="231775"/>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cảnh báo</a:t>
            </a:r>
            <a:endParaRPr lang="en-US" sz="1300" dirty="0"/>
          </a:p>
        </p:txBody>
      </p:sp>
      <p:sp>
        <p:nvSpPr>
          <p:cNvPr id="19" name="Text 16"/>
          <p:cNvSpPr/>
          <p:nvPr/>
        </p:nvSpPr>
        <p:spPr>
          <a:xfrm>
            <a:off x="6375400" y="4531320"/>
            <a:ext cx="1701800" cy="4064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cấm arm · tự hạ</a:t>
            </a:r>
            <a:endParaRPr lang="en-US" sz="1200" dirty="0"/>
          </a:p>
          <a:p>
            <a:pPr algn="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cánh sau 3 s</a:t>
            </a:r>
            <a:endParaRPr lang="en-US" sz="12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31 · Nguồn: các #define pin trong Esp32_drone.ino</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Đo pin: cầu chia điện áp</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Hai điện trở hạ điện áp pin xuống mức an toàn.</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Chân ADC đọc tới khoảng 3,3 V, nhưng cell đầy là 4,2 V.</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Điện áp chân = pin × 33 ÷ 43. Firmware nhân ngược lại </a:t>
            </a:r>
            <a:r>
              <a:rPr lang="en-US" sz="1400" b="1" dirty="0">
                <a:solidFill>
                  <a:srgbClr val="13202E"/>
                </a:solidFill>
                <a:latin typeface="IBM Plex Sans" pitchFamily="34" charset="0"/>
                <a:ea typeface="IBM Plex Sans" pitchFamily="34" charset="-122"/>
                <a:cs typeface="IBM Plex Sans" pitchFamily="34" charset="-120"/>
              </a:rPr>
              <a:t>43 ÷ 33</a:t>
            </a:r>
            <a:r>
              <a:rPr lang="en-US" sz="1400" dirty="0">
                <a:solidFill>
                  <a:srgbClr val="13202E"/>
                </a:solidFill>
                <a:latin typeface="IBM Plex Sans" pitchFamily="34" charset="0"/>
                <a:ea typeface="IBM Plex Sans" pitchFamily="34" charset="-122"/>
                <a:cs typeface="IBM Plex Sans" pitchFamily="34" charset="-120"/>
              </a:rPr>
              <a:t> (VBAT_DIVIDER).</a:t>
            </a:r>
            <a:endParaRPr lang="en-US" sz="1400" dirty="0"/>
          </a:p>
        </p:txBody>
      </p:sp>
      <p:sp>
        <p:nvSpPr>
          <p:cNvPr id="7" name="Text 5"/>
          <p:cNvSpPr/>
          <p:nvPr/>
        </p:nvSpPr>
        <p:spPr>
          <a:xfrm>
            <a:off x="812800" y="32154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Đổi điện trở → phải đổi cả VBAT_DIVIDER.</a:t>
            </a:r>
            <a:endParaRPr lang="en-US" sz="1400" dirty="0"/>
          </a:p>
        </p:txBody>
      </p:sp>
      <p:sp>
        <p:nvSpPr>
          <p:cNvPr id="8" name="Shape 6"/>
          <p:cNvSpPr/>
          <p:nvPr/>
        </p:nvSpPr>
        <p:spPr>
          <a:xfrm>
            <a:off x="812800" y="3604071"/>
            <a:ext cx="5054600" cy="800050"/>
          </a:xfrm>
          <a:prstGeom prst="roundRect">
            <a:avLst>
              <a:gd name="adj" fmla="val 12699"/>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Chân đọc 3,00 V → pin = 3,00 × 43 ÷ 33 = 3,91 V.</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Sơ đồ: cực dương pin qua 10 kilô-ôm tới nút giữa, rồi 33 kilô-ôm xuống mass; nút giữa nối GPIO 36">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928225" y="3181945"/>
            <a:ext cx="1250950" cy="460970"/>
          </a:xfrm>
          <a:prstGeom prst="roundRect">
            <a:avLst>
              <a:gd name="adj" fmla="val 14464"/>
            </a:avLst>
          </a:prstGeom>
          <a:solidFill>
            <a:srgbClr val="13202E"/>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F6F5F0"/>
                </a:solidFill>
                <a:latin typeface="IBM Plex Sans" pitchFamily="34" charset="0"/>
                <a:ea typeface="IBM Plex Sans" pitchFamily="34" charset="-122"/>
                <a:cs typeface="IBM Plex Sans" pitchFamily="34" charset="-120"/>
              </a:rPr>
              <a:t>GPIO 36</a:t>
            </a:r>
            <a:endParaRPr lang="en-US" sz="1200" dirty="0"/>
          </a:p>
          <a:p>
            <a:pPr algn="ctr" indent="0" marL="0">
              <a:lnSpc>
                <a:spcPts val="1440"/>
              </a:lnSpc>
              <a:buNone/>
            </a:pPr>
            <a:r>
              <a:rPr lang="en-US" sz="1200" b="1" dirty="0">
                <a:solidFill>
                  <a:srgbClr val="F6F5F0"/>
                </a:solidFill>
                <a:latin typeface="IBM Plex Sans" pitchFamily="34" charset="0"/>
                <a:ea typeface="IBM Plex Sans" pitchFamily="34" charset="-122"/>
                <a:cs typeface="IBM Plex Sans" pitchFamily="34" charset="-120"/>
              </a:rPr>
              <a:t>ADC</a:t>
            </a:r>
            <a:endParaRPr lang="en-US" sz="1200" dirty="0"/>
          </a:p>
        </p:txBody>
      </p:sp>
      <p:sp>
        <p:nvSpPr>
          <p:cNvPr id="14" name="Text 11"/>
          <p:cNvSpPr/>
          <p:nvPr/>
        </p:nvSpPr>
        <p:spPr>
          <a:xfrm>
            <a:off x="8267700" y="1965920"/>
            <a:ext cx="209296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Pin + (tới 4,2 V)</a:t>
            </a:r>
            <a:endParaRPr lang="en-US" sz="1200" dirty="0"/>
          </a:p>
        </p:txBody>
      </p:sp>
      <p:sp>
        <p:nvSpPr>
          <p:cNvPr id="15" name="Text 12"/>
          <p:cNvSpPr/>
          <p:nvPr/>
        </p:nvSpPr>
        <p:spPr>
          <a:xfrm>
            <a:off x="8356600" y="2664420"/>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10 kΩ</a:t>
            </a:r>
            <a:endParaRPr lang="en-US" sz="1300" dirty="0"/>
          </a:p>
        </p:txBody>
      </p:sp>
      <p:sp>
        <p:nvSpPr>
          <p:cNvPr id="16" name="Text 13"/>
          <p:cNvSpPr/>
          <p:nvPr/>
        </p:nvSpPr>
        <p:spPr>
          <a:xfrm>
            <a:off x="8356600" y="3870920"/>
            <a:ext cx="939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33 kΩ</a:t>
            </a:r>
            <a:endParaRPr lang="en-US" sz="1300" dirty="0"/>
          </a:p>
        </p:txBody>
      </p:sp>
      <p:sp>
        <p:nvSpPr>
          <p:cNvPr id="17" name="Text 14"/>
          <p:cNvSpPr/>
          <p:nvPr/>
        </p:nvSpPr>
        <p:spPr>
          <a:xfrm>
            <a:off x="8267700" y="3121620"/>
            <a:ext cx="1689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4,2 × 33/43 = </a:t>
            </a:r>
            <a:r>
              <a:rPr lang="en-US" sz="1200" b="1" dirty="0">
                <a:solidFill>
                  <a:srgbClr val="13202E"/>
                </a:solidFill>
                <a:latin typeface="IBM Plex Sans" pitchFamily="34" charset="0"/>
                <a:ea typeface="IBM Plex Sans" pitchFamily="34" charset="-122"/>
                <a:cs typeface="IBM Plex Sans" pitchFamily="34" charset="-120"/>
              </a:rPr>
              <a:t>3,22 V</a:t>
            </a:r>
            <a:endParaRPr lang="en-US" sz="1200" dirty="0"/>
          </a:p>
        </p:txBody>
      </p:sp>
      <p:sp>
        <p:nvSpPr>
          <p:cNvPr id="18" name="Text 15"/>
          <p:cNvSpPr/>
          <p:nvPr/>
        </p:nvSpPr>
        <p:spPr>
          <a:xfrm>
            <a:off x="8331200" y="4759920"/>
            <a:ext cx="812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GND</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32 · Nguồn: #define VBAT_DIVIDER</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Đọc và làm mượt điện áp pin</a:t>
            </a:r>
            <a:endParaRPr lang="en-US" sz="3000" dirty="0"/>
          </a:p>
        </p:txBody>
      </p:sp>
      <p:sp>
        <p:nvSpPr>
          <p:cNvPr id="4" name="Text 2"/>
          <p:cNvSpPr/>
          <p:nvPr/>
        </p:nvSpPr>
        <p:spPr>
          <a:xfrm>
            <a:off x="812800" y="1775420"/>
            <a:ext cx="6187430" cy="1835150"/>
          </a:xfrm>
          <a:prstGeom prst="roundRect">
            <a:avLst>
              <a:gd name="adj" fmla="val 5536"/>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uint32_t</a:t>
            </a:r>
            <a:r>
              <a:rPr lang="en-US" sz="1500" dirty="0">
                <a:solidFill>
                  <a:srgbClr val="E6EBF0"/>
                </a:solidFill>
                <a:latin typeface="JetBrains Mono" pitchFamily="49" charset="0"/>
                <a:ea typeface="JetBrains Mono" pitchFamily="49" charset="-122"/>
                <a:cs typeface="JetBrains Mono" pitchFamily="49" charset="-120"/>
              </a:rPr>
              <a:t> mv = analogReadMilliVolts(PIN_VBAT);</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sample = (mv / 1000.0f) * VBAT_DIVIDER;</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(vbat &lt;= 0.0f) vbat = sample;        </a:t>
            </a:r>
            <a:r>
              <a:rPr lang="en-US" sz="1500" dirty="0">
                <a:solidFill>
                  <a:srgbClr val="8FA3B8"/>
                </a:solidFill>
                <a:latin typeface="JetBrains Mono" pitchFamily="49" charset="0"/>
                <a:ea typeface="JetBrains Mono" pitchFamily="49" charset="-122"/>
                <a:cs typeface="JetBrains Mono" pitchFamily="49" charset="-120"/>
              </a:rPr>
              <a:t>// first read</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else</a:t>
            </a:r>
            <a:r>
              <a:rPr lang="en-US" sz="1500" dirty="0">
                <a:solidFill>
                  <a:srgbClr val="E6EBF0"/>
                </a:solidFill>
                <a:latin typeface="JetBrains Mono" pitchFamily="49" charset="0"/>
                <a:ea typeface="JetBrains Mono" pitchFamily="49" charset="-122"/>
                <a:cs typeface="JetBrains Mono" pitchFamily="49" charset="-120"/>
              </a:rPr>
              <a:t> vbat += VBAT_FILTER_ALPHA * (sample - vbat);</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analogReadMilliVolts</a:t>
            </a:r>
            <a:r>
              <a:rPr lang="en-US" sz="1450" dirty="0">
                <a:solidFill>
                  <a:srgbClr val="13202E"/>
                </a:solidFill>
                <a:latin typeface="IBM Plex Sans" pitchFamily="34" charset="0"/>
                <a:ea typeface="IBM Plex Sans" pitchFamily="34" charset="-122"/>
                <a:cs typeface="IBM Plex Sans" pitchFamily="34" charset="-120"/>
              </a:rPr>
              <a:t> dùng hiệu chuẩn có sẵn từ nhà máy.</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Alpha 0,02</a:t>
            </a:r>
            <a:r>
              <a:rPr lang="en-US" sz="1450" dirty="0">
                <a:solidFill>
                  <a:srgbClr val="13202E"/>
                </a:solidFill>
                <a:latin typeface="IBM Plex Sans" pitchFamily="34" charset="0"/>
                <a:ea typeface="IBM Plex Sans" pitchFamily="34" charset="-122"/>
                <a:cs typeface="IBM Plex Sans" pitchFamily="34" charset="-120"/>
              </a:rPr>
              <a:t>: mỗi vòng tiến 2% về giá trị mới — hằng số thời gian khoảng 0,2 s.</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Vì sao làm mượt?</a:t>
            </a:r>
            <a:r>
              <a:rPr lang="en-US" sz="1450" dirty="0">
                <a:solidFill>
                  <a:srgbClr val="13202E"/>
                </a:solidFill>
                <a:latin typeface="IBM Plex Sans" pitchFamily="34" charset="0"/>
                <a:ea typeface="IBM Plex Sans" pitchFamily="34" charset="-122"/>
                <a:cs typeface="IBM Plex Sans" pitchFamily="34" charset="-120"/>
              </a:rPr>
              <a:t> Một lần đọc thì nhiễu và sụt theo mỗi cú tăng ga.</a:t>
            </a:r>
            <a:endParaRPr lang="en-US" sz="1450" dirty="0"/>
          </a:p>
        </p:txBody>
      </p:sp>
      <p:sp>
        <p:nvSpPr>
          <p:cNvPr id="8" name="Shape 6"/>
          <p:cNvSpPr/>
          <p:nvPr/>
        </p:nvSpPr>
        <p:spPr>
          <a:xfrm>
            <a:off x="812800" y="3864570"/>
            <a:ext cx="10566400" cy="1302941"/>
          </a:xfrm>
          <a:prstGeom prst="roundRect">
            <a:avLst>
              <a:gd name="adj" fmla="val 7798"/>
            </a:avLst>
          </a:prstGeom>
          <a:solidFill>
            <a:srgbClr val="13202E"/>
          </a:solidFill>
          <a:ln/>
        </p:spPr>
      </p:sp>
      <p:sp>
        <p:nvSpPr>
          <p:cNvPr id="9" name="Text 7"/>
          <p:cNvSpPr/>
          <p:nvPr/>
        </p:nvSpPr>
        <p:spPr>
          <a:xfrm>
            <a:off x="1117600" y="409317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369991"/>
            <a:ext cx="1025550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Cũ 3,90 V, một mẫu nhiễu 3,60 V → mới 3,90 + 0,02 × (−0,30) = 3,894 V. Một lần đọc xấu gần như không ảnh hưởng.</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33 · Nguồn: batteryUpdate()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Sơ đồ chân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76500"/>
        </p:xfrm>
        <a:graphic>
          <a:graphicData uri="http://schemas.openxmlformats.org/drawingml/2006/table">
            <a:tbl>
              <a:tblPr/>
              <a:tblGrid>
                <a:gridCol w="1583055"/>
                <a:gridCol w="3693795"/>
                <a:gridCol w="1583055"/>
                <a:gridCol w="3693795"/>
              </a:tblGrid>
              <a:tr h="412750">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Chân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Dùng cho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Chân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Dùng cho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Động cơ RF (trước-phải)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SPI SCK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Động cơ RR (sau-phải)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19</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SPI MISO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Động cơ LR (sau-trái)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23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SPI MOSI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14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Động cơ LF (trước-trái)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Chọn chip MPU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SBUS vào (UART2 RX)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GPIO 36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ADC đo pin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34 · Nguồn: #define PIN_*</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Bố trí động cơ, nhìn từ trên xuống</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Nhìn từ trên xuống, mũi hướng lên.</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Khung X</a:t>
            </a:r>
            <a:r>
              <a:rPr lang="en-US" sz="1400" dirty="0">
                <a:solidFill>
                  <a:srgbClr val="13202E"/>
                </a:solidFill>
                <a:latin typeface="IBM Plex Sans" pitchFamily="34" charset="0"/>
                <a:ea typeface="IBM Plex Sans" pitchFamily="34" charset="-122"/>
                <a:cs typeface="IBM Plex Sans" pitchFamily="34" charset="-120"/>
              </a:rPr>
              <a:t>: mũi hướng vào giữa hai động cơ trước.</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Đường chéo khớp nhau: RF và LR thuận chiều; LF và RR ngược chiều.</a:t>
            </a:r>
            <a:endParaRPr lang="en-US" sz="1400" dirty="0"/>
          </a:p>
        </p:txBody>
      </p:sp>
      <p:sp>
        <p:nvSpPr>
          <p:cNvPr id="7" name="Text 5"/>
          <p:cNvSpPr/>
          <p:nvPr/>
        </p:nvSpPr>
        <p:spPr>
          <a:xfrm>
            <a:off x="812800" y="32154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Tên tính theo góc nhìn của drone, nhìn về phía trước.</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Tháo cánh, arm, nghiêng nhẹ bằng tay: động cơ phía thấp phải tăng tốc.</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ố trí động cơ nhìn từ trên: LF GPIO 14 CCW, RF GPIO 15 CW, LR GPIO 12 CW, RR GPIO 13 CCW">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226300" y="2251670"/>
            <a:ext cx="1066800"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LF</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GPIO 14</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CCW</a:t>
            </a:r>
            <a:endParaRPr lang="en-US" sz="1200" dirty="0"/>
          </a:p>
        </p:txBody>
      </p:sp>
      <p:sp>
        <p:nvSpPr>
          <p:cNvPr id="14" name="Text 11"/>
          <p:cNvSpPr/>
          <p:nvPr/>
        </p:nvSpPr>
        <p:spPr>
          <a:xfrm>
            <a:off x="9258300" y="2251670"/>
            <a:ext cx="1066800"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RF</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GPIO 15</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CW</a:t>
            </a:r>
            <a:endParaRPr lang="en-US" sz="1200" dirty="0"/>
          </a:p>
        </p:txBody>
      </p:sp>
      <p:sp>
        <p:nvSpPr>
          <p:cNvPr id="15" name="Text 12"/>
          <p:cNvSpPr/>
          <p:nvPr/>
        </p:nvSpPr>
        <p:spPr>
          <a:xfrm>
            <a:off x="7226300" y="4283670"/>
            <a:ext cx="1066800"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LR</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GPIO 12</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CW</a:t>
            </a:r>
            <a:endParaRPr lang="en-US" sz="1200" dirty="0"/>
          </a:p>
        </p:txBody>
      </p:sp>
      <p:sp>
        <p:nvSpPr>
          <p:cNvPr id="16" name="Text 13"/>
          <p:cNvSpPr/>
          <p:nvPr/>
        </p:nvSpPr>
        <p:spPr>
          <a:xfrm>
            <a:off x="9258300" y="4283670"/>
            <a:ext cx="1066800"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RR</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GPIO 13</a:t>
            </a:r>
            <a:endParaRPr lang="en-US" sz="1200" dirty="0"/>
          </a:p>
          <a:p>
            <a:pPr algn="ctr"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CCW</a:t>
            </a:r>
            <a:endParaRPr lang="en-US" sz="1200" dirty="0"/>
          </a:p>
        </p:txBody>
      </p:sp>
      <p:sp>
        <p:nvSpPr>
          <p:cNvPr id="17" name="Text 14"/>
          <p:cNvSpPr/>
          <p:nvPr/>
        </p:nvSpPr>
        <p:spPr>
          <a:xfrm>
            <a:off x="8337550" y="1775420"/>
            <a:ext cx="8763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TRƯỚC</a:t>
            </a:r>
            <a:endParaRPr lang="en-US" sz="12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35 · Nguồn: chú thích motor mixing, #define YAW_DIRECTION</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Nếu cánh quạt lắp ngược: YAW_DIRECTION</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Một số bản lắp đặt cánh CW ở RR và LF. Khi đó mọi lệnh sửa yaw đều đẩy sai hướng.</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Triệu chứng</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Drone xoay ngày càng nhanh ngay khi rời mặt đất.</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Cách sửa</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Đổi #define YAW_DIRECTION từ 1 thành −1.</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Vì sao được</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Bộ trộn nhân đầu ra yaw với YAW_DIRECTION, đảo dấu cả bốn.</a:t>
            </a:r>
            <a:endParaRPr lang="en-US" sz="14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36 · Nguồn: #define YAW_DIRECTION, motorMix()</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Đường đi của nguồn điện</a:t>
            </a:r>
            <a:endParaRPr lang="en-US" sz="3000" dirty="0"/>
          </a:p>
        </p:txBody>
      </p:sp>
      <p:sp>
        <p:nvSpPr>
          <p:cNvPr id="4" name="Text 2"/>
          <p:cNvSpPr/>
          <p:nvPr/>
        </p:nvSpPr>
        <p:spPr>
          <a:xfrm>
            <a:off x="812800" y="1775420"/>
            <a:ext cx="5359400"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Một viên pin cấp ba nhánh. Độ dày đường = dòng điện.</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Động cơ</a:t>
            </a:r>
            <a:r>
              <a:rPr lang="en-US" sz="1400" dirty="0">
                <a:solidFill>
                  <a:srgbClr val="13202E"/>
                </a:solidFill>
                <a:latin typeface="IBM Plex Sans" pitchFamily="34" charset="0"/>
                <a:ea typeface="IBM Plex Sans" pitchFamily="34" charset="-122"/>
                <a:cs typeface="IBM Plex Sans" pitchFamily="34" charset="-120"/>
              </a:rPr>
              <a:t> lấy phần lớn dòng, thẳng từ pin.</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Mạch logic</a:t>
            </a:r>
            <a:r>
              <a:rPr lang="en-US" sz="1400" dirty="0">
                <a:solidFill>
                  <a:srgbClr val="13202E"/>
                </a:solidFill>
                <a:latin typeface="IBM Plex Sans" pitchFamily="34" charset="0"/>
                <a:ea typeface="IBM Plex Sans" pitchFamily="34" charset="-122"/>
                <a:cs typeface="IBM Plex Sans" pitchFamily="34" charset="-120"/>
              </a:rPr>
              <a:t> cần 3,3 V ổn định, nên đi qua ổn áp.</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Cầu chia</a:t>
            </a:r>
            <a:r>
              <a:rPr lang="en-US" sz="1400" dirty="0">
                <a:solidFill>
                  <a:srgbClr val="13202E"/>
                </a:solidFill>
                <a:latin typeface="IBM Plex Sans" pitchFamily="34" charset="0"/>
                <a:ea typeface="IBM Plex Sans" pitchFamily="34" charset="-122"/>
                <a:cs typeface="IBM Plex Sans" pitchFamily="34" charset="-120"/>
              </a:rPr>
              <a:t> giúp firmware theo dõi điện áp.</a:t>
            </a:r>
            <a:endParaRPr lang="en-US" sz="1400" dirty="0"/>
          </a:p>
        </p:txBody>
      </p:sp>
      <p:sp>
        <p:nvSpPr>
          <p:cNvPr id="8" name="Shape 6"/>
          <p:cNvSpPr/>
          <p:nvPr/>
        </p:nvSpPr>
        <p:spPr>
          <a:xfrm>
            <a:off x="812800" y="3355181"/>
            <a:ext cx="5054600" cy="1031180"/>
          </a:xfrm>
          <a:prstGeom prst="roundRect">
            <a:avLst>
              <a:gd name="adj" fmla="val 9853"/>
            </a:avLst>
          </a:prstGeom>
          <a:solidFill>
            <a:srgbClr val="13202E"/>
          </a:solidFill>
          <a:ln/>
        </p:spPr>
      </p:sp>
      <p:sp>
        <p:nvSpPr>
          <p:cNvPr id="9" name="Text 7"/>
          <p:cNvSpPr/>
          <p:nvPr/>
        </p:nvSpPr>
        <p:spPr>
          <a:xfrm>
            <a:off x="1016000" y="350758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377170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Tăng ga hết cỡ: pin sụt 3,9 → 3,6 V trong chốc lát; ESP32 vẫn thấy 3,3 V ổn định.</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Một viên pin chia ba nhánh: đường dày tới động cơ, đường vừa tới ổn áp 3,3 vôn, đường mảnh tới cầu chia điện áp">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308725" y="3245445"/>
            <a:ext cx="1123950" cy="460970"/>
          </a:xfrm>
          <a:prstGeom prst="roundRect">
            <a:avLst>
              <a:gd name="adj" fmla="val 1446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LiPo 1S</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3,0–4,2 V</a:t>
            </a:r>
            <a:endParaRPr lang="en-US" sz="1200" dirty="0"/>
          </a:p>
        </p:txBody>
      </p:sp>
      <p:sp>
        <p:nvSpPr>
          <p:cNvPr id="14" name="Text 11"/>
          <p:cNvSpPr/>
          <p:nvPr/>
        </p:nvSpPr>
        <p:spPr>
          <a:xfrm>
            <a:off x="9737725" y="2038945"/>
            <a:ext cx="1504950" cy="278110"/>
          </a:xfrm>
          <a:prstGeom prst="roundRect">
            <a:avLst>
              <a:gd name="adj" fmla="val 2397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AO3416 → động cơ</a:t>
            </a:r>
            <a:endParaRPr lang="en-US" sz="1200" dirty="0"/>
          </a:p>
        </p:txBody>
      </p:sp>
      <p:sp>
        <p:nvSpPr>
          <p:cNvPr id="15" name="Text 12"/>
          <p:cNvSpPr/>
          <p:nvPr/>
        </p:nvSpPr>
        <p:spPr>
          <a:xfrm>
            <a:off x="9737725" y="3245445"/>
            <a:ext cx="1504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Ổn áp 3,3 V → ESP32 + MPU</a:t>
            </a:r>
            <a:endParaRPr lang="en-US" sz="1200" dirty="0"/>
          </a:p>
        </p:txBody>
      </p:sp>
      <p:sp>
        <p:nvSpPr>
          <p:cNvPr id="16" name="Text 13"/>
          <p:cNvSpPr/>
          <p:nvPr/>
        </p:nvSpPr>
        <p:spPr>
          <a:xfrm>
            <a:off x="9737725" y="4515445"/>
            <a:ext cx="1504950" cy="460970"/>
          </a:xfrm>
          <a:prstGeom prst="roundRect">
            <a:avLst>
              <a:gd name="adj" fmla="val 14464"/>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Cầu chia → GPIO 36</a:t>
            </a:r>
            <a:endParaRPr lang="en-US" sz="1200" dirty="0"/>
          </a:p>
        </p:txBody>
      </p:sp>
      <p:sp>
        <p:nvSpPr>
          <p:cNvPr id="17" name="Text 14"/>
          <p:cNvSpPr/>
          <p:nvPr/>
        </p:nvSpPr>
        <p:spPr>
          <a:xfrm>
            <a:off x="8686800" y="20040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dòng lớn</a:t>
            </a:r>
            <a:endParaRPr lang="en-US" sz="1200" dirty="0"/>
          </a:p>
        </p:txBody>
      </p:sp>
      <p:sp>
        <p:nvSpPr>
          <p:cNvPr id="18" name="Text 15"/>
          <p:cNvSpPr/>
          <p:nvPr/>
        </p:nvSpPr>
        <p:spPr>
          <a:xfrm>
            <a:off x="8686800" y="32105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3,3 V ổn định</a:t>
            </a:r>
            <a:endParaRPr lang="en-US" sz="1200" dirty="0"/>
          </a:p>
        </p:txBody>
      </p:sp>
      <p:sp>
        <p:nvSpPr>
          <p:cNvPr id="19" name="Text 16"/>
          <p:cNvSpPr/>
          <p:nvPr/>
        </p:nvSpPr>
        <p:spPr>
          <a:xfrm>
            <a:off x="8686800" y="44805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dòng rất nhỏ</a:t>
            </a:r>
            <a:endParaRPr lang="en-US" sz="1200" dirty="0"/>
          </a:p>
        </p:txBody>
      </p:sp>
      <p:sp>
        <p:nvSpPr>
          <p:cNvPr id="20"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Những gì KHÔNG có trên bo mạch — và vì sao quan trọng</a:t>
            </a:r>
            <a:endParaRPr lang="en-US" sz="3000" dirty="0"/>
          </a:p>
        </p:txBody>
      </p:sp>
      <p:sp>
        <p:nvSpPr>
          <p:cNvPr id="4" name="Shape 2"/>
          <p:cNvSpPr/>
          <p:nvPr/>
        </p:nvSpPr>
        <p:spPr>
          <a:xfrm>
            <a:off x="819150" y="1781770"/>
            <a:ext cx="2495550" cy="1788071"/>
          </a:xfrm>
          <a:prstGeom prst="roundRect">
            <a:avLst>
              <a:gd name="adj" fmla="val 5327"/>
            </a:avLst>
          </a:prstGeom>
          <a:solidFill>
            <a:srgbClr val="FDFCF8"/>
          </a:solidFill>
          <a:ln w="12700">
            <a:solidFill>
              <a:srgbClr val="E2DFD6"/>
            </a:solidFill>
            <a:prstDash val="solid"/>
          </a:ln>
        </p:spPr>
      </p:sp>
      <p:sp>
        <p:nvSpPr>
          <p:cNvPr id="5" name="Text 3"/>
          <p:cNvSpPr/>
          <p:nvPr/>
        </p:nvSpPr>
        <p:spPr>
          <a:xfrm>
            <a:off x="1079500" y="2016720"/>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cảm biến áp suất</a:t>
            </a:r>
            <a:endParaRPr lang="en-US" sz="1800" dirty="0"/>
          </a:p>
        </p:txBody>
      </p:sp>
      <p:sp>
        <p:nvSpPr>
          <p:cNvPr id="6" name="Text 4"/>
          <p:cNvSpPr/>
          <p:nvPr/>
        </p:nvSpPr>
        <p:spPr>
          <a:xfrm>
            <a:off x="1079500" y="264150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Không đo được độ cao. Hold giữ mức lực đẩy, không giữ độ cao.</a:t>
            </a:r>
            <a:endParaRPr lang="en-US" sz="1300" dirty="0"/>
          </a:p>
        </p:txBody>
      </p:sp>
      <p:sp>
        <p:nvSpPr>
          <p:cNvPr id="7" name="Shape 5"/>
          <p:cNvSpPr/>
          <p:nvPr/>
        </p:nvSpPr>
        <p:spPr>
          <a:xfrm>
            <a:off x="3505200" y="1781770"/>
            <a:ext cx="2495550" cy="1788071"/>
          </a:xfrm>
          <a:prstGeom prst="roundRect">
            <a:avLst>
              <a:gd name="adj" fmla="val 5327"/>
            </a:avLst>
          </a:prstGeom>
          <a:solidFill>
            <a:srgbClr val="FDFCF8"/>
          </a:solidFill>
          <a:ln w="12700">
            <a:solidFill>
              <a:srgbClr val="E2DFD6"/>
            </a:solidFill>
            <a:prstDash val="solid"/>
          </a:ln>
        </p:spPr>
      </p:sp>
      <p:sp>
        <p:nvSpPr>
          <p:cNvPr id="8" name="Text 6"/>
          <p:cNvSpPr/>
          <p:nvPr/>
        </p:nvSpPr>
        <p:spPr>
          <a:xfrm>
            <a:off x="3765550" y="2016720"/>
            <a:ext cx="20340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la bàn</a:t>
            </a:r>
            <a:endParaRPr lang="en-US" sz="1800" dirty="0"/>
          </a:p>
        </p:txBody>
      </p:sp>
      <p:sp>
        <p:nvSpPr>
          <p:cNvPr id="9" name="Text 7"/>
          <p:cNvSpPr/>
          <p:nvPr/>
        </p:nvSpPr>
        <p:spPr>
          <a:xfrm>
            <a:off x="3765550" y="2367211"/>
            <a:ext cx="20340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Hướng chỉ lấy từ gyro nên trôi dần.</a:t>
            </a:r>
            <a:endParaRPr lang="en-US" sz="1300" dirty="0"/>
          </a:p>
        </p:txBody>
      </p:sp>
      <p:sp>
        <p:nvSpPr>
          <p:cNvPr id="10" name="Shape 8"/>
          <p:cNvSpPr/>
          <p:nvPr/>
        </p:nvSpPr>
        <p:spPr>
          <a:xfrm>
            <a:off x="6191250" y="1781770"/>
            <a:ext cx="2495550" cy="1788071"/>
          </a:xfrm>
          <a:prstGeom prst="roundRect">
            <a:avLst>
              <a:gd name="adj" fmla="val 5327"/>
            </a:avLst>
          </a:prstGeom>
          <a:solidFill>
            <a:srgbClr val="FDFCF8"/>
          </a:solidFill>
          <a:ln w="12700">
            <a:solidFill>
              <a:srgbClr val="E2DFD6"/>
            </a:solidFill>
            <a:prstDash val="solid"/>
          </a:ln>
        </p:spPr>
      </p:sp>
      <p:sp>
        <p:nvSpPr>
          <p:cNvPr id="11" name="Text 9"/>
          <p:cNvSpPr/>
          <p:nvPr/>
        </p:nvSpPr>
        <p:spPr>
          <a:xfrm>
            <a:off x="6451600" y="2016720"/>
            <a:ext cx="20340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GPS</a:t>
            </a:r>
            <a:endParaRPr lang="en-US" sz="1800" dirty="0"/>
          </a:p>
        </p:txBody>
      </p:sp>
      <p:sp>
        <p:nvSpPr>
          <p:cNvPr id="12" name="Text 10"/>
          <p:cNvSpPr/>
          <p:nvPr/>
        </p:nvSpPr>
        <p:spPr>
          <a:xfrm>
            <a:off x="6451600" y="236721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Không biết vị trí. Follow dùng GPS điện thoại và ước tính vị trí.</a:t>
            </a:r>
            <a:endParaRPr lang="en-US" sz="1300" dirty="0"/>
          </a:p>
        </p:txBody>
      </p:sp>
      <p:sp>
        <p:nvSpPr>
          <p:cNvPr id="13" name="Shape 11"/>
          <p:cNvSpPr/>
          <p:nvPr/>
        </p:nvSpPr>
        <p:spPr>
          <a:xfrm>
            <a:off x="8877300" y="1781770"/>
            <a:ext cx="2495550" cy="1788071"/>
          </a:xfrm>
          <a:prstGeom prst="roundRect">
            <a:avLst>
              <a:gd name="adj" fmla="val 5327"/>
            </a:avLst>
          </a:prstGeom>
          <a:solidFill>
            <a:srgbClr val="FDFCF8"/>
          </a:solidFill>
          <a:ln w="12700">
            <a:solidFill>
              <a:srgbClr val="E2DFD6"/>
            </a:solidFill>
            <a:prstDash val="solid"/>
          </a:ln>
        </p:spPr>
      </p:sp>
      <p:sp>
        <p:nvSpPr>
          <p:cNvPr id="14" name="Text 12"/>
          <p:cNvSpPr/>
          <p:nvPr/>
        </p:nvSpPr>
        <p:spPr>
          <a:xfrm>
            <a:off x="9137650" y="2016720"/>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cảm biến khoảng cách</a:t>
            </a:r>
            <a:endParaRPr lang="en-US" sz="1800" dirty="0"/>
          </a:p>
        </p:txBody>
      </p:sp>
      <p:sp>
        <p:nvSpPr>
          <p:cNvPr id="15" name="Text 13"/>
          <p:cNvSpPr/>
          <p:nvPr/>
        </p:nvSpPr>
        <p:spPr>
          <a:xfrm>
            <a:off x="9137650" y="264150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Không thấy mặt đất. Hạ cánh là một đường dốc lực đẩy theo thời gian.</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38 · Nguồn: chú thích phần FLIGHT MODES và NAVIGATION</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PHẦN CỨNG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Tóm tắt linh kiện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702074"/>
        </p:xfrm>
        <a:graphic>
          <a:graphicData uri="http://schemas.openxmlformats.org/drawingml/2006/table">
            <a:tbl>
              <a:tblPr/>
              <a:tblGrid>
                <a:gridCol w="2110740"/>
                <a:gridCol w="2743962"/>
                <a:gridCol w="2110740"/>
                <a:gridCol w="3588258"/>
              </a:tblGrid>
              <a:tr h="386011">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Linh kiện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Nhiệm vụ</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Kết nối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Mã chính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ESP32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chạy mọi thứ</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setup(), loop()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MPU6500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xoay + trọng lực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SPI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mpuInit(), mpuReadRaw()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Máy thu SBUS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cần RC (tùy chọn)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UART2 RX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sbusPoll(), sbusDecode()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AO3416 ×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công tắc động cơ</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PWM LEDC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motorInit(), motorWrite()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8520 × 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lực đẩy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qua MOSFET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motorMix()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Cầu chia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điện áp pin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ADC GPIO 36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batteryUpdate()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Phần cứng · 39 · Nguồn: Esp32_drone.ino</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PHẦN CỨNG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chân GPIO cần MOSFET để chạy động cơ?</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so sánh dòng của chân với dòng của động cơ.</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PWM ở 20 kHz mà không phải 1 kHz?</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hãy lắng nghe động cơ.</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phải chia điện áp pin trước khi vào ADC?</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điện áp tối đa của ADC là bao nhiêu?</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drone không giữ được độ cao?</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cảm biến nào đo độ cao?</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Phần cứng · 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04</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Kiến trúc firmware</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Một sketch Arduino, một vòng lặp, và thứ tự mọi việc diễn ra.</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Một sketch, hai điểm vào</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Mọi chương trình Arduino có cùng hình dạng. Esp32_drone.ino cũng vậy.</a:t>
            </a:r>
            <a:endParaRPr lang="en-US" sz="1700" dirty="0"/>
          </a:p>
        </p:txBody>
      </p:sp>
      <p:sp>
        <p:nvSpPr>
          <p:cNvPr id="5" name="Shape 3"/>
          <p:cNvSpPr/>
          <p:nvPr/>
        </p:nvSpPr>
        <p:spPr>
          <a:xfrm>
            <a:off x="819150" y="2337991"/>
            <a:ext cx="3390900" cy="1567061"/>
          </a:xfrm>
          <a:prstGeom prst="roundRect">
            <a:avLst>
              <a:gd name="adj" fmla="val 6078"/>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setup()</a:t>
            </a:r>
            <a:endParaRPr lang="en-US" sz="1800" dirty="0"/>
          </a:p>
        </p:txBody>
      </p:sp>
      <p:sp>
        <p:nvSpPr>
          <p:cNvPr id="7" name="Text 5"/>
          <p:cNvSpPr/>
          <p:nvPr/>
        </p:nvSpPr>
        <p:spPr>
          <a:xfrm>
            <a:off x="1079500" y="292343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Chạy một lần khi bật nguồn. Khởi động phần cứng, nạp cài đặt đã lưu, hiệu chuẩn gyro.</a:t>
            </a:r>
            <a:endParaRPr lang="en-US" sz="1400" dirty="0"/>
          </a:p>
        </p:txBody>
      </p:sp>
      <p:sp>
        <p:nvSpPr>
          <p:cNvPr id="8" name="Shape 6"/>
          <p:cNvSpPr/>
          <p:nvPr/>
        </p:nvSpPr>
        <p:spPr>
          <a:xfrm>
            <a:off x="4400550" y="2337991"/>
            <a:ext cx="3390900" cy="1567061"/>
          </a:xfrm>
          <a:prstGeom prst="roundRect">
            <a:avLst>
              <a:gd name="adj" fmla="val 6078"/>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loop()</a:t>
            </a:r>
            <a:endParaRPr lang="en-US" sz="1800" dirty="0"/>
          </a:p>
        </p:txBody>
      </p:sp>
      <p:sp>
        <p:nvSpPr>
          <p:cNvPr id="10" name="Text 8"/>
          <p:cNvSpPr/>
          <p:nvPr/>
        </p:nvSpPr>
        <p:spPr>
          <a:xfrm>
            <a:off x="4660900" y="292343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Chạy mãi mãi, mỗi 4 ms một lần. Đọc, quyết định, điều khiển động cơ.</a:t>
            </a:r>
            <a:endParaRPr lang="en-US" sz="1400" dirty="0"/>
          </a:p>
        </p:txBody>
      </p:sp>
      <p:sp>
        <p:nvSpPr>
          <p:cNvPr id="11" name="Shape 9"/>
          <p:cNvSpPr/>
          <p:nvPr/>
        </p:nvSpPr>
        <p:spPr>
          <a:xfrm>
            <a:off x="7981950" y="2337991"/>
            <a:ext cx="3390900" cy="1567061"/>
          </a:xfrm>
          <a:prstGeom prst="roundRect">
            <a:avLst>
              <a:gd name="adj" fmla="val 6078"/>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Không có tác vụ RTOS</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Mã bay không tự tạo luồng riêng. Một vòng lặp, một thứ tự.</a:t>
            </a:r>
            <a:endParaRPr lang="en-US" sz="1400" dirty="0"/>
          </a:p>
        </p:txBody>
      </p:sp>
      <p:sp>
        <p:nvSpPr>
          <p:cNvPr id="14" name="Shape 12"/>
          <p:cNvSpPr/>
          <p:nvPr/>
        </p:nvSpPr>
        <p:spPr>
          <a:xfrm>
            <a:off x="812800" y="4165402"/>
            <a:ext cx="10566400" cy="1018480"/>
          </a:xfrm>
          <a:prstGeom prst="roundRect">
            <a:avLst>
              <a:gd name="adj" fmla="val 9976"/>
            </a:avLst>
          </a:prstGeom>
          <a:solidFill>
            <a:srgbClr val="13202E"/>
          </a:solidFill>
          <a:ln/>
        </p:spPr>
      </p:sp>
      <p:sp>
        <p:nvSpPr>
          <p:cNvPr id="15" name="Text 13"/>
          <p:cNvSpPr/>
          <p:nvPr/>
        </p:nvSpPr>
        <p:spPr>
          <a:xfrm>
            <a:off x="1117600" y="439400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670822"/>
            <a:ext cx="10261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Như một đầu bếp làm theo một tấm công thức từ trên xuống, lặp đi lặp lại, thay vì nhiều đầu bếp làm cùng lúc.</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42 · Nguồn: setup(), loop()</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790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KIẾN TRÚC</a:t>
            </a:r>
            <a:endParaRPr lang="en-US" sz="1159" dirty="0"/>
          </a:p>
        </p:txBody>
      </p:sp>
      <p:sp>
        <p:nvSpPr>
          <p:cNvPr id="3" name="Text 1"/>
          <p:cNvSpPr/>
          <p:nvPr>
            <p:ph type="title"/>
          </p:nvPr>
        </p:nvSpPr>
        <p:spPr>
          <a:xfrm>
            <a:off x="812800" y="1091505"/>
            <a:ext cx="10883392" cy="423317"/>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setup() làm gì, theo thứ tự</a:t>
            </a:r>
            <a:endParaRPr lang="en-US" sz="2878" dirty="0"/>
          </a:p>
        </p:txBody>
      </p:sp>
      <p:sp>
        <p:nvSpPr>
          <p:cNvPr id="4" name="Shape 2"/>
          <p:cNvSpPr/>
          <p:nvPr/>
        </p:nvSpPr>
        <p:spPr>
          <a:xfrm>
            <a:off x="819150" y="1749772"/>
            <a:ext cx="10553700" cy="715615"/>
          </a:xfrm>
          <a:prstGeom prst="roundRect">
            <a:avLst>
              <a:gd name="adj" fmla="val 13310"/>
            </a:avLst>
          </a:prstGeom>
          <a:solidFill>
            <a:srgbClr val="FDFCF8"/>
          </a:solidFill>
          <a:ln w="12700">
            <a:solidFill>
              <a:srgbClr val="E2DFD6"/>
            </a:solidFill>
            <a:prstDash val="solid"/>
          </a:ln>
        </p:spPr>
      </p:sp>
      <p:sp>
        <p:nvSpPr>
          <p:cNvPr id="5" name="Text 3"/>
          <p:cNvSpPr/>
          <p:nvPr/>
        </p:nvSpPr>
        <p:spPr>
          <a:xfrm>
            <a:off x="1054100" y="1876475"/>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6" name="Text 4"/>
          <p:cNvSpPr/>
          <p:nvPr/>
        </p:nvSpPr>
        <p:spPr>
          <a:xfrm>
            <a:off x="1638300" y="1978968"/>
            <a:ext cx="5732026"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motorInit()</a:t>
            </a:r>
            <a:r>
              <a:rPr lang="en-US" sz="1500" dirty="0">
                <a:solidFill>
                  <a:srgbClr val="13202E"/>
                </a:solidFill>
                <a:latin typeface="IBM Plex Sans" pitchFamily="34" charset="0"/>
                <a:ea typeface="IBM Plex Sans" pitchFamily="34" charset="-122"/>
                <a:cs typeface="IBM Plex Sans" pitchFamily="34" charset="-120"/>
              </a:rPr>
              <a:t> và </a:t>
            </a:r>
            <a:r>
              <a:rPr lang="en-US" sz="1500" b="1" dirty="0">
                <a:solidFill>
                  <a:srgbClr val="13202E"/>
                </a:solidFill>
                <a:latin typeface="IBM Plex Sans" pitchFamily="34" charset="0"/>
                <a:ea typeface="IBM Plex Sans" pitchFamily="34" charset="-122"/>
                <a:cs typeface="IBM Plex Sans" pitchFamily="34" charset="-120"/>
              </a:rPr>
              <a:t>motorStop()</a:t>
            </a:r>
            <a:r>
              <a:rPr lang="en-US" sz="1500" dirty="0">
                <a:solidFill>
                  <a:srgbClr val="13202E"/>
                </a:solidFill>
                <a:latin typeface="IBM Plex Sans" pitchFamily="34" charset="0"/>
                <a:ea typeface="IBM Plex Sans" pitchFamily="34" charset="-122"/>
                <a:cs typeface="IBM Plex Sans" pitchFamily="34" charset="-120"/>
              </a:rPr>
              <a:t> — tắt động cơ trước mọi thứ.</a:t>
            </a:r>
            <a:endParaRPr lang="en-US" sz="1500" dirty="0"/>
          </a:p>
        </p:txBody>
      </p:sp>
      <p:sp>
        <p:nvSpPr>
          <p:cNvPr id="7" name="Shape 5"/>
          <p:cNvSpPr/>
          <p:nvPr/>
        </p:nvSpPr>
        <p:spPr>
          <a:xfrm>
            <a:off x="819150" y="2592388"/>
            <a:ext cx="10553700" cy="715566"/>
          </a:xfrm>
          <a:prstGeom prst="roundRect">
            <a:avLst>
              <a:gd name="adj" fmla="val 13311"/>
            </a:avLst>
          </a:prstGeom>
          <a:solidFill>
            <a:srgbClr val="FDFCF8"/>
          </a:solidFill>
          <a:ln w="12700">
            <a:solidFill>
              <a:srgbClr val="E2DFD6"/>
            </a:solidFill>
            <a:prstDash val="solid"/>
          </a:ln>
        </p:spPr>
      </p:sp>
      <p:sp>
        <p:nvSpPr>
          <p:cNvPr id="8" name="Text 6"/>
          <p:cNvSpPr/>
          <p:nvPr/>
        </p:nvSpPr>
        <p:spPr>
          <a:xfrm>
            <a:off x="1054100" y="2719040"/>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9" name="Text 7"/>
          <p:cNvSpPr/>
          <p:nvPr/>
        </p:nvSpPr>
        <p:spPr>
          <a:xfrm>
            <a:off x="1638300" y="2821583"/>
            <a:ext cx="678513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mpuInit()</a:t>
            </a:r>
            <a:r>
              <a:rPr lang="en-US" sz="1500" dirty="0">
                <a:solidFill>
                  <a:srgbClr val="13202E"/>
                </a:solidFill>
                <a:latin typeface="IBM Plex Sans" pitchFamily="34" charset="0"/>
                <a:ea typeface="IBM Plex Sans" pitchFamily="34" charset="-122"/>
                <a:cs typeface="IBM Plex Sans" pitchFamily="34" charset="-120"/>
              </a:rPr>
              <a:t> — nếu WHO_AM_I sai, in gợi ý kiểm tra dây và dừng mãi.</a:t>
            </a:r>
            <a:endParaRPr lang="en-US" sz="1500" dirty="0"/>
          </a:p>
        </p:txBody>
      </p:sp>
      <p:sp>
        <p:nvSpPr>
          <p:cNvPr id="10" name="Shape 8"/>
          <p:cNvSpPr/>
          <p:nvPr/>
        </p:nvSpPr>
        <p:spPr>
          <a:xfrm>
            <a:off x="819150" y="3434953"/>
            <a:ext cx="10553700" cy="715566"/>
          </a:xfrm>
          <a:prstGeom prst="roundRect">
            <a:avLst>
              <a:gd name="adj" fmla="val 13311"/>
            </a:avLst>
          </a:prstGeom>
          <a:solidFill>
            <a:srgbClr val="FDFCF8"/>
          </a:solidFill>
          <a:ln w="12700">
            <a:solidFill>
              <a:srgbClr val="E2DFD6"/>
            </a:solidFill>
            <a:prstDash val="solid"/>
          </a:ln>
        </p:spPr>
      </p:sp>
      <p:sp>
        <p:nvSpPr>
          <p:cNvPr id="11" name="Text 9"/>
          <p:cNvSpPr/>
          <p:nvPr/>
        </p:nvSpPr>
        <p:spPr>
          <a:xfrm>
            <a:off x="1054100" y="3561606"/>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2" name="Text 10"/>
          <p:cNvSpPr/>
          <p:nvPr/>
        </p:nvSpPr>
        <p:spPr>
          <a:xfrm>
            <a:off x="1638300" y="3664148"/>
            <a:ext cx="471541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Đặt suy giảm ADC cho chân pin, rồi </a:t>
            </a:r>
            <a:r>
              <a:rPr lang="en-US" sz="1500" b="1" dirty="0">
                <a:solidFill>
                  <a:srgbClr val="13202E"/>
                </a:solidFill>
                <a:latin typeface="IBM Plex Sans" pitchFamily="34" charset="0"/>
                <a:ea typeface="IBM Plex Sans" pitchFamily="34" charset="-122"/>
                <a:cs typeface="IBM Plex Sans" pitchFamily="34" charset="-120"/>
              </a:rPr>
              <a:t>sbusInit()</a:t>
            </a:r>
            <a:r>
              <a:rPr lang="en-US" sz="1500" dirty="0">
                <a:solidFill>
                  <a:srgbClr val="13202E"/>
                </a:solidFill>
                <a:latin typeface="IBM Plex Sans" pitchFamily="34" charset="0"/>
                <a:ea typeface="IBM Plex Sans" pitchFamily="34" charset="-122"/>
                <a:cs typeface="IBM Plex Sans" pitchFamily="34" charset="-120"/>
              </a:rPr>
              <a:t>.</a:t>
            </a:r>
            <a:endParaRPr lang="en-US" sz="1500" dirty="0"/>
          </a:p>
        </p:txBody>
      </p:sp>
      <p:sp>
        <p:nvSpPr>
          <p:cNvPr id="13" name="Shape 11"/>
          <p:cNvSpPr/>
          <p:nvPr/>
        </p:nvSpPr>
        <p:spPr>
          <a:xfrm>
            <a:off x="819150" y="4277519"/>
            <a:ext cx="10553700" cy="715566"/>
          </a:xfrm>
          <a:prstGeom prst="roundRect">
            <a:avLst>
              <a:gd name="adj" fmla="val 13311"/>
            </a:avLst>
          </a:prstGeom>
          <a:solidFill>
            <a:srgbClr val="FDFCF8"/>
          </a:solidFill>
          <a:ln w="12700">
            <a:solidFill>
              <a:srgbClr val="E2DFD6"/>
            </a:solidFill>
            <a:prstDash val="solid"/>
          </a:ln>
        </p:spPr>
      </p:sp>
      <p:sp>
        <p:nvSpPr>
          <p:cNvPr id="14" name="Text 12"/>
          <p:cNvSpPr/>
          <p:nvPr/>
        </p:nvSpPr>
        <p:spPr>
          <a:xfrm>
            <a:off x="1054100" y="440417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4</a:t>
            </a:r>
            <a:endParaRPr lang="en-US" sz="2600" dirty="0"/>
          </a:p>
        </p:txBody>
      </p:sp>
      <p:sp>
        <p:nvSpPr>
          <p:cNvPr id="15" name="Text 13"/>
          <p:cNvSpPr/>
          <p:nvPr/>
        </p:nvSpPr>
        <p:spPr>
          <a:xfrm>
            <a:off x="1638300" y="4506714"/>
            <a:ext cx="560189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Mở NVS và </a:t>
            </a:r>
            <a:r>
              <a:rPr lang="en-US" sz="1500" b="1" dirty="0">
                <a:solidFill>
                  <a:srgbClr val="13202E"/>
                </a:solidFill>
                <a:latin typeface="IBM Plex Sans" pitchFamily="34" charset="0"/>
                <a:ea typeface="IBM Plex Sans" pitchFamily="34" charset="-122"/>
                <a:cs typeface="IBM Plex Sans" pitchFamily="34" charset="-120"/>
              </a:rPr>
              <a:t>cfgLoad()</a:t>
            </a:r>
            <a:r>
              <a:rPr lang="en-US" sz="1500" dirty="0">
                <a:solidFill>
                  <a:srgbClr val="13202E"/>
                </a:solidFill>
                <a:latin typeface="IBM Plex Sans" pitchFamily="34" charset="0"/>
                <a:ea typeface="IBM Plex Sans" pitchFamily="34" charset="-122"/>
                <a:cs typeface="IBM Plex Sans" pitchFamily="34" charset="-120"/>
              </a:rPr>
              <a:t> — hệ số PID và cài đặt bay đã lưu.</a:t>
            </a:r>
            <a:endParaRPr lang="en-US" sz="1500" dirty="0"/>
          </a:p>
        </p:txBody>
      </p:sp>
      <p:sp>
        <p:nvSpPr>
          <p:cNvPr id="16" name="Shape 14"/>
          <p:cNvSpPr/>
          <p:nvPr/>
        </p:nvSpPr>
        <p:spPr>
          <a:xfrm>
            <a:off x="819150" y="5120084"/>
            <a:ext cx="10553700" cy="715566"/>
          </a:xfrm>
          <a:prstGeom prst="roundRect">
            <a:avLst>
              <a:gd name="adj" fmla="val 13311"/>
            </a:avLst>
          </a:prstGeom>
          <a:solidFill>
            <a:srgbClr val="FDFCF8"/>
          </a:solidFill>
          <a:ln w="12700">
            <a:solidFill>
              <a:srgbClr val="E2DFD6"/>
            </a:solidFill>
            <a:prstDash val="solid"/>
          </a:ln>
        </p:spPr>
      </p:sp>
      <p:sp>
        <p:nvSpPr>
          <p:cNvPr id="17" name="Text 15"/>
          <p:cNvSpPr/>
          <p:nvPr/>
        </p:nvSpPr>
        <p:spPr>
          <a:xfrm>
            <a:off x="1054100" y="5246737"/>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5</a:t>
            </a:r>
            <a:endParaRPr lang="en-US" sz="2600" dirty="0"/>
          </a:p>
        </p:txBody>
      </p:sp>
      <p:sp>
        <p:nvSpPr>
          <p:cNvPr id="18" name="Text 16"/>
          <p:cNvSpPr/>
          <p:nvPr/>
        </p:nvSpPr>
        <p:spPr>
          <a:xfrm>
            <a:off x="1638300" y="5349280"/>
            <a:ext cx="7426642"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linkInit()</a:t>
            </a:r>
            <a:r>
              <a:rPr lang="en-US" sz="1500" dirty="0">
                <a:solidFill>
                  <a:srgbClr val="13202E"/>
                </a:solidFill>
                <a:latin typeface="IBM Plex Sans" pitchFamily="34" charset="0"/>
                <a:ea typeface="IBM Plex Sans" pitchFamily="34" charset="-122"/>
                <a:cs typeface="IBM Plex Sans" pitchFamily="34" charset="-120"/>
              </a:rPr>
              <a:t> (Wi-Fi / Bluetooth), rồi </a:t>
            </a:r>
            <a:r>
              <a:rPr lang="en-US" sz="1500" b="1" dirty="0">
                <a:solidFill>
                  <a:srgbClr val="13202E"/>
                </a:solidFill>
                <a:latin typeface="IBM Plex Sans" pitchFamily="34" charset="0"/>
                <a:ea typeface="IBM Plex Sans" pitchFamily="34" charset="-122"/>
                <a:cs typeface="IBM Plex Sans" pitchFamily="34" charset="-120"/>
              </a:rPr>
              <a:t>mpuCalibrateGyro()</a:t>
            </a:r>
            <a:r>
              <a:rPr lang="en-US" sz="1500" dirty="0">
                <a:solidFill>
                  <a:srgbClr val="13202E"/>
                </a:solidFill>
                <a:latin typeface="IBM Plex Sans" pitchFamily="34" charset="0"/>
                <a:ea typeface="IBM Plex Sans" pitchFamily="34" charset="-122"/>
                <a:cs typeface="IBM Plex Sans" pitchFamily="34" charset="-120"/>
              </a:rPr>
              <a:t> và đọc pin lần đầu.</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43 · Nguồn: setup()</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Bản đồ của sketch</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3353991"/>
        </p:xfrm>
        <a:graphic>
          <a:graphicData uri="http://schemas.openxmlformats.org/drawingml/2006/table">
            <a:tbl>
              <a:tblPr/>
              <a:tblGrid>
                <a:gridCol w="2532888"/>
                <a:gridCol w="5487924"/>
                <a:gridCol w="2532888"/>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Khu vực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Các hàm chính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Phần khóa học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#define cấu hình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chân, tần số, hệ số, giới hạn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3, 4</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MPU6500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mpuInit, mpuReadRaw, mpuCalibrateGyro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5</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SBUS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sbusInit, sbusDecode, sbusPoll</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Truyền dẫn + CRTP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linkInit, linkPoll, crtpDispatch, các handler</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Động cơ + pin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motorInit, usToDuty, motorWrite, batteryUpdate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3, 7</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PID + tư thế</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pidCompute, attitudeUpdate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5, 6</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Dẫn đường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navUpdate, navSetpoints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10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Chế độ + arm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flightSetpoints, armUpdate, motorMix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6, 7, 9</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44 · Nguồn: các tiêu đề khu vực trong sketch</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Trạng thái toàn cục: các biến dùng chung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608659"/>
        </p:xfrm>
        <a:graphic>
          <a:graphicData uri="http://schemas.openxmlformats.org/drawingml/2006/table">
            <a:tbl>
              <a:tblPr/>
              <a:tblGrid>
                <a:gridCol w="3166110"/>
                <a:gridCol w="3799332"/>
                <a:gridCol w="3588258"/>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Biến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Ý nghĩa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Ai ghi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armed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động cơ được phép quay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armUpdate, lệnh bay, failsafe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flight_mode, auto_state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MANUAL…RTH, cất/giữ/hạ cánh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lệnh port 7</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gyro_roll / pitch / yaw</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tốc độ xoay, °/s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attitudeUpdate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angle_roll_deg / pitch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góc nghiêng đã lọc, °</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attitudeUpdate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sp_* (setpoint)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điều ta muốn ở vòng này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flightSetpoints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motor_rf … motor_lf</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lệnh 1000–2000 cho từng động cơ</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motorMix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45 · Nguồn: khai báo toàn cục</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loop() trong mười hai dòng</a:t>
            </a:r>
            <a:endParaRPr lang="en-US" sz="3000" dirty="0"/>
          </a:p>
        </p:txBody>
      </p:sp>
      <p:sp>
        <p:nvSpPr>
          <p:cNvPr id="4" name="Text 2"/>
          <p:cNvSpPr/>
          <p:nvPr/>
        </p:nvSpPr>
        <p:spPr>
          <a:xfrm>
            <a:off x="812800" y="1775420"/>
            <a:ext cx="6187430" cy="3625850"/>
          </a:xfrm>
          <a:prstGeom prst="roundRect">
            <a:avLst>
              <a:gd name="adj" fmla="val 2802"/>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sbusPoll();  linkPoll();            </a:t>
            </a:r>
            <a:r>
              <a:rPr lang="en-US" sz="1300" dirty="0">
                <a:solidFill>
                  <a:srgbClr val="8FA3B8"/>
                </a:solidFill>
                <a:latin typeface="JetBrains Mono" pitchFamily="49" charset="0"/>
                <a:ea typeface="JetBrains Mono" pitchFamily="49" charset="-122"/>
                <a:cs typeface="JetBrains Mono" pitchFamily="49" charset="-120"/>
              </a:rPr>
              <a:t>// 1. receive</a:t>
            </a:r>
            <a:endParaRPr lang="en-US" sz="1300" dirty="0"/>
          </a:p>
          <a:p>
            <a:pPr algn="l" indent="0" marL="0">
              <a:lnSpc>
                <a:spcPts val="1950"/>
              </a:lnSpc>
              <a:buNone/>
            </a:pPr>
            <a:r>
              <a:rPr lang="en-US" sz="1300" dirty="0">
                <a:solidFill>
                  <a:srgbClr val="8FA3B8"/>
                </a:solidFill>
                <a:latin typeface="JetBrains Mono" pitchFamily="49" charset="0"/>
                <a:ea typeface="JetBrains Mono" pitchFamily="49" charset="-122"/>
                <a:cs typeface="JetBrains Mono" pitchFamily="49" charset="-120"/>
              </a:rPr>
              <a:t>// 2. decide who is in control, failsafe</a:t>
            </a:r>
            <a:endParaRPr lang="en-US" sz="1300" dirty="0"/>
          </a:p>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(!rx_ok &amp;&amp; armed) { armed = </a:t>
            </a:r>
            <a:r>
              <a:rPr lang="en-US" sz="1300" dirty="0">
                <a:solidFill>
                  <a:srgbClr val="F29E5C"/>
                </a:solidFill>
                <a:latin typeface="JetBrains Mono" pitchFamily="49" charset="0"/>
                <a:ea typeface="JetBrains Mono" pitchFamily="49" charset="-122"/>
                <a:cs typeface="JetBrains Mono" pitchFamily="49" charset="-120"/>
              </a:rPr>
              <a:t>false</a:t>
            </a:r>
            <a:r>
              <a:rPr lang="en-US" sz="1300" dirty="0">
                <a:solidFill>
                  <a:srgbClr val="E6EBF0"/>
                </a:solidFill>
                <a:latin typeface="JetBrains Mono" pitchFamily="49" charset="0"/>
                <a:ea typeface="JetBrains Mono" pitchFamily="49" charset="-122"/>
                <a:cs typeface="JetBrains Mono" pitchFamily="49" charset="-120"/>
              </a:rPr>
              <a:t>; motorStop();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armUpdate(now, use_crtp);           </a:t>
            </a:r>
            <a:r>
              <a:rPr lang="en-US" sz="1300" dirty="0">
                <a:solidFill>
                  <a:srgbClr val="8FA3B8"/>
                </a:solidFill>
                <a:latin typeface="JetBrains Mono" pitchFamily="49" charset="0"/>
                <a:ea typeface="JetBrains Mono" pitchFamily="49" charset="-122"/>
                <a:cs typeface="JetBrains Mono" pitchFamily="49" charset="-120"/>
              </a:rPr>
              <a:t>// 3. arm / disarm</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mpuReadRaw();  attitudeUpdate();    </a:t>
            </a:r>
            <a:r>
              <a:rPr lang="en-US" sz="1300" dirty="0">
                <a:solidFill>
                  <a:srgbClr val="8FA3B8"/>
                </a:solidFill>
                <a:latin typeface="JetBrains Mono" pitchFamily="49" charset="0"/>
                <a:ea typeface="JetBrains Mono" pitchFamily="49" charset="-122"/>
                <a:cs typeface="JetBrains Mono" pitchFamily="49" charset="-120"/>
              </a:rPr>
              <a:t>// 4. sense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navUpdate(...);                     </a:t>
            </a:r>
            <a:r>
              <a:rPr lang="en-US" sz="1300" dirty="0">
                <a:solidFill>
                  <a:srgbClr val="8FA3B8"/>
                </a:solidFill>
                <a:latin typeface="JetBrains Mono" pitchFamily="49" charset="0"/>
                <a:ea typeface="JetBrains Mono" pitchFamily="49" charset="-122"/>
                <a:cs typeface="JetBrains Mono" pitchFamily="49" charset="-120"/>
              </a:rPr>
              <a:t>// 5. dead reckoning</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flightSetpoints(now, use_crtp, sbus_ok);  </a:t>
            </a:r>
            <a:r>
              <a:rPr lang="en-US" sz="1300" dirty="0">
                <a:solidFill>
                  <a:srgbClr val="8FA3B8"/>
                </a:solidFill>
                <a:latin typeface="JetBrains Mono" pitchFamily="49" charset="0"/>
                <a:ea typeface="JetBrains Mono" pitchFamily="49" charset="-122"/>
                <a:cs typeface="JetBrains Mono" pitchFamily="49" charset="-120"/>
              </a:rPr>
              <a:t>// 6. want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roll_setpoint = sp_roll_rate - roll_level_adjust;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pidCompute();                       </a:t>
            </a:r>
            <a:r>
              <a:rPr lang="en-US" sz="1300" dirty="0">
                <a:solidFill>
                  <a:srgbClr val="8FA3B8"/>
                </a:solidFill>
                <a:latin typeface="JetBrains Mono" pitchFamily="49" charset="0"/>
                <a:ea typeface="JetBrains Mono" pitchFamily="49" charset="-122"/>
                <a:cs typeface="JetBrains Mono" pitchFamily="49" charset="-120"/>
              </a:rPr>
              <a:t>// 7. decide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motorMix(sp_throttle_us);           </a:t>
            </a:r>
            <a:r>
              <a:rPr lang="en-US" sz="1300" dirty="0">
                <a:solidFill>
                  <a:srgbClr val="8FA3B8"/>
                </a:solidFill>
                <a:latin typeface="JetBrains Mono" pitchFamily="49" charset="0"/>
                <a:ea typeface="JetBrains Mono" pitchFamily="49" charset="-122"/>
                <a:cs typeface="JetBrains Mono" pitchFamily="49" charset="-120"/>
              </a:rPr>
              <a:t>// 8. mix</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motorWrite(motor_rf, motor_rr, motor_lr, motor_lf);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batteryUpdate(); logUpdate(); telemetry(now);</a:t>
            </a:r>
            <a:endParaRPr lang="en-US" sz="1300" dirty="0"/>
          </a:p>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while</a:t>
            </a:r>
            <a:r>
              <a:rPr lang="en-US" sz="1300" dirty="0">
                <a:solidFill>
                  <a:srgbClr val="E6EBF0"/>
                </a:solidFill>
                <a:latin typeface="JetBrains Mono" pitchFamily="49" charset="0"/>
                <a:ea typeface="JetBrains Mono" pitchFamily="49" charset="-122"/>
                <a:cs typeface="JetBrains Mono" pitchFamily="49" charset="-120"/>
              </a:rPr>
              <a:t> (micros() - loop_timer &lt; LOOP_TIME_US) { }</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Đã rút gọn — loop thật có chú thích và các kiểm tra giữa các dòng.</a:t>
            </a:r>
            <a:endParaRPr lang="en-US" sz="1450" dirty="0"/>
          </a:p>
        </p:txBody>
      </p:sp>
      <p:sp>
        <p:nvSpPr>
          <p:cNvPr id="6" name="Text 4"/>
          <p:cNvSpPr/>
          <p:nvPr/>
        </p:nvSpPr>
        <p:spPr>
          <a:xfrm>
            <a:off x="7254230" y="2417961"/>
            <a:ext cx="4248719" cy="79871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Thứ tự quan trọng</a:t>
            </a:r>
            <a:r>
              <a:rPr lang="en-US" sz="1450" dirty="0">
                <a:solidFill>
                  <a:srgbClr val="13202E"/>
                </a:solidFill>
                <a:latin typeface="IBM Plex Sans" pitchFamily="34" charset="0"/>
                <a:ea typeface="IBM Plex Sans" pitchFamily="34" charset="-122"/>
                <a:cs typeface="IBM Plex Sans" pitchFamily="34" charset="-120"/>
              </a:rPr>
              <a:t>: kiểm tra an toàn chạy trước cảm biến và điều khiển, nên mất kết nối sẽ dừng động cơ ngay trong vòng đó.</a:t>
            </a:r>
            <a:endParaRPr lang="en-US" sz="145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46 · Nguồn: loop() (rút gọn)</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Dữ liệu chạy qua một vòng thế nào</a:t>
            </a:r>
            <a:endParaRPr lang="en-US" sz="3000" dirty="0"/>
          </a:p>
        </p:txBody>
      </p:sp>
      <p:sp>
        <p:nvSpPr>
          <p:cNvPr id="4" name="Shape 2"/>
          <p:cNvSpPr/>
          <p:nvPr/>
        </p:nvSpPr>
        <p:spPr>
          <a:xfrm>
            <a:off x="819150" y="1781770"/>
            <a:ext cx="1367334" cy="1277590"/>
          </a:xfrm>
          <a:prstGeom prst="roundRect">
            <a:avLst>
              <a:gd name="adj" fmla="val 7455"/>
            </a:avLst>
          </a:prstGeom>
          <a:solidFill>
            <a:srgbClr val="FDFCF8"/>
          </a:solidFill>
          <a:ln w="12700">
            <a:solidFill>
              <a:srgbClr val="E2DFD6"/>
            </a:solidFill>
            <a:prstDash val="solid"/>
          </a:ln>
        </p:spPr>
      </p:sp>
      <p:sp>
        <p:nvSpPr>
          <p:cNvPr id="5" name="Text 3"/>
          <p:cNvSpPr/>
          <p:nvPr/>
        </p:nvSpPr>
        <p:spPr>
          <a:xfrm>
            <a:off x="965200" y="1965920"/>
            <a:ext cx="11260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Đầu vào</a:t>
            </a:r>
            <a:endParaRPr lang="en-US" sz="1500" dirty="0"/>
          </a:p>
        </p:txBody>
      </p:sp>
      <p:sp>
        <p:nvSpPr>
          <p:cNvPr id="6" name="Text 4"/>
          <p:cNvSpPr/>
          <p:nvPr/>
        </p:nvSpPr>
        <p:spPr>
          <a:xfrm>
            <a:off x="965200" y="2258020"/>
            <a:ext cx="1126034"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Cần SBUS hoặc CRTP từ điện thoại</a:t>
            </a:r>
            <a:endParaRPr lang="en-US" sz="1200" dirty="0"/>
          </a:p>
        </p:txBody>
      </p:sp>
      <p:sp>
        <p:nvSpPr>
          <p:cNvPr id="7" name="Text 5"/>
          <p:cNvSpPr/>
          <p:nvPr/>
        </p:nvSpPr>
        <p:spPr>
          <a:xfrm>
            <a:off x="2269034" y="2207220"/>
            <a:ext cx="36576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8" name="Shape 6"/>
          <p:cNvSpPr/>
          <p:nvPr/>
        </p:nvSpPr>
        <p:spPr>
          <a:xfrm>
            <a:off x="2656384" y="1781770"/>
            <a:ext cx="1367383" cy="1277590"/>
          </a:xfrm>
          <a:prstGeom prst="roundRect">
            <a:avLst>
              <a:gd name="adj" fmla="val 7455"/>
            </a:avLst>
          </a:prstGeom>
          <a:solidFill>
            <a:srgbClr val="FDFCF8"/>
          </a:solidFill>
          <a:ln w="12700">
            <a:solidFill>
              <a:srgbClr val="E2DFD6"/>
            </a:solidFill>
            <a:prstDash val="solid"/>
          </a:ln>
        </p:spPr>
      </p:sp>
      <p:sp>
        <p:nvSpPr>
          <p:cNvPr id="9" name="Text 7"/>
          <p:cNvSpPr/>
          <p:nvPr/>
        </p:nvSpPr>
        <p:spPr>
          <a:xfrm>
            <a:off x="2802434" y="1965920"/>
            <a:ext cx="1126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Setpoint</a:t>
            </a:r>
            <a:endParaRPr lang="en-US" sz="1500" dirty="0"/>
          </a:p>
        </p:txBody>
      </p:sp>
      <p:sp>
        <p:nvSpPr>
          <p:cNvPr id="10" name="Text 8"/>
          <p:cNvSpPr/>
          <p:nvPr/>
        </p:nvSpPr>
        <p:spPr>
          <a:xfrm>
            <a:off x="2802434" y="2258020"/>
            <a:ext cx="1126083"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flightSetpoints(): góc và tốc độ mục tiêu</a:t>
            </a:r>
            <a:endParaRPr lang="en-US" sz="1200" dirty="0"/>
          </a:p>
        </p:txBody>
      </p:sp>
      <p:sp>
        <p:nvSpPr>
          <p:cNvPr id="11" name="Text 9"/>
          <p:cNvSpPr/>
          <p:nvPr/>
        </p:nvSpPr>
        <p:spPr>
          <a:xfrm>
            <a:off x="4106317" y="2207220"/>
            <a:ext cx="36576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12" name="Shape 10"/>
          <p:cNvSpPr/>
          <p:nvPr/>
        </p:nvSpPr>
        <p:spPr>
          <a:xfrm>
            <a:off x="4493667" y="1781770"/>
            <a:ext cx="1367334" cy="1277590"/>
          </a:xfrm>
          <a:prstGeom prst="roundRect">
            <a:avLst>
              <a:gd name="adj" fmla="val 7455"/>
            </a:avLst>
          </a:prstGeom>
          <a:solidFill>
            <a:srgbClr val="FDFCF8"/>
          </a:solidFill>
          <a:ln w="12700">
            <a:solidFill>
              <a:srgbClr val="E2DFD6"/>
            </a:solidFill>
            <a:prstDash val="solid"/>
          </a:ln>
        </p:spPr>
      </p:sp>
      <p:sp>
        <p:nvSpPr>
          <p:cNvPr id="13" name="Text 11"/>
          <p:cNvSpPr/>
          <p:nvPr/>
        </p:nvSpPr>
        <p:spPr>
          <a:xfrm>
            <a:off x="4639717" y="1965920"/>
            <a:ext cx="12149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Tự cân bằng</a:t>
            </a:r>
            <a:endParaRPr lang="en-US" sz="1500" dirty="0"/>
          </a:p>
        </p:txBody>
      </p:sp>
      <p:sp>
        <p:nvSpPr>
          <p:cNvPr id="14" name="Text 12"/>
          <p:cNvSpPr/>
          <p:nvPr/>
        </p:nvSpPr>
        <p:spPr>
          <a:xfrm>
            <a:off x="4639717" y="2258020"/>
            <a:ext cx="112603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sai số góc → tốc độ mục tiêu</a:t>
            </a:r>
            <a:endParaRPr lang="en-US" sz="1200" dirty="0"/>
          </a:p>
        </p:txBody>
      </p:sp>
      <p:sp>
        <p:nvSpPr>
          <p:cNvPr id="15" name="Text 13"/>
          <p:cNvSpPr/>
          <p:nvPr/>
        </p:nvSpPr>
        <p:spPr>
          <a:xfrm>
            <a:off x="5943550" y="2207220"/>
            <a:ext cx="36576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16" name="Shape 14"/>
          <p:cNvSpPr/>
          <p:nvPr/>
        </p:nvSpPr>
        <p:spPr>
          <a:xfrm>
            <a:off x="6330900" y="1781770"/>
            <a:ext cx="1367383" cy="1277590"/>
          </a:xfrm>
          <a:prstGeom prst="roundRect">
            <a:avLst>
              <a:gd name="adj" fmla="val 7455"/>
            </a:avLst>
          </a:prstGeom>
          <a:solidFill>
            <a:srgbClr val="FDFCF8"/>
          </a:solidFill>
          <a:ln w="12700">
            <a:solidFill>
              <a:srgbClr val="E2DFD6"/>
            </a:solidFill>
            <a:prstDash val="solid"/>
          </a:ln>
        </p:spPr>
      </p:sp>
      <p:sp>
        <p:nvSpPr>
          <p:cNvPr id="17" name="Text 15"/>
          <p:cNvSpPr/>
          <p:nvPr/>
        </p:nvSpPr>
        <p:spPr>
          <a:xfrm>
            <a:off x="6476950" y="1965920"/>
            <a:ext cx="1126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PID</a:t>
            </a:r>
            <a:endParaRPr lang="en-US" sz="1500" dirty="0"/>
          </a:p>
        </p:txBody>
      </p:sp>
      <p:sp>
        <p:nvSpPr>
          <p:cNvPr id="18" name="Text 16"/>
          <p:cNvSpPr/>
          <p:nvPr/>
        </p:nvSpPr>
        <p:spPr>
          <a:xfrm>
            <a:off x="6476950" y="2258020"/>
            <a:ext cx="11260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sai số tốc độ → lệnh sửa</a:t>
            </a:r>
            <a:endParaRPr lang="en-US" sz="1200" dirty="0"/>
          </a:p>
        </p:txBody>
      </p:sp>
      <p:sp>
        <p:nvSpPr>
          <p:cNvPr id="19" name="Text 17"/>
          <p:cNvSpPr/>
          <p:nvPr/>
        </p:nvSpPr>
        <p:spPr>
          <a:xfrm>
            <a:off x="7780834" y="2207220"/>
            <a:ext cx="36576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20" name="Shape 18"/>
          <p:cNvSpPr/>
          <p:nvPr/>
        </p:nvSpPr>
        <p:spPr>
          <a:xfrm>
            <a:off x="8168184" y="1781770"/>
            <a:ext cx="1367383" cy="1277590"/>
          </a:xfrm>
          <a:prstGeom prst="roundRect">
            <a:avLst>
              <a:gd name="adj" fmla="val 7455"/>
            </a:avLst>
          </a:prstGeom>
          <a:solidFill>
            <a:srgbClr val="FDFCF8"/>
          </a:solidFill>
          <a:ln w="12700">
            <a:solidFill>
              <a:srgbClr val="E2DFD6"/>
            </a:solidFill>
            <a:prstDash val="solid"/>
          </a:ln>
        </p:spPr>
      </p:sp>
      <p:sp>
        <p:nvSpPr>
          <p:cNvPr id="21" name="Text 19"/>
          <p:cNvSpPr/>
          <p:nvPr/>
        </p:nvSpPr>
        <p:spPr>
          <a:xfrm>
            <a:off x="8314234" y="1965920"/>
            <a:ext cx="1126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Bộ trộn</a:t>
            </a:r>
            <a:endParaRPr lang="en-US" sz="1500" dirty="0"/>
          </a:p>
        </p:txBody>
      </p:sp>
      <p:sp>
        <p:nvSpPr>
          <p:cNvPr id="22" name="Text 20"/>
          <p:cNvSpPr/>
          <p:nvPr/>
        </p:nvSpPr>
        <p:spPr>
          <a:xfrm>
            <a:off x="8314234" y="2258020"/>
            <a:ext cx="11260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lệnh sửa → 4 động cơ</a:t>
            </a:r>
            <a:endParaRPr lang="en-US" sz="1200" dirty="0"/>
          </a:p>
        </p:txBody>
      </p:sp>
      <p:sp>
        <p:nvSpPr>
          <p:cNvPr id="23" name="Text 21"/>
          <p:cNvSpPr/>
          <p:nvPr/>
        </p:nvSpPr>
        <p:spPr>
          <a:xfrm>
            <a:off x="9618117" y="2207220"/>
            <a:ext cx="36576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24" name="Shape 22"/>
          <p:cNvSpPr/>
          <p:nvPr/>
        </p:nvSpPr>
        <p:spPr>
          <a:xfrm>
            <a:off x="10005467" y="1781770"/>
            <a:ext cx="1367383" cy="1277590"/>
          </a:xfrm>
          <a:prstGeom prst="roundRect">
            <a:avLst>
              <a:gd name="adj" fmla="val 7455"/>
            </a:avLst>
          </a:prstGeom>
          <a:solidFill>
            <a:srgbClr val="FDFCF8"/>
          </a:solidFill>
          <a:ln w="12700">
            <a:solidFill>
              <a:srgbClr val="E2DFD6"/>
            </a:solidFill>
            <a:prstDash val="solid"/>
          </a:ln>
        </p:spPr>
      </p:sp>
      <p:sp>
        <p:nvSpPr>
          <p:cNvPr id="25" name="Text 23"/>
          <p:cNvSpPr/>
          <p:nvPr/>
        </p:nvSpPr>
        <p:spPr>
          <a:xfrm>
            <a:off x="10151517" y="1965920"/>
            <a:ext cx="112608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PWM</a:t>
            </a:r>
            <a:endParaRPr lang="en-US" sz="1500" dirty="0"/>
          </a:p>
        </p:txBody>
      </p:sp>
      <p:sp>
        <p:nvSpPr>
          <p:cNvPr id="26" name="Text 24"/>
          <p:cNvSpPr/>
          <p:nvPr/>
        </p:nvSpPr>
        <p:spPr>
          <a:xfrm>
            <a:off x="10151517" y="2258020"/>
            <a:ext cx="1126083"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duty tới MOSFET</a:t>
            </a:r>
            <a:endParaRPr lang="en-US" sz="1200" dirty="0"/>
          </a:p>
        </p:txBody>
      </p:sp>
      <p:sp>
        <p:nvSpPr>
          <p:cNvPr id="27" name="Text 25"/>
          <p:cNvSpPr/>
          <p:nvPr/>
        </p:nvSpPr>
        <p:spPr>
          <a:xfrm>
            <a:off x="812800" y="331971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Dữ liệu cảm biến vào hai lần: góc ở bước tự cân bằng, tốc độ gyro ở PID.</a:t>
            </a:r>
            <a:endParaRPr lang="en-US" sz="1500" dirty="0"/>
          </a:p>
        </p:txBody>
      </p:sp>
      <p:sp>
        <p:nvSpPr>
          <p:cNvPr id="28" name="Shape 26"/>
          <p:cNvSpPr/>
          <p:nvPr/>
        </p:nvSpPr>
        <p:spPr>
          <a:xfrm>
            <a:off x="812800" y="3840411"/>
            <a:ext cx="10566400" cy="1302941"/>
          </a:xfrm>
          <a:prstGeom prst="roundRect">
            <a:avLst>
              <a:gd name="adj" fmla="val 7798"/>
            </a:avLst>
          </a:prstGeom>
          <a:solidFill>
            <a:srgbClr val="13202E"/>
          </a:solidFill>
          <a:ln/>
        </p:spPr>
      </p:sp>
      <p:sp>
        <p:nvSpPr>
          <p:cNvPr id="29" name="Text 27"/>
          <p:cNvSpPr/>
          <p:nvPr/>
        </p:nvSpPr>
        <p:spPr>
          <a:xfrm>
            <a:off x="1117600" y="40690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30" name="Text 28"/>
          <p:cNvSpPr/>
          <p:nvPr/>
        </p:nvSpPr>
        <p:spPr>
          <a:xfrm>
            <a:off x="1117600" y="4345831"/>
            <a:ext cx="1025550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Cần sang phải → sp_roll_rate +50 °/s → gyro báo 0 → sai số −50 → đầu ra PID → động cơ phải/trái thay đổi → drone bắt đầu lăn.</a:t>
            </a:r>
            <a:endParaRPr lang="en-US" sz="1600" dirty="0"/>
          </a:p>
        </p:txBody>
      </p:sp>
      <p:sp>
        <p:nvSpPr>
          <p:cNvPr id="31" name="Text 2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47 · Nguồn: loop()</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Nhịp cứng 250 Hz</a:t>
            </a:r>
            <a:endParaRPr lang="en-US" sz="3000" dirty="0"/>
          </a:p>
        </p:txBody>
      </p:sp>
      <p:sp>
        <p:nvSpPr>
          <p:cNvPr id="4" name="Text 2"/>
          <p:cNvSpPr/>
          <p:nvPr/>
        </p:nvSpPr>
        <p:spPr>
          <a:xfrm>
            <a:off x="812800" y="1775420"/>
            <a:ext cx="6187430" cy="1549400"/>
          </a:xfrm>
          <a:prstGeom prst="roundRect">
            <a:avLst>
              <a:gd name="adj" fmla="val 6557"/>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 hard 250 Hz pacing ----</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while</a:t>
            </a:r>
            <a:r>
              <a:rPr lang="en-US" sz="1500" dirty="0">
                <a:solidFill>
                  <a:srgbClr val="E6EBF0"/>
                </a:solidFill>
                <a:latin typeface="JetBrains Mono" pitchFamily="49" charset="0"/>
                <a:ea typeface="JetBrains Mono" pitchFamily="49" charset="-122"/>
                <a:cs typeface="JetBrains Mono" pitchFamily="49" charset="-120"/>
              </a:rPr>
              <a:t> (micros() - loop_timer &lt; LOOP_TIME_US) { /* spin */ }</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loop_timer = micros();</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Chờ bận</a:t>
            </a:r>
            <a:r>
              <a:rPr lang="en-US" sz="1450" dirty="0">
                <a:solidFill>
                  <a:srgbClr val="13202E"/>
                </a:solidFill>
                <a:latin typeface="IBM Plex Sans" pitchFamily="34" charset="0"/>
                <a:ea typeface="IBM Plex Sans" pitchFamily="34" charset="-122"/>
                <a:cs typeface="IBM Plex Sans" pitchFamily="34" charset="-120"/>
              </a:rPr>
              <a:t>: CPU quay vòng cho tới khi đúng 4 ms kể từ vòng trước.</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Vì sao cần đúng giờ?</a:t>
            </a:r>
            <a:r>
              <a:rPr lang="en-US" sz="1450" dirty="0">
                <a:solidFill>
                  <a:srgbClr val="13202E"/>
                </a:solidFill>
                <a:latin typeface="IBM Plex Sans" pitchFamily="34" charset="0"/>
                <a:ea typeface="IBM Plex Sans" pitchFamily="34" charset="-122"/>
                <a:cs typeface="IBM Plex Sans" pitchFamily="34" charset="-120"/>
              </a:rPr>
              <a:t> Gyro được tích phân với dt cố định 0,004 s. Vòng dài sai thì góc sai.</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An toàn khi tràn số</a:t>
            </a:r>
            <a:r>
              <a:rPr lang="en-US" sz="1450" dirty="0">
                <a:solidFill>
                  <a:srgbClr val="13202E"/>
                </a:solidFill>
                <a:latin typeface="IBM Plex Sans" pitchFamily="34" charset="0"/>
                <a:ea typeface="IBM Plex Sans" pitchFamily="34" charset="-122"/>
                <a:cs typeface="IBM Plex Sans" pitchFamily="34" charset="-120"/>
              </a:rPr>
              <a:t>: phép trừ không dấu vẫn đúng khi micros() quay vòng sau ~71 phút.</a:t>
            </a:r>
            <a:endParaRPr lang="en-US" sz="1450" dirty="0"/>
          </a:p>
        </p:txBody>
      </p:sp>
      <p:sp>
        <p:nvSpPr>
          <p:cNvPr id="8" name="Shape 6"/>
          <p:cNvSpPr/>
          <p:nvPr/>
        </p:nvSpPr>
        <p:spPr>
          <a:xfrm>
            <a:off x="812800" y="3830042"/>
            <a:ext cx="10566400" cy="1018480"/>
          </a:xfrm>
          <a:prstGeom prst="roundRect">
            <a:avLst>
              <a:gd name="adj" fmla="val 9976"/>
            </a:avLst>
          </a:prstGeom>
          <a:solidFill>
            <a:srgbClr val="13202E"/>
          </a:solidFill>
          <a:ln/>
        </p:spPr>
      </p:sp>
      <p:sp>
        <p:nvSpPr>
          <p:cNvPr id="9" name="Text 7"/>
          <p:cNvSpPr/>
          <p:nvPr/>
        </p:nvSpPr>
        <p:spPr>
          <a:xfrm>
            <a:off x="1117600" y="405864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335463"/>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Vòng này làm việc mất 1,3 ms → chờ 2,7 ms. Vòng sau mất 2,1 ms → chờ 1,9 ms. Chu kỳ vẫn là 4 ms.</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48 · Nguồn: cuối loop()</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Đầu vào: ai có thể lái drone</a:t>
            </a:r>
            <a:endParaRPr lang="en-US" sz="3000" dirty="0"/>
          </a:p>
        </p:txBody>
      </p:sp>
      <p:sp>
        <p:nvSpPr>
          <p:cNvPr id="4" name="Shape 2"/>
          <p:cNvSpPr/>
          <p:nvPr/>
        </p:nvSpPr>
        <p:spPr>
          <a:xfrm>
            <a:off x="819150" y="1781770"/>
            <a:ext cx="3390900" cy="1841351"/>
          </a:xfrm>
          <a:prstGeom prst="roundRect">
            <a:avLst>
              <a:gd name="adj" fmla="val 5173"/>
            </a:avLst>
          </a:prstGeom>
          <a:solidFill>
            <a:srgbClr val="FDFCF8"/>
          </a:solidFill>
          <a:ln w="12700">
            <a:solidFill>
              <a:srgbClr val="E2DFD6"/>
            </a:solidFill>
            <a:prstDash val="solid"/>
          </a:ln>
        </p:spPr>
      </p:sp>
      <p:sp>
        <p:nvSpPr>
          <p:cNvPr id="5" name="Text 3"/>
          <p:cNvSpPr/>
          <p:nvPr/>
        </p:nvSpPr>
        <p:spPr>
          <a:xfrm>
            <a:off x="1079500" y="2016720"/>
            <a:ext cx="2956306"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Ứng dụng điện thoại (CRTP)</a:t>
            </a:r>
            <a:endParaRPr lang="en-US" sz="1800" dirty="0"/>
          </a:p>
        </p:txBody>
      </p:sp>
      <p:sp>
        <p:nvSpPr>
          <p:cNvPr id="6" name="Text 4"/>
          <p:cNvSpPr/>
          <p:nvPr/>
        </p:nvSpPr>
        <p:spPr>
          <a:xfrm>
            <a:off x="1079500" y="264150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Qua Wi-Fi UDP, Bluetooth Classic SPP hoặc BLE. Thắng khi kết nối còn sống.</a:t>
            </a:r>
            <a:endParaRPr lang="en-US" sz="1400" dirty="0"/>
          </a:p>
        </p:txBody>
      </p:sp>
      <p:sp>
        <p:nvSpPr>
          <p:cNvPr id="7" name="Shape 5"/>
          <p:cNvSpPr/>
          <p:nvPr/>
        </p:nvSpPr>
        <p:spPr>
          <a:xfrm>
            <a:off x="4400550" y="1781770"/>
            <a:ext cx="3390900" cy="1841351"/>
          </a:xfrm>
          <a:prstGeom prst="roundRect">
            <a:avLst>
              <a:gd name="adj" fmla="val 5173"/>
            </a:avLst>
          </a:prstGeom>
          <a:solidFill>
            <a:srgbClr val="FDFCF8"/>
          </a:solidFill>
          <a:ln w="12700">
            <a:solidFill>
              <a:srgbClr val="E2DFD6"/>
            </a:solidFill>
            <a:prstDash val="solid"/>
          </a:ln>
        </p:spPr>
      </p:sp>
      <p:sp>
        <p:nvSpPr>
          <p:cNvPr id="8" name="Text 6"/>
          <p:cNvSpPr/>
          <p:nvPr/>
        </p:nvSpPr>
        <p:spPr>
          <a:xfrm>
            <a:off x="46609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Máy thu RC (SBUS)</a:t>
            </a:r>
            <a:endParaRPr lang="en-US" sz="1800" dirty="0"/>
          </a:p>
        </p:txBody>
      </p:sp>
      <p:sp>
        <p:nvSpPr>
          <p:cNvPr id="9" name="Text 7"/>
          <p:cNvSpPr/>
          <p:nvPr/>
        </p:nvSpPr>
        <p:spPr>
          <a:xfrm>
            <a:off x="46609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Tùy chọn. Dùng khi điện thoại im lặng. Luôn ở chế độ rate thủ công.</a:t>
            </a:r>
            <a:endParaRPr lang="en-US" sz="1400" dirty="0"/>
          </a:p>
        </p:txBody>
      </p:sp>
      <p:sp>
        <p:nvSpPr>
          <p:cNvPr id="10" name="Shape 8"/>
          <p:cNvSpPr/>
          <p:nvPr/>
        </p:nvSpPr>
        <p:spPr>
          <a:xfrm>
            <a:off x="7981950" y="1781770"/>
            <a:ext cx="3390900" cy="1841351"/>
          </a:xfrm>
          <a:prstGeom prst="roundRect">
            <a:avLst>
              <a:gd name="adj" fmla="val 5173"/>
            </a:avLst>
          </a:prstGeom>
          <a:solidFill>
            <a:srgbClr val="FDFCF8"/>
          </a:solidFill>
          <a:ln w="12700">
            <a:solidFill>
              <a:srgbClr val="E2DFD6"/>
            </a:solidFill>
            <a:prstDash val="solid"/>
          </a:ln>
        </p:spPr>
      </p:sp>
      <p:sp>
        <p:nvSpPr>
          <p:cNvPr id="11" name="Text 9"/>
          <p:cNvSpPr/>
          <p:nvPr/>
        </p:nvSpPr>
        <p:spPr>
          <a:xfrm>
            <a:off x="82423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Cổng serial</a:t>
            </a:r>
            <a:endParaRPr lang="en-US" sz="1800" dirty="0"/>
          </a:p>
        </p:txBody>
      </p:sp>
      <p:sp>
        <p:nvSpPr>
          <p:cNvPr id="12" name="Text 10"/>
          <p:cNvSpPr/>
          <p:nvPr/>
        </p:nvSpPr>
        <p:spPr>
          <a:xfrm>
            <a:off x="82423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Cáp USB, để cài đặt trên bàn: link, sta, save, load, defaults, status.</a:t>
            </a:r>
            <a:endParaRPr lang="en-US" sz="1400" dirty="0"/>
          </a:p>
        </p:txBody>
      </p:sp>
      <p:sp>
        <p:nvSpPr>
          <p:cNvPr id="13" name="Shape 11"/>
          <p:cNvSpPr/>
          <p:nvPr/>
        </p:nvSpPr>
        <p:spPr>
          <a:xfrm>
            <a:off x="812800" y="3883471"/>
            <a:ext cx="10566400" cy="1302941"/>
          </a:xfrm>
          <a:prstGeom prst="roundRect">
            <a:avLst>
              <a:gd name="adj" fmla="val 7798"/>
            </a:avLst>
          </a:prstGeom>
          <a:solidFill>
            <a:srgbClr val="13202E"/>
          </a:solidFill>
          <a:ln/>
        </p:spPr>
      </p:sp>
      <p:sp>
        <p:nvSpPr>
          <p:cNvPr id="14" name="Text 12"/>
          <p:cNvSpPr/>
          <p:nvPr/>
        </p:nvSpPr>
        <p:spPr>
          <a:xfrm>
            <a:off x="1117600" y="411207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5" name="Text 13"/>
          <p:cNvSpPr/>
          <p:nvPr/>
        </p:nvSpPr>
        <p:spPr>
          <a:xfrm>
            <a:off x="1117600" y="4388892"/>
            <a:ext cx="1025550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Điện thoại kết nối và đang gửi → điện thoại lái. Ứng dụng tắt 0,5 s → SBUS tiếp quản nếu có máy thu; nếu không, failsafe dừng động cơ.</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49 · Nguồn: rx_ok / use_crtp trong loop()</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Đầu ra: firmware tạo ra gì</a:t>
            </a:r>
            <a:endParaRPr lang="en-US" sz="3000" dirty="0"/>
          </a:p>
        </p:txBody>
      </p:sp>
      <p:sp>
        <p:nvSpPr>
          <p:cNvPr id="4" name="Shape 2"/>
          <p:cNvSpPr/>
          <p:nvPr/>
        </p:nvSpPr>
        <p:spPr>
          <a:xfrm>
            <a:off x="819150" y="1781770"/>
            <a:ext cx="3390900" cy="1318171"/>
          </a:xfrm>
          <a:prstGeom prst="roundRect">
            <a:avLst>
              <a:gd name="adj" fmla="val 7226"/>
            </a:avLst>
          </a:prstGeom>
          <a:solidFill>
            <a:srgbClr val="FDFCF8"/>
          </a:solidFill>
          <a:ln w="12700">
            <a:solidFill>
              <a:srgbClr val="E2DFD6"/>
            </a:solidFill>
            <a:prstDash val="solid"/>
          </a:ln>
        </p:spPr>
      </p:sp>
      <p:sp>
        <p:nvSpPr>
          <p:cNvPr id="5" name="Text 3"/>
          <p:cNvSpPr/>
          <p:nvPr/>
        </p:nvSpPr>
        <p:spPr>
          <a:xfrm>
            <a:off x="10795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PWM động cơ</a:t>
            </a:r>
            <a:endParaRPr lang="en-US" sz="1800" dirty="0"/>
          </a:p>
        </p:txBody>
      </p:sp>
      <p:sp>
        <p:nvSpPr>
          <p:cNvPr id="6" name="Text 4"/>
          <p:cNvSpPr/>
          <p:nvPr/>
        </p:nvSpPr>
        <p:spPr>
          <a:xfrm>
            <a:off x="10795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Bốn giá trị duty, mỗi 4 ms. Đầu ra duy nhất làm drone chuyển động.</a:t>
            </a:r>
            <a:endParaRPr lang="en-US" sz="1400" dirty="0"/>
          </a:p>
        </p:txBody>
      </p:sp>
      <p:sp>
        <p:nvSpPr>
          <p:cNvPr id="7" name="Shape 5"/>
          <p:cNvSpPr/>
          <p:nvPr/>
        </p:nvSpPr>
        <p:spPr>
          <a:xfrm>
            <a:off x="4400550" y="1781770"/>
            <a:ext cx="3390900" cy="1318171"/>
          </a:xfrm>
          <a:prstGeom prst="roundRect">
            <a:avLst>
              <a:gd name="adj" fmla="val 7226"/>
            </a:avLst>
          </a:prstGeom>
          <a:solidFill>
            <a:srgbClr val="FDFCF8"/>
          </a:solidFill>
          <a:ln w="12700">
            <a:solidFill>
              <a:srgbClr val="E2DFD6"/>
            </a:solidFill>
            <a:prstDash val="solid"/>
          </a:ln>
        </p:spPr>
      </p:sp>
      <p:sp>
        <p:nvSpPr>
          <p:cNvPr id="8" name="Text 6"/>
          <p:cNvSpPr/>
          <p:nvPr/>
        </p:nvSpPr>
        <p:spPr>
          <a:xfrm>
            <a:off x="46609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Phản hồi + log CRTP</a:t>
            </a:r>
            <a:endParaRPr lang="en-US" sz="1800" dirty="0"/>
          </a:p>
        </p:txBody>
      </p:sp>
      <p:sp>
        <p:nvSpPr>
          <p:cNvPr id="9" name="Text 7"/>
          <p:cNvSpPr/>
          <p:nvPr/>
        </p:nvSpPr>
        <p:spPr>
          <a:xfrm>
            <a:off x="46609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Xác nhận lệnh, giá trị tham số, và tối đa 3 luồng log về điện thoại.</a:t>
            </a:r>
            <a:endParaRPr lang="en-US" sz="1400" dirty="0"/>
          </a:p>
        </p:txBody>
      </p:sp>
      <p:sp>
        <p:nvSpPr>
          <p:cNvPr id="10" name="Shape 8"/>
          <p:cNvSpPr/>
          <p:nvPr/>
        </p:nvSpPr>
        <p:spPr>
          <a:xfrm>
            <a:off x="7981950" y="1781770"/>
            <a:ext cx="3390900" cy="1318171"/>
          </a:xfrm>
          <a:prstGeom prst="roundRect">
            <a:avLst>
              <a:gd name="adj" fmla="val 7226"/>
            </a:avLst>
          </a:prstGeom>
          <a:solidFill>
            <a:srgbClr val="FDFCF8"/>
          </a:solidFill>
          <a:ln w="12700">
            <a:solidFill>
              <a:srgbClr val="E2DFD6"/>
            </a:solidFill>
            <a:prstDash val="solid"/>
          </a:ln>
        </p:spPr>
      </p:sp>
      <p:sp>
        <p:nvSpPr>
          <p:cNvPr id="11" name="Text 9"/>
          <p:cNvSpPr/>
          <p:nvPr/>
        </p:nvSpPr>
        <p:spPr>
          <a:xfrm>
            <a:off x="82423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Telemetry serial</a:t>
            </a:r>
            <a:endParaRPr lang="en-US" sz="1800" dirty="0"/>
          </a:p>
        </p:txBody>
      </p:sp>
      <p:sp>
        <p:nvSpPr>
          <p:cNvPr id="12" name="Text 10"/>
          <p:cNvSpPr/>
          <p:nvPr/>
        </p:nvSpPr>
        <p:spPr>
          <a:xfrm>
            <a:off x="82423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Một dòng dễ đọc mỗi giây: VBAT, cần điều khiển, góc, động cơ.</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50 · Nguồn: motorWrite(), logUpdate(), telemetry()</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Cấu hình nằm trong các #define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702074"/>
        </p:xfrm>
        <a:graphic>
          <a:graphicData uri="http://schemas.openxmlformats.org/drawingml/2006/table">
            <a:tbl>
              <a:tblPr/>
              <a:tblGrid>
                <a:gridCol w="4010406"/>
                <a:gridCol w="2532888"/>
                <a:gridCol w="4010406"/>
              </a:tblGrid>
              <a:tr h="386011">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#define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Giá trị</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Thay đổi gì</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LOOP_TIME_US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4000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chu kỳ vòng lặp (250 Hz)</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PID_ROLL_KP / KI / KD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1,3 / 0,04 / 18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hệ số roll mặc định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MAX_TILT_DEG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góc nghiêng lệnh lớn nhất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LEVEL_SENSITIVITY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tự cân bằng kéo về mạnh cỡ nào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FAILSAFE_MS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im lặng bao lâu thì dừng động cơ</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VBAT_CELL_CRIT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3,30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điện áp cấm arm và tự hạ cánh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51 · Nguồn: khối #define</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Lưu cài đặt: flash NVS</a:t>
            </a:r>
            <a:endParaRPr lang="en-US" sz="3000" dirty="0"/>
          </a:p>
        </p:txBody>
      </p:sp>
      <p:sp>
        <p:nvSpPr>
          <p:cNvPr id="4" name="Text 2"/>
          <p:cNvSpPr/>
          <p:nvPr/>
        </p:nvSpPr>
        <p:spPr>
          <a:xfrm>
            <a:off x="812800" y="1775420"/>
            <a:ext cx="6187430" cy="2692400"/>
          </a:xfrm>
          <a:prstGeom prst="roundRect">
            <a:avLst>
              <a:gd name="adj" fmla="val 3774"/>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void</a:t>
            </a:r>
            <a:r>
              <a:rPr lang="en-US" sz="1500" dirty="0">
                <a:solidFill>
                  <a:srgbClr val="E6EBF0"/>
                </a:solidFill>
                <a:latin typeface="JetBrains Mono" pitchFamily="49" charset="0"/>
                <a:ea typeface="JetBrains Mono" pitchFamily="49" charset="-122"/>
                <a:cs typeface="JetBrains Mono" pitchFamily="49" charset="-120"/>
              </a:rPr>
              <a:t> cfgSave() {</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g[9] = { pid_p_gain_roll, ... };   </a:t>
            </a:r>
            <a:r>
              <a:rPr lang="en-US" sz="1500" dirty="0">
                <a:solidFill>
                  <a:srgbClr val="8FA3B8"/>
                </a:solidFill>
                <a:latin typeface="JetBrains Mono" pitchFamily="49" charset="0"/>
                <a:ea typeface="JetBrains Mono" pitchFamily="49" charset="-122"/>
                <a:cs typeface="JetBrains Mono" pitchFamily="49" charset="-120"/>
              </a:rPr>
              <a:t>// 9 gains</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uint16_t</a:t>
            </a:r>
            <a:r>
              <a:rPr lang="en-US" sz="1500" dirty="0">
                <a:solidFill>
                  <a:srgbClr val="E6EBF0"/>
                </a:solidFill>
                <a:latin typeface="JetBrains Mono" pitchFamily="49" charset="0"/>
                <a:ea typeface="JetBrains Mono" pitchFamily="49" charset="-122"/>
                <a:cs typeface="JetBrains Mono" pitchFamily="49" charset="-120"/>
              </a:rPr>
              <a:t> f[3] = { hover_thrust, takeoff_ms, land_ms };</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nvs.putBytes("pid",  g, sizeof(g));</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nvs.putBytes("fcfg", f, sizeof(f));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NVS</a:t>
            </a:r>
            <a:r>
              <a:rPr lang="en-US" sz="1450" dirty="0">
                <a:solidFill>
                  <a:srgbClr val="13202E"/>
                </a:solidFill>
                <a:latin typeface="IBM Plex Sans" pitchFamily="34" charset="0"/>
                <a:ea typeface="IBM Plex Sans" pitchFamily="34" charset="-122"/>
                <a:cs typeface="IBM Plex Sans" pitchFamily="34" charset="-120"/>
              </a:rPr>
              <a:t> = bộ nhớ không mất khi tắt nguồn: kho khóa–giá trị nhỏ trong flash ESP32.</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Lưu số thực thô</a:t>
            </a:r>
            <a:r>
              <a:rPr lang="en-US" sz="1450" dirty="0">
                <a:solidFill>
                  <a:srgbClr val="13202E"/>
                </a:solidFill>
                <a:latin typeface="IBM Plex Sans" pitchFamily="34" charset="0"/>
                <a:ea typeface="IBM Plex Sans" pitchFamily="34" charset="-122"/>
                <a:cs typeface="IBM Plex Sans" pitchFamily="34" charset="-120"/>
              </a:rPr>
              <a:t>: đọc lại giống hệt từng byte — không làm tròn.</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Bị từ chối khi đang arm</a:t>
            </a:r>
            <a:r>
              <a:rPr lang="en-US" sz="1450" dirty="0">
                <a:solidFill>
                  <a:srgbClr val="13202E"/>
                </a:solidFill>
                <a:latin typeface="IBM Plex Sans" pitchFamily="34" charset="0"/>
                <a:ea typeface="IBM Plex Sans" pitchFamily="34" charset="-122"/>
                <a:cs typeface="IBM Plex Sans" pitchFamily="34" charset="-120"/>
              </a:rPr>
              <a:t>: xóa flash làm cả hai nhân đứng vài mili giây.</a:t>
            </a:r>
            <a:endParaRPr lang="en-US" sz="1450" dirty="0"/>
          </a:p>
        </p:txBody>
      </p:sp>
      <p:sp>
        <p:nvSpPr>
          <p:cNvPr id="8" name="Shape 6"/>
          <p:cNvSpPr/>
          <p:nvPr/>
        </p:nvSpPr>
        <p:spPr>
          <a:xfrm>
            <a:off x="812800" y="4721820"/>
            <a:ext cx="10566400" cy="1018480"/>
          </a:xfrm>
          <a:prstGeom prst="roundRect">
            <a:avLst>
              <a:gd name="adj" fmla="val 9976"/>
            </a:avLst>
          </a:prstGeom>
          <a:solidFill>
            <a:srgbClr val="13202E"/>
          </a:solidFill>
          <a:ln/>
        </p:spPr>
      </p:sp>
      <p:sp>
        <p:nvSpPr>
          <p:cNvPr id="9" name="Text 7"/>
          <p:cNvSpPr/>
          <p:nvPr/>
        </p:nvSpPr>
        <p:spPr>
          <a:xfrm>
            <a:off x="1117600" y="495042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522724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Chỉnh roll_kp thành 1,5 trên điện thoại, hạ cánh, nhấn Save → giá trị còn sau lần tắt nguồn tới.</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52 · Nguồn: cfgSave(), cfgLoad(), FC_CMD_SAVE</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cấu hình kết nối điện thoại</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795488"/>
        </p:xfrm>
        <a:graphic>
          <a:graphicData uri="http://schemas.openxmlformats.org/drawingml/2006/table">
            <a:tbl>
              <a:tblPr/>
              <a:tblGrid>
                <a:gridCol w="844296"/>
                <a:gridCol w="5487924"/>
                <a:gridCol w="4221480"/>
              </a:tblGrid>
              <a:tr h="399355">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Cấu hình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Phù hợp khi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Wi-Fi điểm phát (drone là hotspot)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mặc định; đơn giản nhất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Wi-Fi station (vào router nhà bạn)</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điện thoại vẫn dùng Wi-Fi nhà</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Bluetooth Classic SPP</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điện thoại Android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3</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Bluetooth Low Energy</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iPhone (iOS không có SPP)</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Wi-Fi điểm phát + BLE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hai đường vào cùng lúc</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Wi-Fi station + BLE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router kèm BLE dự phòng</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53 · Nguồn: #define LINK_MODE_*</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KIẾN TRÚC</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Bốn nguyên tắc thiết kế bạn sẽ thấy khắp nơi</a:t>
            </a:r>
            <a:endParaRPr lang="en-US" sz="3000" dirty="0"/>
          </a:p>
        </p:txBody>
      </p:sp>
      <p:sp>
        <p:nvSpPr>
          <p:cNvPr id="4" name="Shape 2"/>
          <p:cNvSpPr/>
          <p:nvPr/>
        </p:nvSpPr>
        <p:spPr>
          <a:xfrm>
            <a:off x="819150" y="1781770"/>
            <a:ext cx="2495550" cy="1788071"/>
          </a:xfrm>
          <a:prstGeom prst="roundRect">
            <a:avLst>
              <a:gd name="adj" fmla="val 5327"/>
            </a:avLst>
          </a:prstGeom>
          <a:solidFill>
            <a:srgbClr val="FDFCF8"/>
          </a:solidFill>
          <a:ln w="12700">
            <a:solidFill>
              <a:srgbClr val="E2DFD6"/>
            </a:solidFill>
            <a:prstDash val="solid"/>
          </a:ln>
        </p:spPr>
      </p:sp>
      <p:sp>
        <p:nvSpPr>
          <p:cNvPr id="5" name="Text 3"/>
          <p:cNvSpPr/>
          <p:nvPr/>
        </p:nvSpPr>
        <p:spPr>
          <a:xfrm>
            <a:off x="1079500" y="2016720"/>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An toàn trước trong vòng lặp</a:t>
            </a:r>
            <a:endParaRPr lang="en-US" sz="1800" dirty="0"/>
          </a:p>
        </p:txBody>
      </p:sp>
      <p:sp>
        <p:nvSpPr>
          <p:cNvPr id="6" name="Text 4"/>
          <p:cNvSpPr/>
          <p:nvPr/>
        </p:nvSpPr>
        <p:spPr>
          <a:xfrm>
            <a:off x="1079500" y="2641501"/>
            <a:ext cx="20340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Failsafe và arm chạy trước điều khiển, mỗi vòng.</a:t>
            </a:r>
            <a:endParaRPr lang="en-US" sz="1300" dirty="0"/>
          </a:p>
        </p:txBody>
      </p:sp>
      <p:sp>
        <p:nvSpPr>
          <p:cNvPr id="7" name="Shape 5"/>
          <p:cNvSpPr/>
          <p:nvPr/>
        </p:nvSpPr>
        <p:spPr>
          <a:xfrm>
            <a:off x="3505200" y="1781770"/>
            <a:ext cx="2495550" cy="1788071"/>
          </a:xfrm>
          <a:prstGeom prst="roundRect">
            <a:avLst>
              <a:gd name="adj" fmla="val 5327"/>
            </a:avLst>
          </a:prstGeom>
          <a:solidFill>
            <a:srgbClr val="FDFCF8"/>
          </a:solidFill>
          <a:ln w="12700">
            <a:solidFill>
              <a:srgbClr val="E2DFD6"/>
            </a:solidFill>
            <a:prstDash val="solid"/>
          </a:ln>
        </p:spPr>
      </p:sp>
      <p:sp>
        <p:nvSpPr>
          <p:cNvPr id="8" name="Text 6"/>
          <p:cNvSpPr/>
          <p:nvPr/>
        </p:nvSpPr>
        <p:spPr>
          <a:xfrm>
            <a:off x="3765550" y="2016720"/>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Trung thực về giới hạn</a:t>
            </a:r>
            <a:endParaRPr lang="en-US" sz="1800" dirty="0"/>
          </a:p>
        </p:txBody>
      </p:sp>
      <p:sp>
        <p:nvSpPr>
          <p:cNvPr id="9" name="Text 7"/>
          <p:cNvSpPr/>
          <p:nvPr/>
        </p:nvSpPr>
        <p:spPr>
          <a:xfrm>
            <a:off x="3765550" y="264150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Không có cảm biến áp suất → không giả độ cao. Chú thích nói rõ.</a:t>
            </a:r>
            <a:endParaRPr lang="en-US" sz="1300" dirty="0"/>
          </a:p>
        </p:txBody>
      </p:sp>
      <p:sp>
        <p:nvSpPr>
          <p:cNvPr id="10" name="Shape 8"/>
          <p:cNvSpPr/>
          <p:nvPr/>
        </p:nvSpPr>
        <p:spPr>
          <a:xfrm>
            <a:off x="6191250" y="1781770"/>
            <a:ext cx="2495550" cy="1788071"/>
          </a:xfrm>
          <a:prstGeom prst="roundRect">
            <a:avLst>
              <a:gd name="adj" fmla="val 5327"/>
            </a:avLst>
          </a:prstGeom>
          <a:solidFill>
            <a:srgbClr val="FDFCF8"/>
          </a:solidFill>
          <a:ln w="12700">
            <a:solidFill>
              <a:srgbClr val="E2DFD6"/>
            </a:solidFill>
            <a:prstDash val="solid"/>
          </a:ln>
        </p:spPr>
      </p:sp>
      <p:sp>
        <p:nvSpPr>
          <p:cNvPr id="11" name="Text 9"/>
          <p:cNvSpPr/>
          <p:nvPr/>
        </p:nvSpPr>
        <p:spPr>
          <a:xfrm>
            <a:off x="6451600" y="2016720"/>
            <a:ext cx="2034095"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Lệnh idempotent</a:t>
            </a:r>
            <a:endParaRPr lang="en-US" sz="1800" dirty="0"/>
          </a:p>
        </p:txBody>
      </p:sp>
      <p:sp>
        <p:nvSpPr>
          <p:cNvPr id="12" name="Text 10"/>
          <p:cNvSpPr/>
          <p:nvPr/>
        </p:nvSpPr>
        <p:spPr>
          <a:xfrm>
            <a:off x="6451600" y="236721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Ứng dụng gửi lại mỗi 500 ms, nên áp dụng một lệnh hai lần phải an toàn.</a:t>
            </a:r>
            <a:endParaRPr lang="en-US" sz="1300" dirty="0"/>
          </a:p>
        </p:txBody>
      </p:sp>
      <p:sp>
        <p:nvSpPr>
          <p:cNvPr id="13" name="Shape 11"/>
          <p:cNvSpPr/>
          <p:nvPr/>
        </p:nvSpPr>
        <p:spPr>
          <a:xfrm>
            <a:off x="8877300" y="1781770"/>
            <a:ext cx="2495550" cy="1788071"/>
          </a:xfrm>
          <a:prstGeom prst="roundRect">
            <a:avLst>
              <a:gd name="adj" fmla="val 5327"/>
            </a:avLst>
          </a:prstGeom>
          <a:solidFill>
            <a:srgbClr val="FDFCF8"/>
          </a:solidFill>
          <a:ln w="12700">
            <a:solidFill>
              <a:srgbClr val="E2DFD6"/>
            </a:solidFill>
            <a:prstDash val="solid"/>
          </a:ln>
        </p:spPr>
      </p:sp>
      <p:sp>
        <p:nvSpPr>
          <p:cNvPr id="14" name="Text 12"/>
          <p:cNvSpPr/>
          <p:nvPr/>
        </p:nvSpPr>
        <p:spPr>
          <a:xfrm>
            <a:off x="9137650" y="2016720"/>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Kiểm thử ghim dòng dễ hỏng</a:t>
            </a:r>
            <a:endParaRPr lang="en-US" sz="1800" dirty="0"/>
          </a:p>
        </p:txBody>
      </p:sp>
      <p:sp>
        <p:nvSpPr>
          <p:cNvPr id="15" name="Text 13"/>
          <p:cNvSpPr/>
          <p:nvPr/>
        </p:nvSpPr>
        <p:spPr>
          <a:xfrm>
            <a:off x="9137650" y="2641501"/>
            <a:ext cx="2034095"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run.sh báo lỗi nếu công thức đã kiểm thử bị đổi trong sketch.</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Kiến trúc · 54 · Nguồn: chú thích Esp32_drone.ino; test/run.sh</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KIẾN TRÚC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setup() tắt động cơ đầu tiên?</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cực gate thả nổi có thể làm gì?</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dùng chờ bận thay vì delay()?</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chu kỳ thay đổi thế nào khi thời gian làm việc thay đổi?</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lệnh phải an toàn khi áp dụng hai lần?</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ứng dụng làm gì khi mất xác nhận?</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SAVE bị từ chối khi đang arm?</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xóa flash mất bao lâu?</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Kiến trúc · 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05</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Đọc cảm biến chuyển động</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Từ các byte SPI thô đến một góc nghiêng đáng tin.</a:t>
            </a:r>
            <a:endParaRPr lang="en-US" sz="2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Đọc ghi một thanh ghi qua SPI</a:t>
            </a:r>
            <a:endParaRPr lang="en-US" sz="3000" dirty="0"/>
          </a:p>
        </p:txBody>
      </p:sp>
      <p:sp>
        <p:nvSpPr>
          <p:cNvPr id="4" name="Text 2"/>
          <p:cNvSpPr/>
          <p:nvPr/>
        </p:nvSpPr>
        <p:spPr>
          <a:xfrm>
            <a:off x="812800" y="1775420"/>
            <a:ext cx="6187430" cy="2311400"/>
          </a:xfrm>
          <a:prstGeom prst="roundRect">
            <a:avLst>
              <a:gd name="adj" fmla="val 4396"/>
            </a:avLst>
          </a:prstGeom>
          <a:solidFill>
            <a:srgbClr val="1B2633"/>
          </a:solidFill>
          <a:ln/>
        </p:spPr>
        <p:txBody>
          <a:bodyPr wrap="square" lIns="224242" tIns="173442" rIns="53859" bIns="148042" rtlCol="0" anchor="t">
            <a:normAutofit/>
          </a:bodyPr>
          <a:lstStyle/>
          <a:p>
            <a:pPr algn="l" indent="0" marL="0">
              <a:lnSpc>
                <a:spcPts val="1875"/>
              </a:lnSpc>
              <a:buNone/>
            </a:pPr>
            <a:r>
              <a:rPr lang="en-US" sz="1250" dirty="0">
                <a:solidFill>
                  <a:srgbClr val="F29E5C"/>
                </a:solidFill>
                <a:latin typeface="JetBrains Mono" pitchFamily="49" charset="0"/>
                <a:ea typeface="JetBrains Mono" pitchFamily="49" charset="-122"/>
                <a:cs typeface="JetBrains Mono" pitchFamily="49" charset="-120"/>
              </a:rPr>
              <a:t>uint8_t</a:t>
            </a:r>
            <a:r>
              <a:rPr lang="en-US" sz="1250" dirty="0">
                <a:solidFill>
                  <a:srgbClr val="E6EBF0"/>
                </a:solidFill>
                <a:latin typeface="JetBrains Mono" pitchFamily="49" charset="0"/>
                <a:ea typeface="JetBrains Mono" pitchFamily="49" charset="-122"/>
                <a:cs typeface="JetBrains Mono" pitchFamily="49" charset="-120"/>
              </a:rPr>
              <a:t> mpuRead(</a:t>
            </a:r>
            <a:r>
              <a:rPr lang="en-US" sz="1250" dirty="0">
                <a:solidFill>
                  <a:srgbClr val="F29E5C"/>
                </a:solidFill>
                <a:latin typeface="JetBrains Mono" pitchFamily="49" charset="0"/>
                <a:ea typeface="JetBrains Mono" pitchFamily="49" charset="-122"/>
                <a:cs typeface="JetBrains Mono" pitchFamily="49" charset="-120"/>
              </a:rPr>
              <a:t>uint8_t</a:t>
            </a:r>
            <a:r>
              <a:rPr lang="en-US" sz="1250" dirty="0">
                <a:solidFill>
                  <a:srgbClr val="E6EBF0"/>
                </a:solidFill>
                <a:latin typeface="JetBrains Mono" pitchFamily="49" charset="0"/>
                <a:ea typeface="JetBrains Mono" pitchFamily="49" charset="-122"/>
                <a:cs typeface="JetBrains Mono" pitchFamily="49" charset="-120"/>
              </a:rPr>
              <a:t> reg) {</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  mpuSelect();                     </a:t>
            </a:r>
            <a:r>
              <a:rPr lang="en-US" sz="1250" dirty="0">
                <a:solidFill>
                  <a:srgbClr val="8FA3B8"/>
                </a:solidFill>
                <a:latin typeface="JetBrains Mono" pitchFamily="49" charset="0"/>
                <a:ea typeface="JetBrains Mono" pitchFamily="49" charset="-122"/>
                <a:cs typeface="JetBrains Mono" pitchFamily="49" charset="-120"/>
              </a:rPr>
              <a:t>// CS low</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  SPI.transfer(reg | 0x80);        </a:t>
            </a:r>
            <a:r>
              <a:rPr lang="en-US" sz="1250" dirty="0">
                <a:solidFill>
                  <a:srgbClr val="8FA3B8"/>
                </a:solidFill>
                <a:latin typeface="JetBrains Mono" pitchFamily="49" charset="0"/>
                <a:ea typeface="JetBrains Mono" pitchFamily="49" charset="-122"/>
                <a:cs typeface="JetBrains Mono" pitchFamily="49" charset="-120"/>
              </a:rPr>
              <a:t>// bit7 = 1 -&gt; read</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  </a:t>
            </a:r>
            <a:r>
              <a:rPr lang="en-US" sz="1250" dirty="0">
                <a:solidFill>
                  <a:srgbClr val="F29E5C"/>
                </a:solidFill>
                <a:latin typeface="JetBrains Mono" pitchFamily="49" charset="0"/>
                <a:ea typeface="JetBrains Mono" pitchFamily="49" charset="-122"/>
                <a:cs typeface="JetBrains Mono" pitchFamily="49" charset="-120"/>
              </a:rPr>
              <a:t>uint8_t</a:t>
            </a:r>
            <a:r>
              <a:rPr lang="en-US" sz="1250" dirty="0">
                <a:solidFill>
                  <a:srgbClr val="E6EBF0"/>
                </a:solidFill>
                <a:latin typeface="JetBrains Mono" pitchFamily="49" charset="0"/>
                <a:ea typeface="JetBrains Mono" pitchFamily="49" charset="-122"/>
                <a:cs typeface="JetBrains Mono" pitchFamily="49" charset="-120"/>
              </a:rPr>
              <a:t> v = SPI.transfer(0x00);  </a:t>
            </a:r>
            <a:r>
              <a:rPr lang="en-US" sz="1250" dirty="0">
                <a:solidFill>
                  <a:srgbClr val="8FA3B8"/>
                </a:solidFill>
                <a:latin typeface="JetBrains Mono" pitchFamily="49" charset="0"/>
                <a:ea typeface="JetBrains Mono" pitchFamily="49" charset="-122"/>
                <a:cs typeface="JetBrains Mono" pitchFamily="49" charset="-120"/>
              </a:rPr>
              <a:t>// clock the answer out</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  mpuDeselect();                   </a:t>
            </a:r>
            <a:r>
              <a:rPr lang="en-US" sz="1250" dirty="0">
                <a:solidFill>
                  <a:srgbClr val="8FA3B8"/>
                </a:solidFill>
                <a:latin typeface="JetBrains Mono" pitchFamily="49" charset="0"/>
                <a:ea typeface="JetBrains Mono" pitchFamily="49" charset="-122"/>
                <a:cs typeface="JetBrains Mono" pitchFamily="49" charset="-120"/>
              </a:rPr>
              <a:t>// CS high</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  </a:t>
            </a:r>
            <a:r>
              <a:rPr lang="en-US" sz="1250" dirty="0">
                <a:solidFill>
                  <a:srgbClr val="F29E5C"/>
                </a:solidFill>
                <a:latin typeface="JetBrains Mono" pitchFamily="49" charset="0"/>
                <a:ea typeface="JetBrains Mono" pitchFamily="49" charset="-122"/>
                <a:cs typeface="JetBrains Mono" pitchFamily="49" charset="-120"/>
              </a:rPr>
              <a:t>return</a:t>
            </a:r>
            <a:r>
              <a:rPr lang="en-US" sz="1250" dirty="0">
                <a:solidFill>
                  <a:srgbClr val="E6EBF0"/>
                </a:solidFill>
                <a:latin typeface="JetBrains Mono" pitchFamily="49" charset="0"/>
                <a:ea typeface="JetBrains Mono" pitchFamily="49" charset="-122"/>
                <a:cs typeface="JetBrains Mono" pitchFamily="49" charset="-120"/>
              </a:rPr>
              <a:t> v;</a:t>
            </a:r>
            <a:endParaRPr lang="en-US" sz="1250" dirty="0"/>
          </a:p>
          <a:p>
            <a:pPr algn="l" indent="0" marL="0">
              <a:lnSpc>
                <a:spcPts val="1875"/>
              </a:lnSpc>
              <a:buNone/>
            </a:pPr>
            <a:r>
              <a:rPr lang="en-US" sz="1250" dirty="0">
                <a:solidFill>
                  <a:srgbClr val="E6EBF0"/>
                </a:solidFill>
                <a:latin typeface="JetBrains Mono" pitchFamily="49" charset="0"/>
                <a:ea typeface="JetBrains Mono" pitchFamily="49" charset="-122"/>
                <a:cs typeface="JetBrains Mono" pitchFamily="49" charset="-120"/>
              </a:rPr>
              <a:t>}</a:t>
            </a:r>
            <a:endParaRPr lang="en-US" sz="1250" dirty="0"/>
          </a:p>
          <a:p>
            <a:pPr algn="l" indent="0" marL="0">
              <a:lnSpc>
                <a:spcPts val="1875"/>
              </a:lnSpc>
              <a:buNone/>
            </a:pPr>
            <a:r>
              <a:rPr lang="en-US" sz="1250" dirty="0">
                <a:solidFill>
                  <a:srgbClr val="8FA3B8"/>
                </a:solidFill>
                <a:latin typeface="JetBrains Mono" pitchFamily="49" charset="0"/>
                <a:ea typeface="JetBrains Mono" pitchFamily="49" charset="-122"/>
                <a:cs typeface="JetBrains Mono" pitchFamily="49" charset="-120"/>
              </a:rPr>
              <a:t>// write: reg &amp; 0x7F (bit7 = 0), then the value</a:t>
            </a:r>
            <a:endParaRPr lang="en-US" sz="125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Byte đầu</a:t>
            </a:r>
            <a:r>
              <a:rPr lang="en-US" sz="1450" dirty="0">
                <a:solidFill>
                  <a:srgbClr val="13202E"/>
                </a:solidFill>
                <a:latin typeface="IBM Plex Sans" pitchFamily="34" charset="0"/>
                <a:ea typeface="IBM Plex Sans" pitchFamily="34" charset="-122"/>
                <a:cs typeface="IBM Plex Sans" pitchFamily="34" charset="-120"/>
              </a:rPr>
              <a:t> = địa chỉ thanh ghi. Bit cao nhất cho biết đọc (1) hay ghi (0).</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SPI là trao đổi</a:t>
            </a:r>
            <a:r>
              <a:rPr lang="en-US" sz="1450" dirty="0">
                <a:solidFill>
                  <a:srgbClr val="13202E"/>
                </a:solidFill>
                <a:latin typeface="IBM Plex Sans" pitchFamily="34" charset="0"/>
                <a:ea typeface="IBM Plex Sans" pitchFamily="34" charset="-122"/>
                <a:cs typeface="IBM Plex Sans" pitchFamily="34" charset="-120"/>
              </a:rPr>
              <a:t>: muốn nhận một byte phải gửi một byte, nên ta gửi 0x00.</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CS xuống thấp</a:t>
            </a:r>
            <a:r>
              <a:rPr lang="en-US" sz="1450" dirty="0">
                <a:solidFill>
                  <a:srgbClr val="13202E"/>
                </a:solidFill>
                <a:latin typeface="IBM Plex Sans" pitchFamily="34" charset="0"/>
                <a:ea typeface="IBM Plex Sans" pitchFamily="34" charset="-122"/>
                <a:cs typeface="IBM Plex Sans" pitchFamily="34" charset="-120"/>
              </a:rPr>
              <a:t> bắt đầu cuộc nói chuyện; </a:t>
            </a:r>
            <a:r>
              <a:rPr lang="en-US" sz="1450" b="1" dirty="0">
                <a:solidFill>
                  <a:srgbClr val="13202E"/>
                </a:solidFill>
                <a:latin typeface="IBM Plex Sans" pitchFamily="34" charset="0"/>
                <a:ea typeface="IBM Plex Sans" pitchFamily="34" charset="-122"/>
                <a:cs typeface="IBM Plex Sans" pitchFamily="34" charset="-120"/>
              </a:rPr>
              <a:t>CS lên cao</a:t>
            </a:r>
            <a:r>
              <a:rPr lang="en-US" sz="1450" dirty="0">
                <a:solidFill>
                  <a:srgbClr val="13202E"/>
                </a:solidFill>
                <a:latin typeface="IBM Plex Sans" pitchFamily="34" charset="0"/>
                <a:ea typeface="IBM Plex Sans" pitchFamily="34" charset="-122"/>
                <a:cs typeface="IBM Plex Sans" pitchFamily="34" charset="-120"/>
              </a:rPr>
              <a:t> kết thúc.</a:t>
            </a:r>
            <a:endParaRPr lang="en-US" sz="1450" dirty="0"/>
          </a:p>
        </p:txBody>
      </p:sp>
      <p:sp>
        <p:nvSpPr>
          <p:cNvPr id="8" name="Shape 6"/>
          <p:cNvSpPr/>
          <p:nvPr/>
        </p:nvSpPr>
        <p:spPr>
          <a:xfrm>
            <a:off x="812800" y="4340820"/>
            <a:ext cx="10566400" cy="1018480"/>
          </a:xfrm>
          <a:prstGeom prst="roundRect">
            <a:avLst>
              <a:gd name="adj" fmla="val 9976"/>
            </a:avLst>
          </a:prstGeom>
          <a:solidFill>
            <a:srgbClr val="13202E"/>
          </a:solidFill>
          <a:ln/>
        </p:spPr>
      </p:sp>
      <p:sp>
        <p:nvSpPr>
          <p:cNvPr id="9" name="Text 7"/>
          <p:cNvSpPr/>
          <p:nvPr/>
        </p:nvSpPr>
        <p:spPr>
          <a:xfrm>
            <a:off x="1117600" y="456942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846241"/>
            <a:ext cx="10261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Đọc WHO_AM_I (thanh ghi 0x75): gửi 0xF5 (0x75 | 0x80), rồi 0x00, cảm biến trả lời 0x70 nếu là MPU6500.</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57 · Nguồn: mpuRead(), mpuWrite()</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Cài đặt cảm biến trong mpuInit()</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155924"/>
        </p:xfrm>
        <a:graphic>
          <a:graphicData uri="http://schemas.openxmlformats.org/drawingml/2006/table">
            <a:tbl>
              <a:tblPr/>
              <a:tblGrid>
                <a:gridCol w="1899666"/>
                <a:gridCol w="1899666"/>
                <a:gridCol w="3588258"/>
                <a:gridCol w="3166110"/>
              </a:tblGrid>
              <a:tr h="359321">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Thanh ghi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Giá trị</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Ý nghĩa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Vì sao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PWR_MGMT_1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0x80 rồi 0x01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reset, rồi dùng xung PLL của gyro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khởi động sạch; xung ổn định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SMPLRT_DIV</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1 kHz ÷ (1+3) = 250 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mỗi vòng một mẫu mới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CONFIG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lọc thông thấp 92 Hz</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cắt nhiễu rung động cơ</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GYRO_CFG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±500 °/s → 65,5 LSB mỗi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đủ nhanh để lật, vẫn chi tiết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ACCEL_CFG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±8 g → 4096 LSB mỗi 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dư dải cho va chạm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58 · Nguồn: mpuInit(); bản đồ thanh ghi MPU-6500</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Một lần đọc liên tiếp: 14 byte, mọi trục</a:t>
            </a:r>
            <a:endParaRPr lang="en-US" sz="3000" dirty="0"/>
          </a:p>
        </p:txBody>
      </p:sp>
      <p:sp>
        <p:nvSpPr>
          <p:cNvPr id="4" name="Text 2"/>
          <p:cNvSpPr/>
          <p:nvPr/>
        </p:nvSpPr>
        <p:spPr>
          <a:xfrm>
            <a:off x="812800" y="1775420"/>
            <a:ext cx="6187430" cy="3130550"/>
          </a:xfrm>
          <a:prstGeom prst="roundRect">
            <a:avLst>
              <a:gd name="adj" fmla="val 324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void</a:t>
            </a:r>
            <a:r>
              <a:rPr lang="en-US" sz="1300" dirty="0">
                <a:solidFill>
                  <a:srgbClr val="E6EBF0"/>
                </a:solidFill>
                <a:latin typeface="JetBrains Mono" pitchFamily="49" charset="0"/>
                <a:ea typeface="JetBrains Mono" pitchFamily="49" charset="-122"/>
                <a:cs typeface="JetBrains Mono" pitchFamily="49" charset="-120"/>
              </a:rPr>
              <a:t> mpuReadRaw()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 buf[14];</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mpuReadBurst(MPU_REG_ACCEL_XOUT, buf, 14);</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raw_ax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)(buf[0]  &lt;&lt; 8 | buf[1]);</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raw_ay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)(buf[2]  &lt;&lt; 8 | buf[3]);</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raw_az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)(buf[4]  &lt;&lt; 8 | buf[5]);</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 buf[6..7] = temperature (skip)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raw_gx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)(buf[8]  &lt;&lt; 8 | buf[9]);</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raw_gy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)(buf[10] &lt;&lt; 8 | buf[11]);</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raw_gz = (</a:t>
            </a: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)(buf[12] &lt;&lt; 8 | buf[13]);</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Thanh ghi 0x3B…0x48 nằm liền nhau, nên một lần đọc lấy được tất cả.</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Vì sao đọc một lượt?</a:t>
            </a:r>
            <a:r>
              <a:rPr lang="en-US" sz="1450" dirty="0">
                <a:solidFill>
                  <a:srgbClr val="13202E"/>
                </a:solidFill>
                <a:latin typeface="IBM Plex Sans" pitchFamily="34" charset="0"/>
                <a:ea typeface="IBM Plex Sans" pitchFamily="34" charset="-122"/>
                <a:cs typeface="IBM Plex Sans" pitchFamily="34" charset="-120"/>
              </a:rPr>
              <a:t> Sáu giá trị cùng một thời điểm, và nhanh.</a:t>
            </a:r>
            <a:endParaRPr lang="en-US" sz="145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59 · Nguồn: mpuReadRaw()</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Hai byte ghép thành một số có dấu</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Mỗi giá trị 16 bit, byte cao gửi trước. Ép kiểu int16_t làm nó thành số có dấu.</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Số dương</a:t>
            </a:r>
            <a:endParaRPr lang="en-US" sz="1800" dirty="0"/>
          </a:p>
        </p:txBody>
      </p:sp>
      <p:sp>
        <p:nvSpPr>
          <p:cNvPr id="7" name="Text 5"/>
          <p:cNvSpPr/>
          <p:nvPr/>
        </p:nvSpPr>
        <p:spPr>
          <a:xfrm>
            <a:off x="10795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0x01, 0x2C → 0x012C = 300</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Số âm</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0xFF, 0x38 → 0xFF38 = −200 (bù hai)</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Dải</a:t>
            </a:r>
            <a:endParaRPr lang="en-US" sz="1800" dirty="0"/>
          </a:p>
        </p:txBody>
      </p:sp>
      <p:sp>
        <p:nvSpPr>
          <p:cNvPr id="13" name="Text 11"/>
          <p:cNvSpPr/>
          <p:nvPr/>
        </p:nvSpPr>
        <p:spPr>
          <a:xfrm>
            <a:off x="82423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−32768 đến +32767 cho mọi trục</a:t>
            </a:r>
            <a:endParaRPr lang="en-US" sz="1400" dirty="0"/>
          </a:p>
        </p:txBody>
      </p:sp>
      <p:sp>
        <p:nvSpPr>
          <p:cNvPr id="14" name="Shape 12"/>
          <p:cNvSpPr/>
          <p:nvPr/>
        </p:nvSpPr>
        <p:spPr>
          <a:xfrm>
            <a:off x="812800" y="3916511"/>
            <a:ext cx="10566400" cy="1018480"/>
          </a:xfrm>
          <a:prstGeom prst="roundRect">
            <a:avLst>
              <a:gd name="adj" fmla="val 9976"/>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buf[8] = 0xFF, buf[9] = 0x38 → raw_gx = −200 → −200 ÷ 65,5 = −3,05 °/s.</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60 · Nguồn: mpuReadRaw()</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Từ số đếm thô sang đơn vị thật</a:t>
            </a:r>
            <a:endParaRPr lang="en-US" sz="3000" dirty="0"/>
          </a:p>
        </p:txBody>
      </p:sp>
      <p:sp>
        <p:nvSpPr>
          <p:cNvPr id="4" name="Shape 2"/>
          <p:cNvSpPr/>
          <p:nvPr/>
        </p:nvSpPr>
        <p:spPr>
          <a:xfrm>
            <a:off x="812800" y="1775420"/>
            <a:ext cx="3403600" cy="1733550"/>
          </a:xfrm>
          <a:prstGeom prst="roundRect">
            <a:avLst>
              <a:gd name="adj" fmla="val 5861"/>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65,5</a:t>
            </a:r>
            <a:endParaRPr lang="en-US" sz="4400" dirty="0"/>
          </a:p>
        </p:txBody>
      </p:sp>
      <p:sp>
        <p:nvSpPr>
          <p:cNvPr id="6" name="Text 4"/>
          <p:cNvSpPr/>
          <p:nvPr/>
        </p:nvSpPr>
        <p:spPr>
          <a:xfrm>
            <a:off x="10922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số đếm mỗi °/s của gyro (dải ±500 °/s)</a:t>
            </a:r>
            <a:endParaRPr lang="en-US" sz="1500" dirty="0"/>
          </a:p>
        </p:txBody>
      </p:sp>
      <p:sp>
        <p:nvSpPr>
          <p:cNvPr id="7" name="Shape 5"/>
          <p:cNvSpPr/>
          <p:nvPr/>
        </p:nvSpPr>
        <p:spPr>
          <a:xfrm>
            <a:off x="4394200" y="1775420"/>
            <a:ext cx="3403600" cy="1733550"/>
          </a:xfrm>
          <a:prstGeom prst="roundRect">
            <a:avLst>
              <a:gd name="adj" fmla="val 5861"/>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4096</a:t>
            </a:r>
            <a:endParaRPr lang="en-US" sz="4400" dirty="0"/>
          </a:p>
        </p:txBody>
      </p:sp>
      <p:sp>
        <p:nvSpPr>
          <p:cNvPr id="9" name="Text 7"/>
          <p:cNvSpPr/>
          <p:nvPr/>
        </p:nvSpPr>
        <p:spPr>
          <a:xfrm>
            <a:off x="46736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số đếm mỗi g của gia tốc kế (dải ±8 g)</a:t>
            </a:r>
            <a:endParaRPr lang="en-US" sz="1500" dirty="0"/>
          </a:p>
        </p:txBody>
      </p:sp>
      <p:sp>
        <p:nvSpPr>
          <p:cNvPr id="10" name="Shape 8"/>
          <p:cNvSpPr/>
          <p:nvPr/>
        </p:nvSpPr>
        <p:spPr>
          <a:xfrm>
            <a:off x="7975600" y="1775420"/>
            <a:ext cx="3403600" cy="1733550"/>
          </a:xfrm>
          <a:prstGeom prst="roundRect">
            <a:avLst>
              <a:gd name="adj" fmla="val 5861"/>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0,004 s</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dt: một vòng, dùng để đổi tốc độ thành góc</a:t>
            </a:r>
            <a:endParaRPr lang="en-US" sz="1500" dirty="0"/>
          </a:p>
        </p:txBody>
      </p:sp>
      <p:sp>
        <p:nvSpPr>
          <p:cNvPr id="13" name="Text 11"/>
          <p:cNvSpPr/>
          <p:nvPr/>
        </p:nvSpPr>
        <p:spPr>
          <a:xfrm>
            <a:off x="812800" y="37629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Ví dụ: gyro thô 655 → 10 °/s. Trong một vòng 4 ms đó là 0,04°.</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61 · Nguồn: #define GYRO_SCALE, NAV_ACC_LSB_PER_G</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Hiệu chuẩn gyro: đo độ lệch khi đứng yên</a:t>
            </a:r>
            <a:endParaRPr lang="en-US" sz="3000" dirty="0"/>
          </a:p>
        </p:txBody>
      </p:sp>
      <p:sp>
        <p:nvSpPr>
          <p:cNvPr id="4" name="Text 2"/>
          <p:cNvSpPr/>
          <p:nvPr/>
        </p:nvSpPr>
        <p:spPr>
          <a:xfrm>
            <a:off x="812800" y="1775420"/>
            <a:ext cx="6187430" cy="2635250"/>
          </a:xfrm>
          <a:prstGeom prst="roundRect">
            <a:avLst>
              <a:gd name="adj" fmla="val 385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int32_t</a:t>
            </a:r>
            <a:r>
              <a:rPr lang="en-US" sz="1300" dirty="0">
                <a:solidFill>
                  <a:srgbClr val="E6EBF0"/>
                </a:solidFill>
                <a:latin typeface="JetBrains Mono" pitchFamily="49" charset="0"/>
                <a:ea typeface="JetBrains Mono" pitchFamily="49" charset="-122"/>
                <a:cs typeface="JetBrains Mono" pitchFamily="49" charset="-120"/>
              </a:rPr>
              <a:t> sx = 0, sy = 0, sz = 0;</a:t>
            </a:r>
            <a:endParaRPr lang="en-US" sz="1300" dirty="0"/>
          </a:p>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for</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int</a:t>
            </a:r>
            <a:r>
              <a:rPr lang="en-US" sz="1300" dirty="0">
                <a:solidFill>
                  <a:srgbClr val="E6EBF0"/>
                </a:solidFill>
                <a:latin typeface="JetBrains Mono" pitchFamily="49" charset="0"/>
                <a:ea typeface="JetBrains Mono" pitchFamily="49" charset="-122"/>
                <a:cs typeface="JetBrains Mono" pitchFamily="49" charset="-120"/>
              </a:rPr>
              <a:t> i = 0; i &lt; 2000; i++)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mpuReadRaw();</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sx += raw_gx; sy += raw_gy; sz += raw_gz;</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delay(3);</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gyro_x_cal = sx / 2000;   </a:t>
            </a:r>
            <a:r>
              <a:rPr lang="en-US" sz="1300" dirty="0">
                <a:solidFill>
                  <a:srgbClr val="8FA3B8"/>
                </a:solidFill>
                <a:latin typeface="JetBrains Mono" pitchFamily="49" charset="0"/>
                <a:ea typeface="JetBrains Mono" pitchFamily="49" charset="-122"/>
                <a:cs typeface="JetBrains Mono" pitchFamily="49" charset="-120"/>
              </a:rPr>
              <a:t>// average = bias</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gyro_y_cal = sy / 2000;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gyro_z_cal = sz / 2000;</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Gyro đứng yên lẽ ra đọc 0, nhưng chip nào cũng lệch một chút — gọi là </a:t>
            </a:r>
            <a:r>
              <a:rPr lang="en-US" sz="1450" b="1" dirty="0">
                <a:solidFill>
                  <a:srgbClr val="13202E"/>
                </a:solidFill>
                <a:latin typeface="IBM Plex Sans" pitchFamily="34" charset="0"/>
                <a:ea typeface="IBM Plex Sans" pitchFamily="34" charset="-122"/>
                <a:cs typeface="IBM Plex Sans" pitchFamily="34" charset="-120"/>
              </a:rPr>
              <a:t>độ lệch (bias)</a:t>
            </a:r>
            <a:r>
              <a:rPr lang="en-US" sz="1450" dirty="0">
                <a:solidFill>
                  <a:srgbClr val="13202E"/>
                </a:solidFill>
                <a:latin typeface="IBM Plex Sans" pitchFamily="34" charset="0"/>
                <a:ea typeface="IBM Plex Sans" pitchFamily="34" charset="-122"/>
                <a:cs typeface="IBM Plex Sans" pitchFamily="34" charset="-120"/>
              </a:rPr>
              <a:t>.</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2.000 mẫu × 3 ms ≈ 6 giây. Trung bình là độ lệch, được trừ đi mỗi vòng.</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Giữ drone phẳng và đứng yên</a:t>
            </a:r>
            <a:r>
              <a:rPr lang="en-US" sz="1450" dirty="0">
                <a:solidFill>
                  <a:srgbClr val="13202E"/>
                </a:solidFill>
                <a:latin typeface="IBM Plex Sans" pitchFamily="34" charset="0"/>
                <a:ea typeface="IBM Plex Sans" pitchFamily="34" charset="-122"/>
                <a:cs typeface="IBM Plex Sans" pitchFamily="34" charset="-120"/>
              </a:rPr>
              <a:t>, nếu không độ lệch sẽ sai.</a:t>
            </a:r>
            <a:endParaRPr lang="en-US" sz="1450" dirty="0"/>
          </a:p>
        </p:txBody>
      </p:sp>
      <p:sp>
        <p:nvSpPr>
          <p:cNvPr id="8" name="Shape 6"/>
          <p:cNvSpPr/>
          <p:nvPr/>
        </p:nvSpPr>
        <p:spPr>
          <a:xfrm>
            <a:off x="812800" y="4664670"/>
            <a:ext cx="10566400" cy="1018480"/>
          </a:xfrm>
          <a:prstGeom prst="roundRect">
            <a:avLst>
              <a:gd name="adj" fmla="val 9976"/>
            </a:avLst>
          </a:prstGeom>
          <a:solidFill>
            <a:srgbClr val="13202E"/>
          </a:solidFill>
          <a:ln/>
        </p:spPr>
      </p:sp>
      <p:sp>
        <p:nvSpPr>
          <p:cNvPr id="9" name="Text 7"/>
          <p:cNvSpPr/>
          <p:nvPr/>
        </p:nvSpPr>
        <p:spPr>
          <a:xfrm>
            <a:off x="1117600" y="489327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517009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Độ lệch 0,3 °/s không được trừ → sau 60 s hướng sai 0,3 × 60 = 18°.</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62 · Nguồn: mpuCalibrateGyro()</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Nghiêng từ trọng lực: góc của gia tốc kế</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Gia tốc kế tìm độ nghiêng từ phần trọng lực trên mỗi trục.</a:t>
            </a:r>
            <a:endParaRPr lang="en-US" sz="1600" dirty="0"/>
          </a:p>
        </p:txBody>
      </p:sp>
      <p:sp>
        <p:nvSpPr>
          <p:cNvPr id="5" name="Text 3"/>
          <p:cNvSpPr/>
          <p:nvPr/>
        </p:nvSpPr>
        <p:spPr>
          <a:xfrm>
            <a:off x="812800" y="24637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Khi đứng yên chỉ có trọng lực. Nghiêng thì một phần rơi vào trục ngang.</a:t>
            </a:r>
            <a:endParaRPr lang="en-US" sz="1400" dirty="0"/>
          </a:p>
        </p:txBody>
      </p:sp>
      <p:sp>
        <p:nvSpPr>
          <p:cNvPr id="6" name="Text 4"/>
          <p:cNvSpPr/>
          <p:nvPr/>
        </p:nvSpPr>
        <p:spPr>
          <a:xfrm>
            <a:off x="812800" y="31011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asin(ay ÷ tổng)</a:t>
            </a:r>
            <a:r>
              <a:rPr lang="en-US" sz="1400" dirty="0">
                <a:solidFill>
                  <a:srgbClr val="13202E"/>
                </a:solidFill>
                <a:latin typeface="IBM Plex Sans" pitchFamily="34" charset="0"/>
                <a:ea typeface="IBM Plex Sans" pitchFamily="34" charset="-122"/>
                <a:cs typeface="IBM Plex Sans" pitchFamily="34" charset="-120"/>
              </a:rPr>
              <a:t> đổi phần đó ngược lại thành góc.</a:t>
            </a:r>
            <a:endParaRPr lang="en-US" sz="1400" dirty="0"/>
          </a:p>
        </p:txBody>
      </p:sp>
      <p:sp>
        <p:nvSpPr>
          <p:cNvPr id="7" name="Text 5"/>
          <p:cNvSpPr/>
          <p:nvPr/>
        </p:nvSpPr>
        <p:spPr>
          <a:xfrm>
            <a:off x="812800" y="348977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Chỉ đúng khi drone không tăng tốc: tăng ga hay va chạm làm nó nhảy.</a:t>
            </a:r>
            <a:endParaRPr lang="en-US" sz="1400" dirty="0"/>
          </a:p>
        </p:txBody>
      </p:sp>
      <p:sp>
        <p:nvSpPr>
          <p:cNvPr id="8" name="Shape 6"/>
          <p:cNvSpPr/>
          <p:nvPr/>
        </p:nvSpPr>
        <p:spPr>
          <a:xfrm>
            <a:off x="812800" y="4127252"/>
            <a:ext cx="5054600" cy="800050"/>
          </a:xfrm>
          <a:prstGeom prst="roundRect">
            <a:avLst>
              <a:gd name="adj" fmla="val 12699"/>
            </a:avLst>
          </a:prstGeom>
          <a:solidFill>
            <a:srgbClr val="13202E"/>
          </a:solidFill>
          <a:ln/>
        </p:spPr>
      </p:sp>
      <p:sp>
        <p:nvSpPr>
          <p:cNvPr id="9" name="Text 7"/>
          <p:cNvSpPr/>
          <p:nvPr/>
        </p:nvSpPr>
        <p:spPr>
          <a:xfrm>
            <a:off x="1016000" y="427965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543772"/>
            <a:ext cx="47876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Nghiêng 30°: ay = sin 30° × 1 g = 0,5 g → asin(0,5) = 30°.</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Drone nghiêng 30 độ; trọng lực hướng thẳng xuống và tách thành 0,5 g dọc thân và 0,87 g xuyên thân">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61500" y="3108920"/>
            <a:ext cx="558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30°</a:t>
            </a:r>
            <a:endParaRPr lang="en-US" sz="1300" dirty="0"/>
          </a:p>
        </p:txBody>
      </p:sp>
      <p:sp>
        <p:nvSpPr>
          <p:cNvPr id="14" name="Text 11"/>
          <p:cNvSpPr/>
          <p:nvPr/>
        </p:nvSpPr>
        <p:spPr>
          <a:xfrm>
            <a:off x="8801100" y="4709120"/>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trọng lực = 1 g</a:t>
            </a:r>
            <a:endParaRPr lang="en-US" sz="1300" dirty="0"/>
          </a:p>
        </p:txBody>
      </p:sp>
      <p:sp>
        <p:nvSpPr>
          <p:cNvPr id="15" name="Text 12"/>
          <p:cNvSpPr/>
          <p:nvPr/>
        </p:nvSpPr>
        <p:spPr>
          <a:xfrm>
            <a:off x="9601200" y="3629620"/>
            <a:ext cx="170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B5501A"/>
                </a:solidFill>
                <a:latin typeface="IBM Plex Sans" pitchFamily="34" charset="0"/>
                <a:ea typeface="IBM Plex Sans" pitchFamily="34" charset="-122"/>
                <a:cs typeface="IBM Plex Sans" pitchFamily="34" charset="-120"/>
              </a:rPr>
              <a:t>ay = sin 30° = </a:t>
            </a:r>
            <a:r>
              <a:rPr lang="en-US" sz="1200" b="1" dirty="0">
                <a:solidFill>
                  <a:srgbClr val="B5501A"/>
                </a:solidFill>
                <a:latin typeface="IBM Plex Sans" pitchFamily="34" charset="0"/>
                <a:ea typeface="IBM Plex Sans" pitchFamily="34" charset="-122"/>
                <a:cs typeface="IBM Plex Sans" pitchFamily="34" charset="-120"/>
              </a:rPr>
              <a:t>0,5 g</a:t>
            </a:r>
            <a:endParaRPr lang="en-US" sz="1200" dirty="0"/>
          </a:p>
        </p:txBody>
      </p:sp>
      <p:sp>
        <p:nvSpPr>
          <p:cNvPr id="16" name="Text 13"/>
          <p:cNvSpPr/>
          <p:nvPr/>
        </p:nvSpPr>
        <p:spPr>
          <a:xfrm>
            <a:off x="6362700" y="4124920"/>
            <a:ext cx="1574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F6FA3"/>
                </a:solidFill>
                <a:latin typeface="IBM Plex Sans" pitchFamily="34" charset="0"/>
                <a:ea typeface="IBM Plex Sans" pitchFamily="34" charset="-122"/>
                <a:cs typeface="IBM Plex Sans" pitchFamily="34" charset="-120"/>
              </a:rPr>
              <a:t>az = cos 30°</a:t>
            </a:r>
            <a:endParaRPr lang="en-US" sz="1200" dirty="0"/>
          </a:p>
          <a:p>
            <a:pPr algn="l" indent="0" marL="0">
              <a:lnSpc>
                <a:spcPts val="1500"/>
              </a:lnSpc>
              <a:buNone/>
            </a:pPr>
            <a:r>
              <a:rPr lang="en-US" sz="1200" dirty="0">
                <a:solidFill>
                  <a:srgbClr val="2F6FA3"/>
                </a:solidFill>
                <a:latin typeface="IBM Plex Sans" pitchFamily="34" charset="0"/>
                <a:ea typeface="IBM Plex Sans" pitchFamily="34" charset="-122"/>
                <a:cs typeface="IBM Plex Sans" pitchFamily="34" charset="-120"/>
              </a:rPr>
              <a:t>= </a:t>
            </a:r>
            <a:r>
              <a:rPr lang="en-US" sz="1200" b="1" dirty="0">
                <a:solidFill>
                  <a:srgbClr val="2F6FA3"/>
                </a:solidFill>
                <a:latin typeface="IBM Plex Sans" pitchFamily="34" charset="0"/>
                <a:ea typeface="IBM Plex Sans" pitchFamily="34" charset="-122"/>
                <a:cs typeface="IBM Plex Sans" pitchFamily="34" charset="-120"/>
              </a:rPr>
              <a:t>0,87 g</a:t>
            </a:r>
            <a:endParaRPr lang="en-US" sz="1200" dirty="0"/>
          </a:p>
        </p:txBody>
      </p:sp>
      <p:sp>
        <p:nvSpPr>
          <p:cNvPr id="17" name="Text 14"/>
          <p:cNvSpPr/>
          <p:nvPr/>
        </p:nvSpPr>
        <p:spPr>
          <a:xfrm>
            <a:off x="9728200" y="2029420"/>
            <a:ext cx="1574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drone nghiêng 30°</a:t>
            </a:r>
            <a:endParaRPr lang="en-US" sz="12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63 · Nguồn: attitudeUpdate()</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Ý tưởng bộ lọc bù</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Kết hợp: tin gyro là chính, và từ từ kéo về theo trọng lực.</a:t>
            </a:r>
            <a:endParaRPr lang="en-US" sz="1600" dirty="0"/>
          </a:p>
        </p:txBody>
      </p:sp>
      <p:sp>
        <p:nvSpPr>
          <p:cNvPr id="5" name="Text 3"/>
          <p:cNvSpPr/>
          <p:nvPr/>
        </p:nvSpPr>
        <p:spPr>
          <a:xfrm>
            <a:off x="812800" y="24637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Mỗi vòng: dịch góc theo điều </a:t>
            </a:r>
            <a:r>
              <a:rPr lang="en-US" sz="1400" b="1" dirty="0">
                <a:solidFill>
                  <a:srgbClr val="B5501A"/>
                </a:solidFill>
                <a:latin typeface="IBM Plex Sans" pitchFamily="34" charset="0"/>
                <a:ea typeface="IBM Plex Sans" pitchFamily="34" charset="-122"/>
                <a:cs typeface="IBM Plex Sans" pitchFamily="34" charset="-120"/>
              </a:rPr>
              <a:t>gyro</a:t>
            </a:r>
            <a:r>
              <a:rPr lang="en-US" sz="1400" dirty="0">
                <a:solidFill>
                  <a:srgbClr val="13202E"/>
                </a:solidFill>
                <a:latin typeface="IBM Plex Sans" pitchFamily="34" charset="0"/>
                <a:ea typeface="IBM Plex Sans" pitchFamily="34" charset="-122"/>
                <a:cs typeface="IBM Plex Sans" pitchFamily="34" charset="-120"/>
              </a:rPr>
              <a:t> báo (nhanh, mượt).</a:t>
            </a:r>
            <a:endParaRPr lang="en-US" sz="1400" dirty="0"/>
          </a:p>
        </p:txBody>
      </p:sp>
      <p:sp>
        <p:nvSpPr>
          <p:cNvPr id="6" name="Text 4"/>
          <p:cNvSpPr/>
          <p:nvPr/>
        </p:nvSpPr>
        <p:spPr>
          <a:xfrm>
            <a:off x="812800" y="28522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Rồi nhích 0,4% về phía góc </a:t>
            </a:r>
            <a:r>
              <a:rPr lang="en-US" sz="1400" b="1" dirty="0">
                <a:solidFill>
                  <a:srgbClr val="2F6FA3"/>
                </a:solidFill>
                <a:latin typeface="IBM Plex Sans" pitchFamily="34" charset="0"/>
                <a:ea typeface="IBM Plex Sans" pitchFamily="34" charset="-122"/>
                <a:cs typeface="IBM Plex Sans" pitchFamily="34" charset="-120"/>
              </a:rPr>
              <a:t>gia tốc kế</a:t>
            </a:r>
            <a:r>
              <a:rPr lang="en-US" sz="1400" dirty="0">
                <a:solidFill>
                  <a:srgbClr val="13202E"/>
                </a:solidFill>
                <a:latin typeface="IBM Plex Sans" pitchFamily="34" charset="0"/>
                <a:ea typeface="IBM Plex Sans" pitchFamily="34" charset="-122"/>
                <a:cs typeface="IBM Plex Sans" pitchFamily="34" charset="-120"/>
              </a:rPr>
              <a:t> (chậm, không trôi).</a:t>
            </a:r>
            <a:endParaRPr lang="en-US" sz="1400" dirty="0"/>
          </a:p>
        </p:txBody>
      </p:sp>
      <p:sp>
        <p:nvSpPr>
          <p:cNvPr id="7" name="Text 5"/>
          <p:cNvSpPr/>
          <p:nvPr/>
        </p:nvSpPr>
        <p:spPr>
          <a:xfrm>
            <a:off x="812800" y="32408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D"/>
                </a:solidFill>
                <a:latin typeface="IBM Plex Sans" pitchFamily="34" charset="0"/>
                <a:ea typeface="IBM Plex Sans" pitchFamily="34" charset="-122"/>
                <a:cs typeface="IBM Plex Sans" pitchFamily="34" charset="-120"/>
              </a:rPr>
              <a:t>Kết quả</a:t>
            </a:r>
            <a:r>
              <a:rPr lang="en-US" sz="1400" dirty="0">
                <a:solidFill>
                  <a:srgbClr val="13202E"/>
                </a:solidFill>
                <a:latin typeface="IBM Plex Sans" pitchFamily="34" charset="0"/>
                <a:ea typeface="IBM Plex Sans" pitchFamily="34" charset="-122"/>
                <a:cs typeface="IBM Plex Sans" pitchFamily="34" charset="-120"/>
              </a:rPr>
              <a:t> giữ nửa tốt của mỗi cái.</a:t>
            </a:r>
            <a:endParaRPr lang="en-US" sz="1400" dirty="0"/>
          </a:p>
        </p:txBody>
      </p:sp>
      <p:sp>
        <p:nvSpPr>
          <p:cNvPr id="8" name="Shape 6"/>
          <p:cNvSpPr/>
          <p:nvPr/>
        </p:nvSpPr>
        <p:spPr>
          <a:xfrm>
            <a:off x="812800" y="3629471"/>
            <a:ext cx="5054600" cy="800050"/>
          </a:xfrm>
          <a:prstGeom prst="roundRect">
            <a:avLst>
              <a:gd name="adj" fmla="val 12699"/>
            </a:avLst>
          </a:prstGeom>
          <a:solidFill>
            <a:srgbClr val="13202E"/>
          </a:solidFill>
          <a:ln/>
        </p:spPr>
      </p:sp>
      <p:sp>
        <p:nvSpPr>
          <p:cNvPr id="9" name="Text 7"/>
          <p:cNvSpPr/>
          <p:nvPr/>
        </p:nvSpPr>
        <p:spPr>
          <a:xfrm>
            <a:off x="1016000" y="37818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45992"/>
            <a:ext cx="4787646"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Đường cong minh họa ý tưởng, không phải dữ liệu ghi thật.</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bước nhảy 10 độ; ước lượng gyro trôi đi, ước lượng gia tốc kế nhiễu, góc đã lọc bám sát góc thật">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góc (°)</a:t>
            </a:r>
            <a:endParaRPr lang="en-US" sz="1200" dirty="0"/>
          </a:p>
        </p:txBody>
      </p:sp>
      <p:sp>
        <p:nvSpPr>
          <p:cNvPr id="15" name="Text 12"/>
          <p:cNvSpPr/>
          <p:nvPr/>
        </p:nvSpPr>
        <p:spPr>
          <a:xfrm>
            <a:off x="9728200" y="2131020"/>
            <a:ext cx="1447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chỉ gyro: trôi</a:t>
            </a:r>
            <a:endParaRPr lang="en-US" sz="1200" dirty="0"/>
          </a:p>
        </p:txBody>
      </p:sp>
      <p:sp>
        <p:nvSpPr>
          <p:cNvPr id="16" name="Text 13"/>
          <p:cNvSpPr/>
          <p:nvPr/>
        </p:nvSpPr>
        <p:spPr>
          <a:xfrm>
            <a:off x="9728200" y="3870920"/>
            <a:ext cx="14478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chỉ gia tốc kế: nhiễu</a:t>
            </a:r>
            <a:endParaRPr lang="en-US" sz="1200" dirty="0"/>
          </a:p>
        </p:txBody>
      </p:sp>
      <p:sp>
        <p:nvSpPr>
          <p:cNvPr id="17" name="Text 14"/>
          <p:cNvSpPr/>
          <p:nvPr/>
        </p:nvSpPr>
        <p:spPr>
          <a:xfrm>
            <a:off x="6870700" y="2537420"/>
            <a:ext cx="196215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7A4D"/>
                </a:solidFill>
                <a:latin typeface="IBM Plex Sans" pitchFamily="34" charset="0"/>
                <a:ea typeface="IBM Plex Sans" pitchFamily="34" charset="-122"/>
                <a:cs typeface="IBM Plex Sans" pitchFamily="34" charset="-120"/>
              </a:rPr>
              <a:t>bộ lọc: bám theo giá trị thật</a:t>
            </a:r>
            <a:endParaRPr lang="en-US" sz="13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64 · Nguồn: attitudeUpdate()</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Bộ lọc trong mã</a:t>
            </a:r>
            <a:endParaRPr lang="en-US" sz="3000" dirty="0"/>
          </a:p>
        </p:txBody>
      </p:sp>
      <p:sp>
        <p:nvSpPr>
          <p:cNvPr id="4" name="Text 2"/>
          <p:cNvSpPr/>
          <p:nvPr/>
        </p:nvSpPr>
        <p:spPr>
          <a:xfrm>
            <a:off x="812800" y="1775420"/>
            <a:ext cx="6187430" cy="2692400"/>
          </a:xfrm>
          <a:prstGeom prst="roundRect">
            <a:avLst>
              <a:gd name="adj" fmla="val 3774"/>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angle_pitch_deg += gx * dt;      </a:t>
            </a:r>
            <a:r>
              <a:rPr lang="en-US" sz="1500" dirty="0">
                <a:solidFill>
                  <a:srgbClr val="8FA3B8"/>
                </a:solidFill>
                <a:latin typeface="JetBrains Mono" pitchFamily="49" charset="0"/>
                <a:ea typeface="JetBrains Mono" pitchFamily="49" charset="-122"/>
                <a:cs typeface="JetBrains Mono" pitchFamily="49" charset="-120"/>
              </a:rPr>
              <a:t>// 1. predict with gyro</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angle_roll_deg  += gy * dt;</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angle_pitch_deg = angle_pitch_deg * 0.996f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 angle_pitch_acc * 0.004f;   </a:t>
            </a:r>
            <a:r>
              <a:rPr lang="en-US" sz="1500" dirty="0">
                <a:solidFill>
                  <a:srgbClr val="8FA3B8"/>
                </a:solidFill>
                <a:latin typeface="JetBrains Mono" pitchFamily="49" charset="0"/>
                <a:ea typeface="JetBrains Mono" pitchFamily="49" charset="-122"/>
                <a:cs typeface="JetBrains Mono" pitchFamily="49" charset="-120"/>
              </a:rPr>
              <a:t>// 2. correct</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angle_roll_deg  = angle_roll_deg  * 0.996f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 angle_roll_acc  * 0.004f;</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Bước 1</a:t>
            </a:r>
            <a:r>
              <a:rPr lang="en-US" sz="1450" dirty="0">
                <a:solidFill>
                  <a:srgbClr val="13202E"/>
                </a:solidFill>
                <a:latin typeface="IBM Plex Sans" pitchFamily="34" charset="0"/>
                <a:ea typeface="IBM Plex Sans" pitchFamily="34" charset="-122"/>
                <a:cs typeface="IBM Plex Sans" pitchFamily="34" charset="-120"/>
              </a:rPr>
              <a:t>: dịch góc theo điều gyro nói đã xảy ra trong vòng này.</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Bước 2</a:t>
            </a:r>
            <a:r>
              <a:rPr lang="en-US" sz="1450" dirty="0">
                <a:solidFill>
                  <a:srgbClr val="13202E"/>
                </a:solidFill>
                <a:latin typeface="IBM Plex Sans" pitchFamily="34" charset="0"/>
                <a:ea typeface="IBM Plex Sans" pitchFamily="34" charset="-122"/>
                <a:cs typeface="IBM Plex Sans" pitchFamily="34" charset="-120"/>
              </a:rPr>
              <a:t>: trộn 99,6% giá trị đó với 0,4% góc gia tốc kế.</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Ở vòng đầu tiên, góc bắt đầu từ gia tốc kế (gyro_angles_set).</a:t>
            </a:r>
            <a:endParaRPr lang="en-US" sz="1450" dirty="0"/>
          </a:p>
        </p:txBody>
      </p:sp>
      <p:sp>
        <p:nvSpPr>
          <p:cNvPr id="8" name="Shape 6"/>
          <p:cNvSpPr/>
          <p:nvPr/>
        </p:nvSpPr>
        <p:spPr>
          <a:xfrm>
            <a:off x="812800" y="4721820"/>
            <a:ext cx="10566400" cy="1018480"/>
          </a:xfrm>
          <a:prstGeom prst="roundRect">
            <a:avLst>
              <a:gd name="adj" fmla="val 9976"/>
            </a:avLst>
          </a:prstGeom>
          <a:solidFill>
            <a:srgbClr val="13202E"/>
          </a:solidFill>
          <a:ln/>
        </p:spPr>
      </p:sp>
      <p:sp>
        <p:nvSpPr>
          <p:cNvPr id="9" name="Text 7"/>
          <p:cNvSpPr/>
          <p:nvPr/>
        </p:nvSpPr>
        <p:spPr>
          <a:xfrm>
            <a:off x="1117600" y="495042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522724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Góc 10,00°, gyro báo +0,04° vòng này, gia tốc kế báo 9,0° → (10,04 × 0,996) + (9,0 × 0,004) = 10,036°.</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65 · Nguồn: attitudeUpdate()</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Vì sao 0,996 và 0,004?</a:t>
            </a:r>
            <a:endParaRPr lang="en-US" sz="3000" dirty="0"/>
          </a:p>
        </p:txBody>
      </p:sp>
      <p:sp>
        <p:nvSpPr>
          <p:cNvPr id="4" name="Shape 2"/>
          <p:cNvSpPr/>
          <p:nvPr/>
        </p:nvSpPr>
        <p:spPr>
          <a:xfrm>
            <a:off x="812800" y="1775420"/>
            <a:ext cx="3403600" cy="1733550"/>
          </a:xfrm>
          <a:prstGeom prst="roundRect">
            <a:avLst>
              <a:gd name="adj" fmla="val 5861"/>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0,4%</a:t>
            </a:r>
            <a:endParaRPr lang="en-US" sz="4400" dirty="0"/>
          </a:p>
        </p:txBody>
      </p:sp>
      <p:sp>
        <p:nvSpPr>
          <p:cNvPr id="6" name="Text 4"/>
          <p:cNvSpPr/>
          <p:nvPr/>
        </p:nvSpPr>
        <p:spPr>
          <a:xfrm>
            <a:off x="10922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phần gia tốc kế mỗi vòng: nhỏ, nên rung gần như không lọt vào</a:t>
            </a:r>
            <a:endParaRPr lang="en-US" sz="1500" dirty="0"/>
          </a:p>
        </p:txBody>
      </p:sp>
      <p:sp>
        <p:nvSpPr>
          <p:cNvPr id="7" name="Shape 5"/>
          <p:cNvSpPr/>
          <p:nvPr/>
        </p:nvSpPr>
        <p:spPr>
          <a:xfrm>
            <a:off x="4394200" y="1775420"/>
            <a:ext cx="3403600" cy="1733550"/>
          </a:xfrm>
          <a:prstGeom prst="roundRect">
            <a:avLst>
              <a:gd name="adj" fmla="val 5861"/>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 1 s</a:t>
            </a:r>
            <a:endParaRPr lang="en-US" sz="4400" dirty="0"/>
          </a:p>
        </p:txBody>
      </p:sp>
      <p:sp>
        <p:nvSpPr>
          <p:cNvPr id="9" name="Text 7"/>
          <p:cNvSpPr/>
          <p:nvPr/>
        </p:nvSpPr>
        <p:spPr>
          <a:xfrm>
            <a:off x="46736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hằng số thời gian: 0,004 s ÷ 0,004 — tốc độ kéo độ trôi ra</a:t>
            </a:r>
            <a:endParaRPr lang="en-US" sz="1500" dirty="0"/>
          </a:p>
        </p:txBody>
      </p:sp>
      <p:sp>
        <p:nvSpPr>
          <p:cNvPr id="10" name="Shape 8"/>
          <p:cNvSpPr/>
          <p:nvPr/>
        </p:nvSpPr>
        <p:spPr>
          <a:xfrm>
            <a:off x="7975600" y="1775420"/>
            <a:ext cx="3403600" cy="1733550"/>
          </a:xfrm>
          <a:prstGeom prst="roundRect">
            <a:avLst>
              <a:gd name="adj" fmla="val 5861"/>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250</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vòng mỗi giây, nên các cú nhích 0,4% cộng lại nhanh</a:t>
            </a:r>
            <a:endParaRPr lang="en-US" sz="1500" dirty="0"/>
          </a:p>
        </p:txBody>
      </p:sp>
      <p:sp>
        <p:nvSpPr>
          <p:cNvPr id="13" name="Text 11"/>
          <p:cNvSpPr/>
          <p:nvPr/>
        </p:nvSpPr>
        <p:spPr>
          <a:xfrm>
            <a:off x="812800" y="37629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Hỏi tại sao: các trọng số này sẽ thế nào nếu vòng lặp chạy ở 500 Hz?</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66 · Nguồn: attitudeUpdate()</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CẢM BIẾN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Hướng bị trôi — và mã nói rõ điều đó</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Roll và pitch có trọng lực sửa. Hướng (yaw) không có gì.</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Cách tính</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heading_deg += gz × dt, quấn trong 0…360°.</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Vì sao trôi</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Không có la bàn: mọi độ lệch gyro còn sót cộng dồn mãi.</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Ảnh hưởng tới</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Giữ hướng trong HOLD/AUTO và hệ tọa độ dẫn đường.</a:t>
            </a:r>
            <a:endParaRPr lang="en-US" sz="1400" dirty="0"/>
          </a:p>
        </p:txBody>
      </p:sp>
      <p:sp>
        <p:nvSpPr>
          <p:cNvPr id="14" name="Shape 12"/>
          <p:cNvSpPr/>
          <p:nvPr/>
        </p:nvSpPr>
        <p:spPr>
          <a:xfrm>
            <a:off x="812800" y="3916511"/>
            <a:ext cx="10566400" cy="1018480"/>
          </a:xfrm>
          <a:prstGeom prst="roundRect">
            <a:avLst>
              <a:gd name="adj" fmla="val 9976"/>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Độ lệch còn sót 0,05 °/s → khoảng 3° trôi hướng mỗi phút bay.</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Cảm biến · 67 · Nguồn: chú thích attitudeUpdate()</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CẢM BIẾN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byte đọc SPI bật bit 7?</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cảm biến phân biệt đọc và ghi thế nào?</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phải hiệu chuẩn gyro mỗi lần bật nguồn?</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độ lệch có đổi theo nhiệt độ không?</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không dùng riêng gia tốc kế để đo nghiêng?</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nó cảm nhận gì khi tăng ga đột ngột?</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roll sửa được mà hướng thì không?</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trọng lực hướng về đâu?</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Cảm biến · 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06</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Điều khiển PID</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Biến “ta sai bao nhiêu?” thành “ta đẩy mạnh bao nhiêu?”</a:t>
            </a:r>
            <a:endParaRPr 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PID qua một ví dụ: vòi sen</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P nhìn hiện tại, I nhìn quá khứ, D nhìn tương lai.</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Chỉ P</a:t>
            </a:r>
            <a:r>
              <a:rPr lang="en-US" sz="1400" dirty="0">
                <a:solidFill>
                  <a:srgbClr val="13202E"/>
                </a:solidFill>
                <a:latin typeface="IBM Plex Sans" pitchFamily="34" charset="0"/>
                <a:ea typeface="IBM Plex Sans" pitchFamily="34" charset="-122"/>
                <a:cs typeface="IBM Plex Sans" pitchFamily="34" charset="-120"/>
              </a:rPr>
              <a:t>: đẩy mạnh, vượt quá, lắc — và dừng hơi thiếu.</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A3"/>
                </a:solidFill>
                <a:latin typeface="IBM Plex Sans" pitchFamily="34" charset="0"/>
                <a:ea typeface="IBM Plex Sans" pitchFamily="34" charset="-122"/>
                <a:cs typeface="IBM Plex Sans" pitchFamily="34" charset="-120"/>
              </a:rPr>
              <a:t>P + D</a:t>
            </a:r>
            <a:r>
              <a:rPr lang="en-US" sz="1400" dirty="0">
                <a:solidFill>
                  <a:srgbClr val="13202E"/>
                </a:solidFill>
                <a:latin typeface="IBM Plex Sans" pitchFamily="34" charset="0"/>
                <a:ea typeface="IBM Plex Sans" pitchFamily="34" charset="-122"/>
                <a:cs typeface="IBM Plex Sans" pitchFamily="34" charset="-120"/>
              </a:rPr>
              <a:t>: D phanh dao động nên êm — vẫn hơi thiếu.</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7A4D"/>
                </a:solidFill>
                <a:latin typeface="IBM Plex Sans" pitchFamily="34" charset="0"/>
                <a:ea typeface="IBM Plex Sans" pitchFamily="34" charset="-122"/>
                <a:cs typeface="IBM Plex Sans" pitchFamily="34" charset="-120"/>
              </a:rPr>
              <a:t>P + I + D</a:t>
            </a:r>
            <a:r>
              <a:rPr lang="en-US" sz="1400" dirty="0">
                <a:solidFill>
                  <a:srgbClr val="13202E"/>
                </a:solidFill>
                <a:latin typeface="IBM Plex Sans" pitchFamily="34" charset="0"/>
                <a:ea typeface="IBM Plex Sans" pitchFamily="34" charset="-122"/>
                <a:cs typeface="IBM Plex Sans" pitchFamily="34" charset="-120"/>
              </a:rPr>
              <a:t>: I xóa khoảng thiếu cuối, nên dừng đúng mục tiêu.</a:t>
            </a:r>
            <a:endParaRPr lang="en-US" sz="1400" dirty="0"/>
          </a:p>
        </p:txBody>
      </p:sp>
      <p:sp>
        <p:nvSpPr>
          <p:cNvPr id="8" name="Shape 6"/>
          <p:cNvSpPr/>
          <p:nvPr/>
        </p:nvSpPr>
        <p:spPr>
          <a:xfrm>
            <a:off x="812800" y="3355181"/>
            <a:ext cx="5054600" cy="1031180"/>
          </a:xfrm>
          <a:prstGeom prst="roundRect">
            <a:avLst>
              <a:gd name="adj" fmla="val 9853"/>
            </a:avLst>
          </a:prstGeom>
          <a:solidFill>
            <a:srgbClr val="13202E"/>
          </a:solidFill>
          <a:ln/>
        </p:spPr>
      </p:sp>
      <p:sp>
        <p:nvSpPr>
          <p:cNvPr id="9" name="Text 7"/>
          <p:cNvSpPr/>
          <p:nvPr/>
        </p:nvSpPr>
        <p:spPr>
          <a:xfrm>
            <a:off x="1016000" y="350758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377170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Vòi sen: P vặn về nóng, I tiếp tục thêm khi còn lạnh, D giảm bớt khi nước nóng lên nhanh.</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đáp ứng bước: chỉ P thì lắc và dừng thiếu, P cộng D êm hơn nhưng vẫn thiếu, PID đầy đủ tới đúng mục tiêu">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đã tới được bao xa</a:t>
            </a:r>
            <a:endParaRPr lang="en-US" sz="1200" dirty="0"/>
          </a:p>
        </p:txBody>
      </p:sp>
      <p:sp>
        <p:nvSpPr>
          <p:cNvPr id="15" name="Text 12"/>
          <p:cNvSpPr/>
          <p:nvPr/>
        </p:nvSpPr>
        <p:spPr>
          <a:xfrm>
            <a:off x="10236200" y="2397720"/>
            <a:ext cx="939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mục tiêu</a:t>
            </a:r>
            <a:endParaRPr lang="en-US" sz="12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70 · Nguồn: pidCompute()</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 đẩy tỷ lệ với sai số</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P = Kp × sai số. Sai số gấp đôi, lực đẩy gấp đôi.</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Kp của roll và pitch</a:t>
            </a:r>
            <a:endParaRPr lang="en-US" sz="1800" dirty="0"/>
          </a:p>
        </p:txBody>
      </p:sp>
      <p:sp>
        <p:nvSpPr>
          <p:cNvPr id="7" name="Text 5"/>
          <p:cNvSpPr/>
          <p:nvPr/>
        </p:nvSpPr>
        <p:spPr>
          <a:xfrm>
            <a:off x="10795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1,3</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Kp của yaw</a:t>
            </a:r>
            <a:endParaRPr lang="en-US" sz="1800" dirty="0"/>
          </a:p>
        </p:txBody>
      </p:sp>
      <p:sp>
        <p:nvSpPr>
          <p:cNvPr id="10" name="Text 8"/>
          <p:cNvSpPr/>
          <p:nvPr/>
        </p:nvSpPr>
        <p:spPr>
          <a:xfrm>
            <a:off x="46609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4,0 (mô-men yaw yếu)</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P quá lớn</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Drone rung nhanh (dao động). Quá nhỏ: cảm giác mềm, lười.</a:t>
            </a:r>
            <a:endParaRPr lang="en-US" sz="1400" dirty="0"/>
          </a:p>
        </p:txBody>
      </p:sp>
      <p:sp>
        <p:nvSpPr>
          <p:cNvPr id="14" name="Shape 12"/>
          <p:cNvSpPr/>
          <p:nvPr/>
        </p:nvSpPr>
        <p:spPr>
          <a:xfrm>
            <a:off x="812800" y="3916511"/>
            <a:ext cx="10566400" cy="1018480"/>
          </a:xfrm>
          <a:prstGeom prst="roundRect">
            <a:avLst>
              <a:gd name="adj" fmla="val 9976"/>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Drone lăn 10 °/s mà ta muốn 0 → sai số 10 → P = 1,3 × 10 = 13 đơn vị sửa động cơ.</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71 · Nguồn: #define PID_ROLL_KP</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I: sửa sai số không chịu biến mất</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I sửa sai số không chịu biến mất.</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I cộng dồn sai số mỗi vòng: </a:t>
            </a:r>
            <a:r>
              <a:rPr lang="en-US" sz="1400" b="1" dirty="0">
                <a:solidFill>
                  <a:srgbClr val="13202E"/>
                </a:solidFill>
                <a:latin typeface="IBM Plex Sans" pitchFamily="34" charset="0"/>
                <a:ea typeface="IBM Plex Sans" pitchFamily="34" charset="-122"/>
                <a:cs typeface="IBM Plex Sans" pitchFamily="34" charset="-120"/>
              </a:rPr>
              <a:t>i_mem += Ki × sai số</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Sai số nhỏ mà kéo dài thành lệnh sửa lớn.</a:t>
            </a:r>
            <a:endParaRPr lang="en-US" sz="1400" dirty="0"/>
          </a:p>
        </p:txBody>
      </p:sp>
      <p:sp>
        <p:nvSpPr>
          <p:cNvPr id="7" name="Text 5"/>
          <p:cNvSpPr/>
          <p:nvPr/>
        </p:nvSpPr>
        <p:spPr>
          <a:xfrm>
            <a:off x="812800" y="29665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Ki của roll và pitch = 0,04 — rất nhỏ mỗi vòng, nhưng 250 vòng mỗi giây.</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Pin lệch tâm 2 mm → sai số 1 °/s. Sau 1 s: I = 0,04 × 1 × 250 = 10 đơn vị — đủ giữ thăng bằng.</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chỉ có P thì sai số 1 độ/giây vẫn còn; có I thì giảm về 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sai số (°/s)</a:t>
            </a:r>
            <a:endParaRPr lang="en-US" sz="1200" dirty="0"/>
          </a:p>
        </p:txBody>
      </p:sp>
      <p:sp>
        <p:nvSpPr>
          <p:cNvPr id="15" name="Text 12"/>
          <p:cNvSpPr/>
          <p:nvPr/>
        </p:nvSpPr>
        <p:spPr>
          <a:xfrm>
            <a:off x="8585200" y="2385020"/>
            <a:ext cx="26162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Chỉ P: sai số không đổi vẫn còn</a:t>
            </a:r>
            <a:endParaRPr lang="en-US" sz="1300" dirty="0"/>
          </a:p>
        </p:txBody>
      </p:sp>
      <p:sp>
        <p:nvSpPr>
          <p:cNvPr id="16" name="Text 13"/>
          <p:cNvSpPr/>
          <p:nvPr/>
        </p:nvSpPr>
        <p:spPr>
          <a:xfrm>
            <a:off x="8839200" y="4061420"/>
            <a:ext cx="235458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F7A4D"/>
                </a:solidFill>
                <a:latin typeface="IBM Plex Sans" pitchFamily="34" charset="0"/>
                <a:ea typeface="IBM Plex Sans" pitchFamily="34" charset="-122"/>
                <a:cs typeface="IBM Plex Sans" pitchFamily="34" charset="-120"/>
              </a:rPr>
              <a:t>Có I: sai số về 0</a:t>
            </a:r>
            <a:endParaRPr lang="en-US" sz="13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72 · Nguồn: pidCompute()</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D: phanh trước khi vượt quá</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D phản ứng với tốc độ thay đổi của sai số. Nó là bộ giảm chấn.</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Mã</a:t>
            </a:r>
            <a:endParaRPr lang="en-US" sz="1800" dirty="0"/>
          </a:p>
        </p:txBody>
      </p:sp>
      <p:sp>
        <p:nvSpPr>
          <p:cNvPr id="7" name="Text 5"/>
          <p:cNvSpPr/>
          <p:nvPr/>
        </p:nvSpPr>
        <p:spPr>
          <a:xfrm>
            <a:off x="1079500" y="2923431"/>
            <a:ext cx="295630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 = Kd × (sai số − sai số trước).</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Kd của roll và pitch</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18 — lớn, vì thay đổi mỗi vòng 4 ms rất nhỏ.</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D quá lớn</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Động cơ nóng và rít cao: D khuếch đại nhiễu cảm biến.</a:t>
            </a:r>
            <a:endParaRPr lang="en-US" sz="1400" dirty="0"/>
          </a:p>
        </p:txBody>
      </p:sp>
      <p:sp>
        <p:nvSpPr>
          <p:cNvPr id="14" name="Shape 12"/>
          <p:cNvSpPr/>
          <p:nvPr/>
        </p:nvSpPr>
        <p:spPr>
          <a:xfrm>
            <a:off x="812800" y="3916511"/>
            <a:ext cx="10566400" cy="1018480"/>
          </a:xfrm>
          <a:prstGeom prst="roundRect">
            <a:avLst>
              <a:gd name="adj" fmla="val 9976"/>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61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Sai số từ 10 xuống 7 trong một vòng → thay đổi −3 → D = 18 × (−3) = −54, phanh lệnh sửa trước khi vượt quá.</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73 · Nguồn: #define PID_ROLL_KD, PID_YAW_KD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pidCompute(): trục roll</a:t>
            </a:r>
            <a:endParaRPr lang="en-US" sz="3000" dirty="0"/>
          </a:p>
        </p:txBody>
      </p:sp>
      <p:sp>
        <p:nvSpPr>
          <p:cNvPr id="4" name="Text 2"/>
          <p:cNvSpPr/>
          <p:nvPr/>
        </p:nvSpPr>
        <p:spPr>
          <a:xfrm>
            <a:off x="812800" y="1775420"/>
            <a:ext cx="6187430" cy="3130550"/>
          </a:xfrm>
          <a:prstGeom prst="roundRect">
            <a:avLst>
              <a:gd name="adj" fmla="val 324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err = gyro_roll - roll_setpoint;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pid_i_mem_roll += pid_i_gain_roll * err;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pid_i_mem_roll = constrain(pid_i_mem_roll,</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-I_TERM_LIMIT, I_TERM_LIMIT);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pid_p_roll = pid_p_gain_roll * err;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pid_i_roll = pid_i_mem_roll;</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pid_d_roll = pid_d_gain_roll * (err - pid_last_roll_err);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pid_output_roll = pid_p_roll + pid_i_roll + pid_d_roll;</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pid_last_roll_err = err;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pid_output_roll = constrain(pid_output_roll,</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-PID_LIMIT, PID_LIMIT);</a:t>
            </a:r>
            <a:endParaRPr lang="en-US" sz="1300" dirty="0"/>
          </a:p>
        </p:txBody>
      </p:sp>
      <p:sp>
        <p:nvSpPr>
          <p:cNvPr id="5" name="Text 3"/>
          <p:cNvSpPr/>
          <p:nvPr/>
        </p:nvSpPr>
        <p:spPr>
          <a:xfrm>
            <a:off x="7254230" y="1775420"/>
            <a:ext cx="4937770"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Pitch và yaw lặp lại mười dòng này với hệ số riêng.</a:t>
            </a:r>
            <a:endParaRPr lang="en-US" sz="1450" dirty="0"/>
          </a:p>
        </p:txBody>
      </p:sp>
      <p:sp>
        <p:nvSpPr>
          <p:cNvPr id="6" name="Text 4"/>
          <p:cNvSpPr/>
          <p:nvPr/>
        </p:nvSpPr>
        <p:spPr>
          <a:xfrm>
            <a:off x="7254230" y="216019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 I và D được lưu riêng để ứng dụng vẽ biểu đồ từng thành phần (nhóm log </a:t>
            </a:r>
            <a:r>
              <a:rPr lang="en-US" sz="1450" b="1" dirty="0">
                <a:solidFill>
                  <a:srgbClr val="13202E"/>
                </a:solidFill>
                <a:latin typeface="IBM Plex Sans" pitchFamily="34" charset="0"/>
                <a:ea typeface="IBM Plex Sans" pitchFamily="34" charset="-122"/>
                <a:cs typeface="IBM Plex Sans" pitchFamily="34" charset="-120"/>
              </a:rPr>
              <a:t>pid</a:t>
            </a:r>
            <a:r>
              <a:rPr lang="en-US" sz="1450" dirty="0">
                <a:solidFill>
                  <a:srgbClr val="13202E"/>
                </a:solidFill>
                <a:latin typeface="IBM Plex Sans" pitchFamily="34" charset="0"/>
                <a:ea typeface="IBM Plex Sans" pitchFamily="34" charset="-122"/>
                <a:cs typeface="IBM Plex Sans" pitchFamily="34" charset="-120"/>
              </a:rPr>
              <a:t>).</a:t>
            </a:r>
            <a:endParaRPr lang="en-US" sz="145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74 · Nguồn: pidCompute()</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Dấu của sai số rất quan trọng</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Ở đây sai số = đo được − mong muốn (gyro − setpoint). Nhiều sách viết mong muốn − đo được.</a:t>
            </a:r>
            <a:endParaRPr lang="en-US" sz="1700" dirty="0"/>
          </a:p>
        </p:txBody>
      </p:sp>
      <p:sp>
        <p:nvSpPr>
          <p:cNvPr id="5" name="Shape 3"/>
          <p:cNvSpPr/>
          <p:nvPr/>
        </p:nvSpPr>
        <p:spPr>
          <a:xfrm>
            <a:off x="819150" y="2337991"/>
            <a:ext cx="3390900" cy="1318171"/>
          </a:xfrm>
          <a:prstGeom prst="roundRect">
            <a:avLst>
              <a:gd name="adj" fmla="val 7226"/>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Cách nào cũng được</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…miễn dấu của bộ trộn khớp với lựa chọn.</a:t>
            </a:r>
            <a:endParaRPr lang="en-US" sz="1400" dirty="0"/>
          </a:p>
        </p:txBody>
      </p:sp>
      <p:sp>
        <p:nvSpPr>
          <p:cNvPr id="8" name="Shape 6"/>
          <p:cNvSpPr/>
          <p:nvPr/>
        </p:nvSpPr>
        <p:spPr>
          <a:xfrm>
            <a:off x="4400550" y="2337991"/>
            <a:ext cx="3390900" cy="1318171"/>
          </a:xfrm>
          <a:prstGeom prst="roundRect">
            <a:avLst>
              <a:gd name="adj" fmla="val 7226"/>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Quy tắc</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Đầu ra dương phải đẩy drone về tốc độ âm.</a:t>
            </a:r>
            <a:endParaRPr lang="en-US" sz="1400" dirty="0"/>
          </a:p>
        </p:txBody>
      </p:sp>
      <p:sp>
        <p:nvSpPr>
          <p:cNvPr id="11" name="Shape 9"/>
          <p:cNvSpPr/>
          <p:nvPr/>
        </p:nvSpPr>
        <p:spPr>
          <a:xfrm>
            <a:off x="7981950" y="2337991"/>
            <a:ext cx="3390900" cy="1318171"/>
          </a:xfrm>
          <a:prstGeom prst="roundRect">
            <a:avLst>
              <a:gd name="adj" fmla="val 7226"/>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Nếu một dấu sai</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Lệnh sửa thành lệnh đẩy, và drone lật ngay lập tức.</a:t>
            </a:r>
            <a:endParaRPr lang="en-US" sz="1400" dirty="0"/>
          </a:p>
        </p:txBody>
      </p:sp>
      <p:sp>
        <p:nvSpPr>
          <p:cNvPr id="14" name="Shape 12"/>
          <p:cNvSpPr/>
          <p:nvPr/>
        </p:nvSpPr>
        <p:spPr>
          <a:xfrm>
            <a:off x="812800" y="3916511"/>
            <a:ext cx="10566400" cy="1302941"/>
          </a:xfrm>
          <a:prstGeom prst="roundRect">
            <a:avLst>
              <a:gd name="adj" fmla="val 7798"/>
            </a:avLst>
          </a:prstGeom>
          <a:solidFill>
            <a:srgbClr val="13202E"/>
          </a:solidFill>
          <a:ln/>
        </p:spPr>
      </p:sp>
      <p:sp>
        <p:nvSpPr>
          <p:cNvPr id="15" name="Text 13"/>
          <p:cNvSpPr/>
          <p:nvPr/>
        </p:nvSpPr>
        <p:spPr>
          <a:xfrm>
            <a:off x="1117600" y="414511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421932"/>
            <a:ext cx="1025550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Thử khi tháo cánh: arm, nghiêng drone bằng tay. Động cơ phía thấp phải tăng tốc. Nếu phía cao tăng tốc, có một dấu sai.</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75 · Nguồn: pidCompute(), #define GYRO_X_SIGN</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Wind-up: vì sao I bị giới hạn và đặt lại</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Wind-up: I tăng khi nó không thể tác động.</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Trên nền gồ ghề, sai số nhỏ không bao giờ hết, nên I cứ tăng.</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Lúc cất cánh, I tích trữ đó làm drone nghiêng mạnh.</a:t>
            </a:r>
            <a:endParaRPr lang="en-US" sz="1400" dirty="0"/>
          </a:p>
        </p:txBody>
      </p:sp>
      <p:sp>
        <p:nvSpPr>
          <p:cNvPr id="7" name="Text 5"/>
          <p:cNvSpPr/>
          <p:nvPr/>
        </p:nvSpPr>
        <p:spPr>
          <a:xfrm>
            <a:off x="812800" y="29665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Hai cách sửa</a:t>
            </a:r>
            <a:r>
              <a:rPr lang="en-US" sz="1400" dirty="0">
                <a:solidFill>
                  <a:srgbClr val="13202E"/>
                </a:solidFill>
                <a:latin typeface="IBM Plex Sans" pitchFamily="34" charset="0"/>
                <a:ea typeface="IBM Plex Sans" pitchFamily="34" charset="-122"/>
                <a:cs typeface="IBM Plex Sans" pitchFamily="34" charset="-120"/>
              </a:rPr>
              <a:t>: kẹp I trong ±400, và đặt lại khi ga ở mức không tải.</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Sai số 2 trong 5 s trên đất → I = 0,04 × 2 × 1250 = 100 đơn vị tích trữ trước khi cất cánh.</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không đặt lại thì bộ nhớ I lên 100 trên mặt đất và giật khi cất cánh; có đặt lại thì giữ ở 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bộ nhớ I</a:t>
            </a:r>
            <a:endParaRPr lang="en-US" sz="1200" dirty="0"/>
          </a:p>
        </p:txBody>
      </p:sp>
      <p:sp>
        <p:nvSpPr>
          <p:cNvPr id="15" name="Text 12"/>
          <p:cNvSpPr/>
          <p:nvPr/>
        </p:nvSpPr>
        <p:spPr>
          <a:xfrm>
            <a:off x="9544050" y="20294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cất cánh</a:t>
            </a:r>
            <a:endParaRPr lang="en-US" sz="1200" dirty="0"/>
          </a:p>
        </p:txBody>
      </p:sp>
      <p:sp>
        <p:nvSpPr>
          <p:cNvPr id="16" name="Text 13"/>
          <p:cNvSpPr/>
          <p:nvPr/>
        </p:nvSpPr>
        <p:spPr>
          <a:xfrm>
            <a:off x="6870700" y="2664420"/>
            <a:ext cx="196215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không đặt lại: I tăng trên mặt đất</a:t>
            </a:r>
            <a:endParaRPr lang="en-US" sz="1200" dirty="0"/>
          </a:p>
        </p:txBody>
      </p:sp>
      <p:sp>
        <p:nvSpPr>
          <p:cNvPr id="17" name="Text 14"/>
          <p:cNvSpPr/>
          <p:nvPr/>
        </p:nvSpPr>
        <p:spPr>
          <a:xfrm>
            <a:off x="9728200" y="4442420"/>
            <a:ext cx="15113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7A4D"/>
                </a:solidFill>
                <a:latin typeface="IBM Plex Sans" pitchFamily="34" charset="0"/>
                <a:ea typeface="IBM Plex Sans" pitchFamily="34" charset="-122"/>
                <a:cs typeface="IBM Plex Sans" pitchFamily="34" charset="-120"/>
              </a:rPr>
              <a:t>đặt lại khi không tải: I = 0</a:t>
            </a:r>
            <a:endParaRPr lang="en-US" sz="12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76 · Nguồn: pidCompute(), motorMix(), pidReset()</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D theo sai số, và tác dụng phụ của nó</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Cả hai giảm chấn chuyển động thật như nhau. Chúng chỉ khác khi setpoint nhảy.</a:t>
            </a:r>
            <a:endParaRPr lang="en-US" sz="1600" dirty="0"/>
          </a:p>
        </p:txBody>
      </p:sp>
      <p:sp>
        <p:nvSpPr>
          <p:cNvPr id="5" name="Shape 3"/>
          <p:cNvSpPr/>
          <p:nvPr/>
        </p:nvSpPr>
        <p:spPr>
          <a:xfrm>
            <a:off x="819150" y="2320230"/>
            <a:ext cx="5168900" cy="1983581"/>
          </a:xfrm>
          <a:prstGeom prst="roundRect">
            <a:avLst>
              <a:gd name="adj" fmla="val 4802"/>
            </a:avLst>
          </a:prstGeom>
          <a:solidFill>
            <a:srgbClr val="FDFCF8"/>
          </a:solidFill>
          <a:ln w="12700">
            <a:solidFill>
              <a:srgbClr val="E2DFD6"/>
            </a:solidFill>
            <a:prstDash val="solid"/>
          </a:ln>
        </p:spPr>
      </p:sp>
      <p:sp>
        <p:nvSpPr>
          <p:cNvPr id="6" name="Text 4"/>
          <p:cNvSpPr/>
          <p:nvPr/>
        </p:nvSpPr>
        <p:spPr>
          <a:xfrm>
            <a:off x="10795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4D"/>
                </a:solidFill>
                <a:latin typeface="IBM Plex Sans" pitchFamily="34" charset="0"/>
                <a:ea typeface="IBM Plex Sans" pitchFamily="34" charset="-122"/>
                <a:cs typeface="IBM Plex Sans" pitchFamily="34" charset="-120"/>
              </a:rPr>
              <a:t>D theo sai số (firmware này)</a:t>
            </a:r>
            <a:endParaRPr lang="en-US" sz="1900" dirty="0"/>
          </a:p>
        </p:txBody>
      </p:sp>
      <p:sp>
        <p:nvSpPr>
          <p:cNvPr id="7" name="Text 5"/>
          <p:cNvSpPr/>
          <p:nvPr/>
        </p:nvSpPr>
        <p:spPr>
          <a:xfrm>
            <a:off x="10795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 = Kd × thay đổi của (gyro − setpoint)</a:t>
            </a:r>
            <a:endParaRPr lang="en-US" sz="1400" dirty="0"/>
          </a:p>
        </p:txBody>
      </p:sp>
      <p:sp>
        <p:nvSpPr>
          <p:cNvPr id="8" name="Text 6"/>
          <p:cNvSpPr/>
          <p:nvPr/>
        </p:nvSpPr>
        <p:spPr>
          <a:xfrm>
            <a:off x="10795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Đơn giản: một công thức</a:t>
            </a:r>
            <a:endParaRPr lang="en-US" sz="1400" dirty="0"/>
          </a:p>
        </p:txBody>
      </p:sp>
      <p:sp>
        <p:nvSpPr>
          <p:cNvPr id="9" name="Text 7"/>
          <p:cNvSpPr/>
          <p:nvPr/>
        </p:nvSpPr>
        <p:spPr>
          <a:xfrm>
            <a:off x="1079500" y="357108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Gạt cần đột ngột đổi setpoint → một xung trong một vòng (derivative kick)</a:t>
            </a:r>
            <a:endParaRPr lang="en-US" sz="1400" dirty="0"/>
          </a:p>
        </p:txBody>
      </p:sp>
      <p:sp>
        <p:nvSpPr>
          <p:cNvPr id="10" name="Shape 8"/>
          <p:cNvSpPr/>
          <p:nvPr/>
        </p:nvSpPr>
        <p:spPr>
          <a:xfrm>
            <a:off x="6203950" y="2320230"/>
            <a:ext cx="5168900" cy="1983581"/>
          </a:xfrm>
          <a:prstGeom prst="roundRect">
            <a:avLst>
              <a:gd name="adj" fmla="val 4802"/>
            </a:avLst>
          </a:prstGeom>
          <a:solidFill>
            <a:srgbClr val="FDFCF8"/>
          </a:solidFill>
          <a:ln w="12700">
            <a:solidFill>
              <a:srgbClr val="E2DFD6"/>
            </a:solidFill>
            <a:prstDash val="solid"/>
          </a:ln>
        </p:spPr>
      </p:sp>
      <p:sp>
        <p:nvSpPr>
          <p:cNvPr id="11" name="Text 9"/>
          <p:cNvSpPr/>
          <p:nvPr/>
        </p:nvSpPr>
        <p:spPr>
          <a:xfrm>
            <a:off x="64643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2318"/>
                </a:solidFill>
                <a:latin typeface="IBM Plex Sans" pitchFamily="34" charset="0"/>
                <a:ea typeface="IBM Plex Sans" pitchFamily="34" charset="-122"/>
                <a:cs typeface="IBM Plex Sans" pitchFamily="34" charset="-120"/>
              </a:rPr>
              <a:t>D theo phép đo (cách khác)</a:t>
            </a:r>
            <a:endParaRPr lang="en-US" sz="1900" dirty="0"/>
          </a:p>
        </p:txBody>
      </p:sp>
      <p:sp>
        <p:nvSpPr>
          <p:cNvPr id="12" name="Text 10"/>
          <p:cNvSpPr/>
          <p:nvPr/>
        </p:nvSpPr>
        <p:spPr>
          <a:xfrm>
            <a:off x="64643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 = Kd × thay đổi của riêng gyro</a:t>
            </a:r>
            <a:endParaRPr lang="en-US" sz="1400" dirty="0"/>
          </a:p>
        </p:txBody>
      </p:sp>
      <p:sp>
        <p:nvSpPr>
          <p:cNvPr id="13" name="Text 11"/>
          <p:cNvSpPr/>
          <p:nvPr/>
        </p:nvSpPr>
        <p:spPr>
          <a:xfrm>
            <a:off x="64643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Không có xung khi gạt cần</a:t>
            </a:r>
            <a:endParaRPr lang="en-US" sz="1400" dirty="0"/>
          </a:p>
        </p:txBody>
      </p:sp>
      <p:sp>
        <p:nvSpPr>
          <p:cNvPr id="14" name="Text 12"/>
          <p:cNvSpPr/>
          <p:nvPr/>
        </p:nvSpPr>
        <p:spPr>
          <a:xfrm>
            <a:off x="6464300" y="357108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Mã nhiều hơn chút; lựa chọn phổ biến ở hệ bay lớn</a:t>
            </a:r>
            <a:endParaRPr lang="en-US" sz="1400" dirty="0"/>
          </a:p>
        </p:txBody>
      </p:sp>
      <p:sp>
        <p:nvSpPr>
          <p:cNvPr id="15" name="Text 13"/>
          <p:cNvSpPr/>
          <p:nvPr/>
        </p:nvSpPr>
        <p:spPr>
          <a:xfrm>
            <a:off x="812800" y="456416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Hỏi tại sao xung ở đây nhỏ: setpoint từ cần thay đổi mượt và đầu ra bị kẹp ±400.</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77 · Nguồn: pidCompute()</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giới hạn giữ cho điều khiển còn khả thi</a:t>
            </a:r>
            <a:endParaRPr lang="en-US" sz="3000" dirty="0"/>
          </a:p>
        </p:txBody>
      </p:sp>
      <p:sp>
        <p:nvSpPr>
          <p:cNvPr id="4" name="Shape 2"/>
          <p:cNvSpPr/>
          <p:nvPr/>
        </p:nvSpPr>
        <p:spPr>
          <a:xfrm>
            <a:off x="812800" y="1775420"/>
            <a:ext cx="3403600" cy="1990725"/>
          </a:xfrm>
          <a:prstGeom prst="roundRect">
            <a:avLst>
              <a:gd name="adj" fmla="val 5104"/>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±400</a:t>
            </a:r>
            <a:endParaRPr lang="en-US" sz="4400" dirty="0"/>
          </a:p>
        </p:txBody>
      </p:sp>
      <p:sp>
        <p:nvSpPr>
          <p:cNvPr id="6" name="Text 4"/>
          <p:cNvSpPr/>
          <p:nvPr/>
        </p:nvSpPr>
        <p:spPr>
          <a:xfrm>
            <a:off x="10922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kẹp đầu ra PID (PID_LIMIT): một trục không chiếm hết dải động cơ</a:t>
            </a:r>
            <a:endParaRPr lang="en-US" sz="1500" dirty="0"/>
          </a:p>
        </p:txBody>
      </p:sp>
      <p:sp>
        <p:nvSpPr>
          <p:cNvPr id="7" name="Shape 5"/>
          <p:cNvSpPr/>
          <p:nvPr/>
        </p:nvSpPr>
        <p:spPr>
          <a:xfrm>
            <a:off x="4394200" y="1775420"/>
            <a:ext cx="3403600" cy="1990725"/>
          </a:xfrm>
          <a:prstGeom prst="roundRect">
            <a:avLst>
              <a:gd name="adj" fmla="val 5104"/>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1800</a:t>
            </a:r>
            <a:endParaRPr lang="en-US" sz="4400" dirty="0"/>
          </a:p>
        </p:txBody>
      </p:sp>
      <p:sp>
        <p:nvSpPr>
          <p:cNvPr id="9" name="Text 7"/>
          <p:cNvSpPr/>
          <p:nvPr/>
        </p:nvSpPr>
        <p:spPr>
          <a:xfrm>
            <a:off x="46736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THROTTLE_MAX: ga tối đa còn chừa 200 cho lệnh sửa</a:t>
            </a:r>
            <a:endParaRPr lang="en-US" sz="1500" dirty="0"/>
          </a:p>
        </p:txBody>
      </p:sp>
      <p:sp>
        <p:nvSpPr>
          <p:cNvPr id="10" name="Shape 8"/>
          <p:cNvSpPr/>
          <p:nvPr/>
        </p:nvSpPr>
        <p:spPr>
          <a:xfrm>
            <a:off x="7975600" y="1775420"/>
            <a:ext cx="3403600" cy="1990725"/>
          </a:xfrm>
          <a:prstGeom prst="roundRect">
            <a:avLst>
              <a:gd name="adj" fmla="val 5104"/>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1100</a:t>
            </a:r>
            <a:endParaRPr lang="en-US" sz="4400" dirty="0"/>
          </a:p>
        </p:txBody>
      </p:sp>
      <p:sp>
        <p:nvSpPr>
          <p:cNvPr id="12" name="Text 10"/>
          <p:cNvSpPr/>
          <p:nvPr/>
        </p:nvSpPr>
        <p:spPr>
          <a:xfrm>
            <a:off x="8255000" y="2715220"/>
            <a:ext cx="293014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mức tối thiểu khi arm mỗi động cơ: cánh không bao giờ dừng trên không</a:t>
            </a:r>
            <a:endParaRPr lang="en-US" sz="1500" dirty="0"/>
          </a:p>
        </p:txBody>
      </p:sp>
      <p:sp>
        <p:nvSpPr>
          <p:cNvPr id="13" name="Text 11"/>
          <p:cNvSpPr/>
          <p:nvPr/>
        </p:nvSpPr>
        <p:spPr>
          <a:xfrm>
            <a:off x="812800" y="402014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Ví dụ: ga 1800, sửa roll +250 → động cơ phải muốn 2050 → kẹp còn 2000. Không có trần 1800 thì chẳng còn chỗ nào.</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78 · Nguồn: #define PID_LIMIT, THROTTLE_MAX; motorMix()</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Hai vòng chồng nhau: góc ở ngoài, tốc độ ở trong</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Hai vòng chồng nhau: góc ở ngoài, tốc độ ở trong.</a:t>
            </a:r>
            <a:endParaRPr lang="en-US" sz="1600" dirty="0"/>
          </a:p>
        </p:txBody>
      </p:sp>
      <p:sp>
        <p:nvSpPr>
          <p:cNvPr id="5" name="Text 3"/>
          <p:cNvSpPr/>
          <p:nvPr/>
        </p:nvSpPr>
        <p:spPr>
          <a:xfrm>
            <a:off x="812800" y="218941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01A"/>
                </a:solidFill>
                <a:latin typeface="IBM Plex Sans" pitchFamily="34" charset="0"/>
                <a:ea typeface="IBM Plex Sans" pitchFamily="34" charset="-122"/>
                <a:cs typeface="IBM Plex Sans" pitchFamily="34" charset="-120"/>
              </a:rPr>
              <a:t>Vòng ngoài</a:t>
            </a:r>
            <a:r>
              <a:rPr lang="en-US" sz="1400" dirty="0">
                <a:solidFill>
                  <a:srgbClr val="13202E"/>
                </a:solidFill>
                <a:latin typeface="IBM Plex Sans" pitchFamily="34" charset="0"/>
                <a:ea typeface="IBM Plex Sans" pitchFamily="34" charset="-122"/>
                <a:cs typeface="IBM Plex Sans" pitchFamily="34" charset="-120"/>
              </a:rPr>
              <a:t>: sai số góc × 15 → xoay về nhanh cỡ nào (tốc độ mục tiêu).</a:t>
            </a:r>
            <a:endParaRPr lang="en-US" sz="1400" dirty="0"/>
          </a:p>
        </p:txBody>
      </p:sp>
      <p:sp>
        <p:nvSpPr>
          <p:cNvPr id="6" name="Text 4"/>
          <p:cNvSpPr/>
          <p:nvPr/>
        </p:nvSpPr>
        <p:spPr>
          <a:xfrm>
            <a:off x="812800" y="28268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6FA3"/>
                </a:solidFill>
                <a:latin typeface="IBM Plex Sans" pitchFamily="34" charset="0"/>
                <a:ea typeface="IBM Plex Sans" pitchFamily="34" charset="-122"/>
                <a:cs typeface="IBM Plex Sans" pitchFamily="34" charset="-120"/>
              </a:rPr>
              <a:t>Vòng trong</a:t>
            </a:r>
            <a:r>
              <a:rPr lang="en-US" sz="1400" dirty="0">
                <a:solidFill>
                  <a:srgbClr val="13202E"/>
                </a:solidFill>
                <a:latin typeface="IBM Plex Sans" pitchFamily="34" charset="0"/>
                <a:ea typeface="IBM Plex Sans" pitchFamily="34" charset="-122"/>
                <a:cs typeface="IBM Plex Sans" pitchFamily="34" charset="-120"/>
              </a:rPr>
              <a:t>: tốc độ mục tiêu − tốc độ gyro → PID đầy đủ → bộ trộn.</a:t>
            </a:r>
            <a:endParaRPr lang="en-US" sz="1400" dirty="0"/>
          </a:p>
        </p:txBody>
      </p:sp>
      <p:sp>
        <p:nvSpPr>
          <p:cNvPr id="7" name="Text 5"/>
          <p:cNvSpPr/>
          <p:nvPr/>
        </p:nvSpPr>
        <p:spPr>
          <a:xfrm>
            <a:off x="812800" y="346437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Vì sao hai vòng? Vòng tốc độ nhanh chống nhiễu nhanh; vòng góc chỉ quyết định quay về nhanh cỡ nào.</a:t>
            </a:r>
            <a:endParaRPr lang="en-US" sz="1400" dirty="0"/>
          </a:p>
        </p:txBody>
      </p:sp>
      <p:sp>
        <p:nvSpPr>
          <p:cNvPr id="8" name="Shape 6"/>
          <p:cNvSpPr/>
          <p:nvPr/>
        </p:nvSpPr>
        <p:spPr>
          <a:xfrm>
            <a:off x="812800" y="4101852"/>
            <a:ext cx="5054600" cy="1031180"/>
          </a:xfrm>
          <a:prstGeom prst="roundRect">
            <a:avLst>
              <a:gd name="adj" fmla="val 9853"/>
            </a:avLst>
          </a:prstGeom>
          <a:solidFill>
            <a:srgbClr val="13202E"/>
          </a:solidFill>
          <a:ln/>
        </p:spPr>
      </p:sp>
      <p:sp>
        <p:nvSpPr>
          <p:cNvPr id="9" name="Text 7"/>
          <p:cNvSpPr/>
          <p:nvPr/>
        </p:nvSpPr>
        <p:spPr>
          <a:xfrm>
            <a:off x="1016000" y="425425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51837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Góc 4°, mục tiêu 0° → vòng ngoài đòi −60 °/s → gyro đọc −20 °/s → sai số trong +40 → đẩy mạnh hơn về.</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Sơ đồ nối tầng: góc mục tiêu trừ góc đã lọc ra sai số, nhân 15 ra tốc độ mục tiêu; tốc độ mục tiêu trừ tốc độ gyro vào PID tốc độ, rồi bộ trộn và drone">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324725" y="1848445"/>
            <a:ext cx="1504950" cy="278110"/>
          </a:xfrm>
          <a:prstGeom prst="roundRect">
            <a:avLst>
              <a:gd name="adj" fmla="val 2397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Góc mục tiêu</a:t>
            </a:r>
            <a:endParaRPr lang="en-US" sz="1200" dirty="0"/>
          </a:p>
        </p:txBody>
      </p:sp>
      <p:sp>
        <p:nvSpPr>
          <p:cNvPr id="14" name="Text 11"/>
          <p:cNvSpPr/>
          <p:nvPr/>
        </p:nvSpPr>
        <p:spPr>
          <a:xfrm>
            <a:off x="7324725" y="2864445"/>
            <a:ext cx="1504950" cy="278110"/>
          </a:xfrm>
          <a:prstGeom prst="roundRect">
            <a:avLst>
              <a:gd name="adj" fmla="val 2397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 15 tự cân bằng</a:t>
            </a:r>
            <a:endParaRPr lang="en-US" sz="1200" dirty="0"/>
          </a:p>
        </p:txBody>
      </p:sp>
      <p:sp>
        <p:nvSpPr>
          <p:cNvPr id="15" name="Text 12"/>
          <p:cNvSpPr/>
          <p:nvPr/>
        </p:nvSpPr>
        <p:spPr>
          <a:xfrm>
            <a:off x="7324725" y="3880445"/>
            <a:ext cx="1504950" cy="278110"/>
          </a:xfrm>
          <a:prstGeom prst="roundRect">
            <a:avLst>
              <a:gd name="adj" fmla="val 23974"/>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PID tốc độ</a:t>
            </a:r>
            <a:endParaRPr lang="en-US" sz="1200" dirty="0"/>
          </a:p>
        </p:txBody>
      </p:sp>
      <p:sp>
        <p:nvSpPr>
          <p:cNvPr id="16" name="Text 13"/>
          <p:cNvSpPr/>
          <p:nvPr/>
        </p:nvSpPr>
        <p:spPr>
          <a:xfrm>
            <a:off x="7324725" y="4680545"/>
            <a:ext cx="1504950" cy="278110"/>
          </a:xfrm>
          <a:prstGeom prst="roundRect">
            <a:avLst>
              <a:gd name="adj" fmla="val 2397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Bộ trộn + động cơ</a:t>
            </a:r>
            <a:endParaRPr lang="en-US" sz="1200" dirty="0"/>
          </a:p>
        </p:txBody>
      </p:sp>
      <p:sp>
        <p:nvSpPr>
          <p:cNvPr id="17" name="Text 14"/>
          <p:cNvSpPr/>
          <p:nvPr/>
        </p:nvSpPr>
        <p:spPr>
          <a:xfrm>
            <a:off x="9737725" y="4680545"/>
            <a:ext cx="1377950" cy="278110"/>
          </a:xfrm>
          <a:prstGeom prst="roundRect">
            <a:avLst>
              <a:gd name="adj" fmla="val 23974"/>
            </a:avLst>
          </a:prstGeom>
          <a:solidFill>
            <a:srgbClr val="13202E"/>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F6F5F0"/>
                </a:solidFill>
                <a:latin typeface="IBM Plex Sans" pitchFamily="34" charset="0"/>
                <a:ea typeface="IBM Plex Sans" pitchFamily="34" charset="-122"/>
                <a:cs typeface="IBM Plex Sans" pitchFamily="34" charset="-120"/>
              </a:rPr>
              <a:t>Drone</a:t>
            </a:r>
            <a:endParaRPr lang="en-US" sz="1200" dirty="0"/>
          </a:p>
        </p:txBody>
      </p:sp>
      <p:sp>
        <p:nvSpPr>
          <p:cNvPr id="18" name="Text 15"/>
          <p:cNvSpPr/>
          <p:nvPr/>
        </p:nvSpPr>
        <p:spPr>
          <a:xfrm>
            <a:off x="9737725" y="3880445"/>
            <a:ext cx="1377950" cy="278110"/>
          </a:xfrm>
          <a:prstGeom prst="roundRect">
            <a:avLst>
              <a:gd name="adj" fmla="val 23974"/>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Gyro: tốc độ</a:t>
            </a:r>
            <a:endParaRPr lang="en-US" sz="1200" dirty="0"/>
          </a:p>
        </p:txBody>
      </p:sp>
      <p:sp>
        <p:nvSpPr>
          <p:cNvPr id="19" name="Text 16"/>
          <p:cNvSpPr/>
          <p:nvPr/>
        </p:nvSpPr>
        <p:spPr>
          <a:xfrm>
            <a:off x="9737725" y="2864445"/>
            <a:ext cx="1377950" cy="278110"/>
          </a:xfrm>
          <a:prstGeom prst="roundRect">
            <a:avLst>
              <a:gd name="adj" fmla="val 2397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Bộ lọc: góc</a:t>
            </a:r>
            <a:endParaRPr lang="en-US" sz="1200" dirty="0"/>
          </a:p>
        </p:txBody>
      </p:sp>
      <p:sp>
        <p:nvSpPr>
          <p:cNvPr id="20" name="Text 17"/>
          <p:cNvSpPr/>
          <p:nvPr/>
        </p:nvSpPr>
        <p:spPr>
          <a:xfrm>
            <a:off x="7696200" y="2435820"/>
            <a:ext cx="368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21" name="Text 18"/>
          <p:cNvSpPr/>
          <p:nvPr/>
        </p:nvSpPr>
        <p:spPr>
          <a:xfrm>
            <a:off x="7696200" y="3451820"/>
            <a:ext cx="368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22" name="Text 19"/>
          <p:cNvSpPr/>
          <p:nvPr/>
        </p:nvSpPr>
        <p:spPr>
          <a:xfrm>
            <a:off x="9347200" y="2219920"/>
            <a:ext cx="18967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vòng ngoài: góc</a:t>
            </a:r>
            <a:endParaRPr lang="en-US" sz="1200" dirty="0"/>
          </a:p>
        </p:txBody>
      </p:sp>
      <p:sp>
        <p:nvSpPr>
          <p:cNvPr id="23" name="Text 20"/>
          <p:cNvSpPr/>
          <p:nvPr/>
        </p:nvSpPr>
        <p:spPr>
          <a:xfrm>
            <a:off x="9283700" y="3324820"/>
            <a:ext cx="18967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vòng trong: tốc độ</a:t>
            </a:r>
            <a:endParaRPr lang="en-US" sz="1200" dirty="0"/>
          </a:p>
        </p:txBody>
      </p:sp>
      <p:sp>
        <p:nvSpPr>
          <p:cNvPr id="24"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79 · Nguồn: khối tự cân bằng trong loop(), pidCompute()</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Tự cân bằng trong mã</a:t>
            </a:r>
            <a:endParaRPr lang="en-US" sz="3000" dirty="0"/>
          </a:p>
        </p:txBody>
      </p:sp>
      <p:sp>
        <p:nvSpPr>
          <p:cNvPr id="4" name="Text 2"/>
          <p:cNvSpPr/>
          <p:nvPr/>
        </p:nvSpPr>
        <p:spPr>
          <a:xfrm>
            <a:off x="812800" y="1775420"/>
            <a:ext cx="6187430" cy="2406650"/>
          </a:xfrm>
          <a:prstGeom prst="roundRect">
            <a:avLst>
              <a:gd name="adj" fmla="val 422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roll_err_deg = angle_roll_deg - sp_roll_deg;</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roll_level_adjust = constrain(</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roll_err_deg * LEVEL_SENSITIVITY, -200.0f, 200.0f);</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The level term is SUBTRACTED.</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roll_setpoint = sp_roll_rate - roll_level_adjust;</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Sai số góc → nhân 15 → tốc độ °/s, kẹp trong ±200.</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Bị trừ</a:t>
            </a:r>
            <a:r>
              <a:rPr lang="en-US" sz="1450" dirty="0">
                <a:solidFill>
                  <a:srgbClr val="13202E"/>
                </a:solidFill>
                <a:latin typeface="IBM Plex Sans" pitchFamily="34" charset="0"/>
                <a:ea typeface="IBM Plex Sans" pitchFamily="34" charset="-122"/>
                <a:cs typeface="IBM Plex Sans" pitchFamily="34" charset="-120"/>
              </a:rPr>
              <a:t>: nghiêng quá về một phía thì đòi xoay về phía kia.</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sp_roll_rate cộng thêm lệnh tốc độ của phi công (SBUS).</a:t>
            </a:r>
            <a:endParaRPr lang="en-US" sz="1450" dirty="0"/>
          </a:p>
        </p:txBody>
      </p:sp>
      <p:sp>
        <p:nvSpPr>
          <p:cNvPr id="8" name="Shape 6"/>
          <p:cNvSpPr/>
          <p:nvPr/>
        </p:nvSpPr>
        <p:spPr>
          <a:xfrm>
            <a:off x="812800" y="4436070"/>
            <a:ext cx="10566400" cy="1018480"/>
          </a:xfrm>
          <a:prstGeom prst="roundRect">
            <a:avLst>
              <a:gd name="adj" fmla="val 9976"/>
            </a:avLst>
          </a:prstGeom>
          <a:solidFill>
            <a:srgbClr val="13202E"/>
          </a:solidFill>
          <a:ln/>
        </p:spPr>
      </p:sp>
      <p:sp>
        <p:nvSpPr>
          <p:cNvPr id="9" name="Text 7"/>
          <p:cNvSpPr/>
          <p:nvPr/>
        </p:nvSpPr>
        <p:spPr>
          <a:xfrm>
            <a:off x="1117600" y="466467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94149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Nghiêng +5° quá mục tiêu → adjust = 5 × 15 = 75 → tốc độ mục tiêu −75 °/s → drone xoay về.</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80 · Nguồn: khối tự cân bằng trong loop()</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Lỗi thật: dấu của tự cân bằng</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Một ký tự, + hay −, quyết định drone có bay được hay không.</a:t>
            </a:r>
            <a:endParaRPr lang="en-US" sz="1600" dirty="0"/>
          </a:p>
        </p:txBody>
      </p:sp>
      <p:sp>
        <p:nvSpPr>
          <p:cNvPr id="5" name="Shape 3"/>
          <p:cNvSpPr/>
          <p:nvPr/>
        </p:nvSpPr>
        <p:spPr>
          <a:xfrm>
            <a:off x="819150" y="2320230"/>
            <a:ext cx="5168900" cy="1734691"/>
          </a:xfrm>
          <a:prstGeom prst="roundRect">
            <a:avLst>
              <a:gd name="adj" fmla="val 5491"/>
            </a:avLst>
          </a:prstGeom>
          <a:solidFill>
            <a:srgbClr val="FDFCF8"/>
          </a:solidFill>
          <a:ln w="12700">
            <a:solidFill>
              <a:srgbClr val="E2DFD6"/>
            </a:solidFill>
            <a:prstDash val="solid"/>
          </a:ln>
        </p:spPr>
      </p:sp>
      <p:sp>
        <p:nvSpPr>
          <p:cNvPr id="6" name="Text 4"/>
          <p:cNvSpPr/>
          <p:nvPr/>
        </p:nvSpPr>
        <p:spPr>
          <a:xfrm>
            <a:off x="10795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2318"/>
                </a:solidFill>
                <a:latin typeface="IBM Plex Sans" pitchFamily="34" charset="0"/>
                <a:ea typeface="IBM Plex Sans" pitchFamily="34" charset="-122"/>
                <a:cs typeface="IBM Plex Sans" pitchFamily="34" charset="-120"/>
              </a:rPr>
              <a:t>Trước (lỗi)</a:t>
            </a:r>
            <a:endParaRPr lang="en-US" sz="1900" dirty="0"/>
          </a:p>
        </p:txBody>
      </p:sp>
      <p:sp>
        <p:nvSpPr>
          <p:cNvPr id="7" name="Text 5"/>
          <p:cNvSpPr/>
          <p:nvPr/>
        </p:nvSpPr>
        <p:spPr>
          <a:xfrm>
            <a:off x="10795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roll_setpoint = sp_roll_rate + roll_level_adjust</a:t>
            </a:r>
            <a:endParaRPr lang="en-US" sz="1400" dirty="0"/>
          </a:p>
        </p:txBody>
      </p:sp>
      <p:sp>
        <p:nvSpPr>
          <p:cNvPr id="8" name="Text 6"/>
          <p:cNvSpPr/>
          <p:nvPr/>
        </p:nvSpPr>
        <p:spPr>
          <a:xfrm>
            <a:off x="10795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Nghiêng +5° → đòi +75 °/s: nghiêng THÊM</a:t>
            </a:r>
            <a:endParaRPr lang="en-US" sz="1400" dirty="0"/>
          </a:p>
        </p:txBody>
      </p:sp>
      <p:sp>
        <p:nvSpPr>
          <p:cNvPr id="9" name="Text 7"/>
          <p:cNvSpPr/>
          <p:nvPr/>
        </p:nvSpPr>
        <p:spPr>
          <a:xfrm>
            <a:off x="1079500" y="357108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Phản hồi dương: drone lật</a:t>
            </a:r>
            <a:endParaRPr lang="en-US" sz="1400" dirty="0"/>
          </a:p>
        </p:txBody>
      </p:sp>
      <p:sp>
        <p:nvSpPr>
          <p:cNvPr id="10" name="Shape 8"/>
          <p:cNvSpPr/>
          <p:nvPr/>
        </p:nvSpPr>
        <p:spPr>
          <a:xfrm>
            <a:off x="6203950" y="2320230"/>
            <a:ext cx="5168900" cy="1734691"/>
          </a:xfrm>
          <a:prstGeom prst="roundRect">
            <a:avLst>
              <a:gd name="adj" fmla="val 5491"/>
            </a:avLst>
          </a:prstGeom>
          <a:solidFill>
            <a:srgbClr val="FDFCF8"/>
          </a:solidFill>
          <a:ln w="12700">
            <a:solidFill>
              <a:srgbClr val="E2DFD6"/>
            </a:solidFill>
            <a:prstDash val="solid"/>
          </a:ln>
        </p:spPr>
      </p:sp>
      <p:sp>
        <p:nvSpPr>
          <p:cNvPr id="11" name="Text 9"/>
          <p:cNvSpPr/>
          <p:nvPr/>
        </p:nvSpPr>
        <p:spPr>
          <a:xfrm>
            <a:off x="64643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4D"/>
                </a:solidFill>
                <a:latin typeface="IBM Plex Sans" pitchFamily="34" charset="0"/>
                <a:ea typeface="IBM Plex Sans" pitchFamily="34" charset="-122"/>
                <a:cs typeface="IBM Plex Sans" pitchFamily="34" charset="-120"/>
              </a:rPr>
              <a:t>Sau (đã sửa)</a:t>
            </a:r>
            <a:endParaRPr lang="en-US" sz="1900" dirty="0"/>
          </a:p>
        </p:txBody>
      </p:sp>
      <p:sp>
        <p:nvSpPr>
          <p:cNvPr id="12" name="Text 10"/>
          <p:cNvSpPr/>
          <p:nvPr/>
        </p:nvSpPr>
        <p:spPr>
          <a:xfrm>
            <a:off x="64643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roll_setpoint = sp_roll_rate − roll_level_adjust</a:t>
            </a:r>
            <a:endParaRPr lang="en-US" sz="1400" dirty="0"/>
          </a:p>
        </p:txBody>
      </p:sp>
      <p:sp>
        <p:nvSpPr>
          <p:cNvPr id="13" name="Text 11"/>
          <p:cNvSpPr/>
          <p:nvPr/>
        </p:nvSpPr>
        <p:spPr>
          <a:xfrm>
            <a:off x="64643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Nghiêng +5° → đòi −75 °/s: về thăng bằng</a:t>
            </a:r>
            <a:endParaRPr lang="en-US" sz="1400" dirty="0"/>
          </a:p>
        </p:txBody>
      </p:sp>
      <p:sp>
        <p:nvSpPr>
          <p:cNvPr id="14" name="Text 12"/>
          <p:cNvSpPr/>
          <p:nvPr/>
        </p:nvSpPr>
        <p:spPr>
          <a:xfrm>
            <a:off x="6464300" y="357108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test/level_test.cpp mô phỏng cả hai</a:t>
            </a:r>
            <a:endParaRPr lang="en-US" sz="1400" dirty="0"/>
          </a:p>
        </p:txBody>
      </p:sp>
      <p:sp>
        <p:nvSpPr>
          <p:cNvPr id="15" name="Text 13"/>
          <p:cNvSpPr/>
          <p:nvPr/>
        </p:nvSpPr>
        <p:spPr>
          <a:xfrm>
            <a:off x="812800" y="43152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level_test giữ công thức cũ làm đối chứng âm, nên bài kiểm thử không thể đỗ một cách tình cờ.</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81 · Nguồn: chú thích loop(); test/level_test.cpp</a:t>
            </a:r>
            <a:endParaRPr lang="en-US"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LEVEL_SENSITIVITY = 15</a:t>
            </a:r>
            <a:endParaRPr lang="en-US" sz="3000" dirty="0"/>
          </a:p>
        </p:txBody>
      </p:sp>
      <p:sp>
        <p:nvSpPr>
          <p:cNvPr id="4" name="Shape 2"/>
          <p:cNvSpPr/>
          <p:nvPr/>
        </p:nvSpPr>
        <p:spPr>
          <a:xfrm>
            <a:off x="812800" y="1775420"/>
            <a:ext cx="3403600" cy="1733550"/>
          </a:xfrm>
          <a:prstGeom prst="roundRect">
            <a:avLst>
              <a:gd name="adj" fmla="val 5861"/>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15</a:t>
            </a:r>
            <a:endParaRPr lang="en-US" sz="4400" dirty="0"/>
          </a:p>
        </p:txBody>
      </p:sp>
      <p:sp>
        <p:nvSpPr>
          <p:cNvPr id="6" name="Text 4"/>
          <p:cNvSpPr/>
          <p:nvPr/>
        </p:nvSpPr>
        <p:spPr>
          <a:xfrm>
            <a:off x="10922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°/s tốc độ quay về cho mỗi độ sai số góc</a:t>
            </a:r>
            <a:endParaRPr lang="en-US" sz="1500" dirty="0"/>
          </a:p>
        </p:txBody>
      </p:sp>
      <p:sp>
        <p:nvSpPr>
          <p:cNvPr id="7" name="Shape 5"/>
          <p:cNvSpPr/>
          <p:nvPr/>
        </p:nvSpPr>
        <p:spPr>
          <a:xfrm>
            <a:off x="4394200" y="1775420"/>
            <a:ext cx="3403600" cy="1733550"/>
          </a:xfrm>
          <a:prstGeom prst="roundRect">
            <a:avLst>
              <a:gd name="adj" fmla="val 5861"/>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±200</a:t>
            </a:r>
            <a:endParaRPr lang="en-US" sz="4400" dirty="0"/>
          </a:p>
        </p:txBody>
      </p:sp>
      <p:sp>
        <p:nvSpPr>
          <p:cNvPr id="9" name="Text 7"/>
          <p:cNvSpPr/>
          <p:nvPr/>
        </p:nvSpPr>
        <p:spPr>
          <a:xfrm>
            <a:off x="4673600" y="2715220"/>
            <a:ext cx="29301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°/s giới hạn tốc độ tự cân bằng</a:t>
            </a:r>
            <a:endParaRPr lang="en-US" sz="1500" dirty="0"/>
          </a:p>
        </p:txBody>
      </p:sp>
      <p:sp>
        <p:nvSpPr>
          <p:cNvPr id="10" name="Shape 8"/>
          <p:cNvSpPr/>
          <p:nvPr/>
        </p:nvSpPr>
        <p:spPr>
          <a:xfrm>
            <a:off x="7975600" y="1775420"/>
            <a:ext cx="3403600" cy="1733550"/>
          </a:xfrm>
          <a:prstGeom prst="roundRect">
            <a:avLst>
              <a:gd name="adj" fmla="val 5861"/>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 13°</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sai số tại đó chạm giới hạn (200 ÷ 15)</a:t>
            </a:r>
            <a:endParaRPr lang="en-US" sz="1500" dirty="0"/>
          </a:p>
        </p:txBody>
      </p:sp>
      <p:sp>
        <p:nvSpPr>
          <p:cNvPr id="13" name="Text 11"/>
          <p:cNvSpPr/>
          <p:nvPr/>
        </p:nvSpPr>
        <p:spPr>
          <a:xfrm>
            <a:off x="812800" y="37629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Ví dụ: sai số 2° → 30 °/s quay về. Sai số 20° → 300 → giới hạn còn 200 °/s.</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82 · Nguồn: #define LEVEL_SENSITIVITY; loop()</a:t>
            </a:r>
            <a:endParaRPr lang="en-US"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Từ cần điều khiển tới setpoint</a:t>
            </a:r>
            <a:endParaRPr lang="en-US" sz="3000" dirty="0"/>
          </a:p>
        </p:txBody>
      </p:sp>
      <p:sp>
        <p:nvSpPr>
          <p:cNvPr id="4" name="Text 2"/>
          <p:cNvSpPr/>
          <p:nvPr/>
        </p:nvSpPr>
        <p:spPr>
          <a:xfrm>
            <a:off x="812800" y="1775420"/>
            <a:ext cx="6187430" cy="3549650"/>
          </a:xfrm>
          <a:prstGeom prst="roundRect">
            <a:avLst>
              <a:gd name="adj" fmla="val 286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SBUS: rate mode, 16 µs dead-band around centre</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(rc[CH_ROLL] &gt; 1508)</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sp_roll_rate = (rc[CH_ROLL] - 1508) / SETPOINT_DIVISOR;</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else</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(rc[CH_ROLL] &lt; 1492)</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sp_roll_rate = (rc[CH_ROLL] - 1492) / SETPOINT_DIVISOR;</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Phone MANUAL: angles, capped at ±25°</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sp_roll_deg = constrain(cmd_roll_deg,</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-MAX_TILT_DEG, MAX_TILT_DEG);</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Vùng chết</a:t>
            </a:r>
            <a:r>
              <a:rPr lang="en-US" sz="1450" dirty="0">
                <a:solidFill>
                  <a:srgbClr val="13202E"/>
                </a:solidFill>
                <a:latin typeface="IBM Plex Sans" pitchFamily="34" charset="0"/>
                <a:ea typeface="IBM Plex Sans" pitchFamily="34" charset="-122"/>
                <a:cs typeface="IBM Plex Sans" pitchFamily="34" charset="-120"/>
              </a:rPr>
              <a:t> 1492–1508: cần để gần giữa không ra lệnh gì.</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 3</a:t>
            </a:r>
            <a:r>
              <a:rPr lang="en-US" sz="1450" dirty="0">
                <a:solidFill>
                  <a:srgbClr val="13202E"/>
                </a:solidFill>
                <a:latin typeface="IBM Plex Sans" pitchFamily="34" charset="0"/>
                <a:ea typeface="IBM Plex Sans" pitchFamily="34" charset="-122"/>
                <a:cs typeface="IBM Plex Sans" pitchFamily="34" charset="-120"/>
              </a:rPr>
              <a:t> (SETPOINT_DIVISOR): cần hết cỡ 2000 → (2000 − 1508) ÷ 3 = 164 °/s.</a:t>
            </a:r>
            <a:endParaRPr lang="en-US" sz="1450" dirty="0"/>
          </a:p>
        </p:txBody>
      </p:sp>
      <p:sp>
        <p:nvSpPr>
          <p:cNvPr id="7" name="Text 5"/>
          <p:cNvSpPr/>
          <p:nvPr/>
        </p:nvSpPr>
        <p:spPr>
          <a:xfrm>
            <a:off x="7254230" y="3060502"/>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Điện thoại gửi </a:t>
            </a:r>
            <a:r>
              <a:rPr lang="en-US" sz="1450" b="1" dirty="0">
                <a:solidFill>
                  <a:srgbClr val="13202E"/>
                </a:solidFill>
                <a:latin typeface="IBM Plex Sans" pitchFamily="34" charset="0"/>
                <a:ea typeface="IBM Plex Sans" pitchFamily="34" charset="-122"/>
                <a:cs typeface="IBM Plex Sans" pitchFamily="34" charset="-120"/>
              </a:rPr>
              <a:t>góc</a:t>
            </a:r>
            <a:r>
              <a:rPr lang="en-US" sz="1450" dirty="0">
                <a:solidFill>
                  <a:srgbClr val="13202E"/>
                </a:solidFill>
                <a:latin typeface="IBM Plex Sans" pitchFamily="34" charset="0"/>
                <a:ea typeface="IBM Plex Sans" pitchFamily="34" charset="-122"/>
                <a:cs typeface="IBM Plex Sans" pitchFamily="34" charset="-120"/>
              </a:rPr>
              <a:t>; SBUS gửi </a:t>
            </a:r>
            <a:r>
              <a:rPr lang="en-US" sz="1450" b="1" dirty="0">
                <a:solidFill>
                  <a:srgbClr val="13202E"/>
                </a:solidFill>
                <a:latin typeface="IBM Plex Sans" pitchFamily="34" charset="0"/>
                <a:ea typeface="IBM Plex Sans" pitchFamily="34" charset="-122"/>
                <a:cs typeface="IBM Plex Sans" pitchFamily="34" charset="-120"/>
              </a:rPr>
              <a:t>tốc độ</a:t>
            </a:r>
            <a:r>
              <a:rPr lang="en-US" sz="1450" dirty="0">
                <a:solidFill>
                  <a:srgbClr val="13202E"/>
                </a:solidFill>
                <a:latin typeface="IBM Plex Sans" pitchFamily="34" charset="0"/>
                <a:ea typeface="IBM Plex Sans" pitchFamily="34" charset="-122"/>
                <a:cs typeface="IBM Plex Sans" pitchFamily="34" charset="-120"/>
              </a:rPr>
              <a:t>.</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83 · Nguồn: flightSetpoints()</a:t>
            </a:r>
            <a:endParaRPr lang="en-US" sz="1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ĐIỀU KHIỂN PID</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Hệ số mặc định và cách chỉnh</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1757363"/>
        </p:xfrm>
        <a:graphic>
          <a:graphicData uri="http://schemas.openxmlformats.org/drawingml/2006/table">
            <a:tbl>
              <a:tblPr/>
              <a:tblGrid>
                <a:gridCol w="1688592"/>
                <a:gridCol w="1266444"/>
                <a:gridCol w="1266444"/>
                <a:gridCol w="1266444"/>
                <a:gridCol w="5065776"/>
              </a:tblGrid>
              <a:tr h="439341">
                <a:tc>
                  <a:txBody>
                    <a:bodyPr/>
                    <a:lstStyle/>
                    <a:p>
                      <a:pPr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Trục</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Kp</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Ki</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Kd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240"/>
                        </a:lnSpc>
                        <a:buNone/>
                      </a:pPr>
                      <a:r>
                        <a:rPr lang="en-US" sz="1600" b="1" dirty="0">
                          <a:solidFill>
                            <a:srgbClr val="13202E"/>
                          </a:solidFill>
                          <a:latin typeface="IBM Plex Sans" pitchFamily="34" charset="0"/>
                          <a:ea typeface="IBM Plex Sans" pitchFamily="34" charset="-122"/>
                          <a:cs typeface="IBM Plex Sans" pitchFamily="34" charset="-120"/>
                        </a:rPr>
                        <a:t>Dải trên điện thoại (P / I / D)</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39341">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Roll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1,3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0,04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18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0–100 / 0–20 / 0–200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Pitch</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1,3</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0,04</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18</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0–100 / 0–20 / 0–200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39341">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Yaw</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4,0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0,02</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0–100 / 0–20 / 0–200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379948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Thứ tự chỉnh: I = 0 → tăng P tới khi rung, giảm 30% → thêm D để hết nảy → thêm I để hết trôi → lưu.</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Điều khiển PID · 84 · Nguồn: #define PID_*; dải trong PARAM_TOC</a:t>
            </a:r>
            <a:endParaRPr lang="en-US" sz="12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ĐIỀU KHIỂN PID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drone cần I khi P đã sửa?</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P làm gì khi sai số nhỏ nhưng không đổi?</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I được đặt lại khi ga không tải?</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cái gì tăng lên khi drone đậu trên cỏ?</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D quá lớn làm động cơ nóng?</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D làm gì với nhiễu cảm biến?</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thành phần tự cân bằng bị trừ?</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nghiêng +5°, nó phải xoay về phía nào?</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Điều khiển PID · 85</a:t>
            </a:r>
            <a:endParaRPr lang="en-US" sz="1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07</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Bộ trộn và động cơ</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Ba lệnh sửa và một mức ga trở thành bốn lệnh động cơ.</a:t>
            </a:r>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Bộ trộn: bốn dòng</a:t>
            </a:r>
            <a:endParaRPr lang="en-US" sz="3000" dirty="0"/>
          </a:p>
        </p:txBody>
      </p:sp>
      <p:sp>
        <p:nvSpPr>
          <p:cNvPr id="4" name="Text 2"/>
          <p:cNvSpPr/>
          <p:nvPr/>
        </p:nvSpPr>
        <p:spPr>
          <a:xfrm>
            <a:off x="812800" y="1775420"/>
            <a:ext cx="6187430" cy="2692400"/>
          </a:xfrm>
          <a:prstGeom prst="roundRect">
            <a:avLst>
              <a:gd name="adj" fmla="val 3774"/>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motor_rf = t - pitch + roll - yaw * YAW_DIRECTION;</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motor_rr = t + pitch + roll + yaw * YAW_DIRECTION;</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motor_lr = t + pitch - roll - yaw * YAW_DIRECTION;</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motor_lf = t - pitch - roll + yaw * YAW_DIRECTION;</a:t>
            </a:r>
            <a:endParaRPr lang="en-US" sz="1500" dirty="0"/>
          </a:p>
        </p:txBody>
      </p:sp>
      <p:sp>
        <p:nvSpPr>
          <p:cNvPr id="5" name="Text 3"/>
          <p:cNvSpPr/>
          <p:nvPr/>
        </p:nvSpPr>
        <p:spPr>
          <a:xfrm>
            <a:off x="7254230" y="1775420"/>
            <a:ext cx="4248719"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t</a:t>
            </a:r>
            <a:r>
              <a:rPr lang="en-US" sz="1450" dirty="0">
                <a:solidFill>
                  <a:srgbClr val="13202E"/>
                </a:solidFill>
                <a:latin typeface="IBM Plex Sans" pitchFamily="34" charset="0"/>
                <a:ea typeface="IBM Plex Sans" pitchFamily="34" charset="-122"/>
                <a:cs typeface="IBM Plex Sans" pitchFamily="34" charset="-120"/>
              </a:rPr>
              <a:t> = ga, như nhau cho cả bốn.</a:t>
            </a:r>
            <a:endParaRPr lang="en-US" sz="1450" dirty="0"/>
          </a:p>
        </p:txBody>
      </p:sp>
      <p:sp>
        <p:nvSpPr>
          <p:cNvPr id="6" name="Text 4"/>
          <p:cNvSpPr/>
          <p:nvPr/>
        </p:nvSpPr>
        <p:spPr>
          <a:xfrm>
            <a:off x="7254230" y="2160191"/>
            <a:ext cx="4248719"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Roll</a:t>
            </a:r>
            <a:r>
              <a:rPr lang="en-US" sz="1450" dirty="0">
                <a:solidFill>
                  <a:srgbClr val="13202E"/>
                </a:solidFill>
                <a:latin typeface="IBM Plex Sans" pitchFamily="34" charset="0"/>
                <a:ea typeface="IBM Plex Sans" pitchFamily="34" charset="-122"/>
                <a:cs typeface="IBM Plex Sans" pitchFamily="34" charset="-120"/>
              </a:rPr>
              <a:t>: + ở cặp phải, − ở cặp trái.</a:t>
            </a:r>
            <a:endParaRPr lang="en-US" sz="1450" dirty="0"/>
          </a:p>
        </p:txBody>
      </p:sp>
      <p:sp>
        <p:nvSpPr>
          <p:cNvPr id="7" name="Text 5"/>
          <p:cNvSpPr/>
          <p:nvPr/>
        </p:nvSpPr>
        <p:spPr>
          <a:xfrm>
            <a:off x="7254230" y="2544961"/>
            <a:ext cx="4248719"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Pitch</a:t>
            </a:r>
            <a:r>
              <a:rPr lang="en-US" sz="1450" dirty="0">
                <a:solidFill>
                  <a:srgbClr val="13202E"/>
                </a:solidFill>
                <a:latin typeface="IBM Plex Sans" pitchFamily="34" charset="0"/>
                <a:ea typeface="IBM Plex Sans" pitchFamily="34" charset="-122"/>
                <a:cs typeface="IBM Plex Sans" pitchFamily="34" charset="-120"/>
              </a:rPr>
              <a:t>: + ở cặp sau, − ở cặp trước.</a:t>
            </a:r>
            <a:endParaRPr lang="en-US" sz="1450" dirty="0"/>
          </a:p>
        </p:txBody>
      </p:sp>
      <p:sp>
        <p:nvSpPr>
          <p:cNvPr id="8" name="Text 6"/>
          <p:cNvSpPr/>
          <p:nvPr/>
        </p:nvSpPr>
        <p:spPr>
          <a:xfrm>
            <a:off x="7254230" y="292973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Yaw</a:t>
            </a:r>
            <a:r>
              <a:rPr lang="en-US" sz="1450" dirty="0">
                <a:solidFill>
                  <a:srgbClr val="13202E"/>
                </a:solidFill>
                <a:latin typeface="IBM Plex Sans" pitchFamily="34" charset="0"/>
                <a:ea typeface="IBM Plex Sans" pitchFamily="34" charset="-122"/>
                <a:cs typeface="IBM Plex Sans" pitchFamily="34" charset="-120"/>
              </a:rPr>
              <a:t>: + ở một đường chéo (RR, LF), − ở đường chéo kia (RF, LR).</a:t>
            </a:r>
            <a:endParaRPr lang="en-US" sz="1450" dirty="0"/>
          </a:p>
        </p:txBody>
      </p:sp>
      <p:sp>
        <p:nvSpPr>
          <p:cNvPr id="9" name="Shape 7"/>
          <p:cNvSpPr/>
          <p:nvPr/>
        </p:nvSpPr>
        <p:spPr>
          <a:xfrm>
            <a:off x="812800" y="4721820"/>
            <a:ext cx="10566400" cy="1018480"/>
          </a:xfrm>
          <a:prstGeom prst="roundRect">
            <a:avLst>
              <a:gd name="adj" fmla="val 9976"/>
            </a:avLst>
          </a:prstGeom>
          <a:solidFill>
            <a:srgbClr val="13202E"/>
          </a:solidFill>
          <a:ln/>
        </p:spPr>
      </p:sp>
      <p:sp>
        <p:nvSpPr>
          <p:cNvPr id="10" name="Text 8"/>
          <p:cNvSpPr/>
          <p:nvPr/>
        </p:nvSpPr>
        <p:spPr>
          <a:xfrm>
            <a:off x="1117600" y="495042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1" name="Text 9"/>
          <p:cNvSpPr/>
          <p:nvPr/>
        </p:nvSpPr>
        <p:spPr>
          <a:xfrm>
            <a:off x="1117600" y="522724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Dấu mỗi cột cộng lại bằng 0: roll + + − − = 0, pitch − + + − = 0, yaw − + − + = 0.</a:t>
            </a:r>
            <a:endParaRPr lang="en-US" sz="16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87 · Nguồn: motorMix()</a:t>
            </a:r>
            <a:endParaRPr lang="en-US" sz="1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Ví dụ tính: một vòng trộn</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Ví dụ tính: một vòng trộn.</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Đầu ra PID vòng này: </a:t>
            </a:r>
            <a:r>
              <a:rPr lang="en-US" sz="1400" b="1" dirty="0">
                <a:solidFill>
                  <a:srgbClr val="13202E"/>
                </a:solidFill>
                <a:latin typeface="IBM Plex Sans" pitchFamily="34" charset="0"/>
                <a:ea typeface="IBM Plex Sans" pitchFamily="34" charset="-122"/>
                <a:cs typeface="IBM Plex Sans" pitchFamily="34" charset="-120"/>
              </a:rPr>
              <a:t>pitch −20, roll +50, yaw +10</a:t>
            </a:r>
            <a:r>
              <a:rPr lang="en-US" sz="1400" dirty="0">
                <a:solidFill>
                  <a:srgbClr val="13202E"/>
                </a:solidFill>
                <a:latin typeface="IBM Plex Sans" pitchFamily="34" charset="0"/>
                <a:ea typeface="IBM Plex Sans" pitchFamily="34" charset="-122"/>
                <a:cs typeface="IBM Plex Sans" pitchFamily="34" charset="-120"/>
              </a:rPr>
              <a:t>. Ga 1400.</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RF = 1400 + 20 + 50 − 10 = </a:t>
            </a:r>
            <a:r>
              <a:rPr lang="en-US" sz="1400" b="1" dirty="0">
                <a:solidFill>
                  <a:srgbClr val="13202E"/>
                </a:solidFill>
                <a:latin typeface="IBM Plex Sans" pitchFamily="34" charset="0"/>
                <a:ea typeface="IBM Plex Sans" pitchFamily="34" charset="-122"/>
                <a:cs typeface="IBM Plex Sans" pitchFamily="34" charset="-120"/>
              </a:rPr>
              <a:t>1460</a:t>
            </a:r>
            <a:r>
              <a:rPr lang="en-US" sz="1400" dirty="0">
                <a:solidFill>
                  <a:srgbClr val="13202E"/>
                </a:solidFill>
                <a:latin typeface="IBM Plex Sans" pitchFamily="34" charset="0"/>
                <a:ea typeface="IBM Plex Sans" pitchFamily="34" charset="-122"/>
                <a:cs typeface="IBM Plex Sans" pitchFamily="34" charset="-120"/>
              </a:rPr>
              <a:t>; RR = 1400 − 20 + 50 + 10 = </a:t>
            </a:r>
            <a:r>
              <a:rPr lang="en-US" sz="1400" b="1" dirty="0">
                <a:solidFill>
                  <a:srgbClr val="13202E"/>
                </a:solidFill>
                <a:latin typeface="IBM Plex Sans" pitchFamily="34" charset="0"/>
                <a:ea typeface="IBM Plex Sans" pitchFamily="34" charset="-122"/>
                <a:cs typeface="IBM Plex Sans" pitchFamily="34" charset="-120"/>
              </a:rPr>
              <a:t>1440</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812800" y="32154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LR = 1400 − 20 − 50 − 10 = </a:t>
            </a:r>
            <a:r>
              <a:rPr lang="en-US" sz="1400" b="1" dirty="0">
                <a:solidFill>
                  <a:srgbClr val="13202E"/>
                </a:solidFill>
                <a:latin typeface="IBM Plex Sans" pitchFamily="34" charset="0"/>
                <a:ea typeface="IBM Plex Sans" pitchFamily="34" charset="-122"/>
                <a:cs typeface="IBM Plex Sans" pitchFamily="34" charset="-120"/>
              </a:rPr>
              <a:t>1320</a:t>
            </a:r>
            <a:r>
              <a:rPr lang="en-US" sz="1400" dirty="0">
                <a:solidFill>
                  <a:srgbClr val="13202E"/>
                </a:solidFill>
                <a:latin typeface="IBM Plex Sans" pitchFamily="34" charset="0"/>
                <a:ea typeface="IBM Plex Sans" pitchFamily="34" charset="-122"/>
                <a:cs typeface="IBM Plex Sans" pitchFamily="34" charset="-120"/>
              </a:rPr>
              <a:t>; LF = 1400 + 20 − 50 + 10 = </a:t>
            </a:r>
            <a:r>
              <a:rPr lang="en-US" sz="1400" b="1" dirty="0">
                <a:solidFill>
                  <a:srgbClr val="13202E"/>
                </a:solidFill>
                <a:latin typeface="IBM Plex Sans" pitchFamily="34" charset="0"/>
                <a:ea typeface="IBM Plex Sans" pitchFamily="34" charset="-122"/>
                <a:cs typeface="IBM Plex Sans" pitchFamily="34" charset="-120"/>
              </a:rPr>
              <a:t>1380</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8" name="Shape 6"/>
          <p:cNvSpPr/>
          <p:nvPr/>
        </p:nvSpPr>
        <p:spPr>
          <a:xfrm>
            <a:off x="812800" y="3852962"/>
            <a:ext cx="5054600" cy="1031180"/>
          </a:xfrm>
          <a:prstGeom prst="roundRect">
            <a:avLst>
              <a:gd name="adj" fmla="val 9853"/>
            </a:avLst>
          </a:prstGeom>
          <a:solidFill>
            <a:srgbClr val="13202E"/>
          </a:solidFill>
          <a:ln/>
        </p:spPr>
      </p:sp>
      <p:sp>
        <p:nvSpPr>
          <p:cNvPr id="9" name="Text 7"/>
          <p:cNvSpPr/>
          <p:nvPr/>
        </p:nvSpPr>
        <p:spPr>
          <a:xfrm>
            <a:off x="1016000" y="400536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26948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Trung bình = (1460 + 1440 + 1320 + 1380) ÷ 4 = 1400 — trộn chỉ chuyển lực đẩy qua lại; không thêm chút nào.</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cột: RF 1460, RR 1440, LR 1320, LF 1380; đường trung bình nét đứt ở 1400, đúng mức ga">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184900" y="4658320"/>
            <a:ext cx="6223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1200</a:t>
            </a:r>
            <a:endParaRPr lang="en-US" sz="1200" dirty="0"/>
          </a:p>
        </p:txBody>
      </p:sp>
      <p:sp>
        <p:nvSpPr>
          <p:cNvPr id="14" name="Text 11"/>
          <p:cNvSpPr/>
          <p:nvPr/>
        </p:nvSpPr>
        <p:spPr>
          <a:xfrm>
            <a:off x="6184900" y="3813770"/>
            <a:ext cx="6223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1300</a:t>
            </a:r>
            <a:endParaRPr lang="en-US" sz="1200" dirty="0"/>
          </a:p>
        </p:txBody>
      </p:sp>
      <p:sp>
        <p:nvSpPr>
          <p:cNvPr id="15" name="Text 12"/>
          <p:cNvSpPr/>
          <p:nvPr/>
        </p:nvSpPr>
        <p:spPr>
          <a:xfrm>
            <a:off x="6184900" y="2962870"/>
            <a:ext cx="6223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1400</a:t>
            </a:r>
            <a:endParaRPr lang="en-US" sz="1200" dirty="0"/>
          </a:p>
        </p:txBody>
      </p:sp>
      <p:sp>
        <p:nvSpPr>
          <p:cNvPr id="16" name="Text 13"/>
          <p:cNvSpPr/>
          <p:nvPr/>
        </p:nvSpPr>
        <p:spPr>
          <a:xfrm>
            <a:off x="6184900" y="2118320"/>
            <a:ext cx="62230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1500</a:t>
            </a:r>
            <a:endParaRPr lang="en-US" sz="1200" dirty="0"/>
          </a:p>
        </p:txBody>
      </p:sp>
      <p:sp>
        <p:nvSpPr>
          <p:cNvPr id="17" name="Text 14"/>
          <p:cNvSpPr/>
          <p:nvPr/>
        </p:nvSpPr>
        <p:spPr>
          <a:xfrm>
            <a:off x="6972300" y="261997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F6F5F0"/>
                </a:solidFill>
                <a:latin typeface="IBM Plex Sans" pitchFamily="34" charset="0"/>
                <a:ea typeface="IBM Plex Sans" pitchFamily="34" charset="-122"/>
                <a:cs typeface="IBM Plex Sans" pitchFamily="34" charset="-120"/>
              </a:rPr>
              <a:t>1460</a:t>
            </a:r>
            <a:endParaRPr lang="en-US" sz="1300" dirty="0"/>
          </a:p>
        </p:txBody>
      </p:sp>
      <p:sp>
        <p:nvSpPr>
          <p:cNvPr id="18" name="Text 15"/>
          <p:cNvSpPr/>
          <p:nvPr/>
        </p:nvSpPr>
        <p:spPr>
          <a:xfrm>
            <a:off x="6972300" y="48488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RF</a:t>
            </a:r>
            <a:endParaRPr lang="en-US" sz="1300" dirty="0"/>
          </a:p>
        </p:txBody>
      </p:sp>
      <p:sp>
        <p:nvSpPr>
          <p:cNvPr id="19" name="Text 16"/>
          <p:cNvSpPr/>
          <p:nvPr/>
        </p:nvSpPr>
        <p:spPr>
          <a:xfrm>
            <a:off x="7988300" y="27914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F6F5F0"/>
                </a:solidFill>
                <a:latin typeface="IBM Plex Sans" pitchFamily="34" charset="0"/>
                <a:ea typeface="IBM Plex Sans" pitchFamily="34" charset="-122"/>
                <a:cs typeface="IBM Plex Sans" pitchFamily="34" charset="-120"/>
              </a:rPr>
              <a:t>1440</a:t>
            </a:r>
            <a:endParaRPr lang="en-US" sz="1300" dirty="0"/>
          </a:p>
        </p:txBody>
      </p:sp>
      <p:sp>
        <p:nvSpPr>
          <p:cNvPr id="20" name="Text 17"/>
          <p:cNvSpPr/>
          <p:nvPr/>
        </p:nvSpPr>
        <p:spPr>
          <a:xfrm>
            <a:off x="7988300" y="48488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RR</a:t>
            </a:r>
            <a:endParaRPr lang="en-US" sz="1300" dirty="0"/>
          </a:p>
        </p:txBody>
      </p:sp>
      <p:sp>
        <p:nvSpPr>
          <p:cNvPr id="21" name="Text 18"/>
          <p:cNvSpPr/>
          <p:nvPr/>
        </p:nvSpPr>
        <p:spPr>
          <a:xfrm>
            <a:off x="9004300" y="38074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F6F5F0"/>
                </a:solidFill>
                <a:latin typeface="IBM Plex Sans" pitchFamily="34" charset="0"/>
                <a:ea typeface="IBM Plex Sans" pitchFamily="34" charset="-122"/>
                <a:cs typeface="IBM Plex Sans" pitchFamily="34" charset="-120"/>
              </a:rPr>
              <a:t>1320</a:t>
            </a:r>
            <a:endParaRPr lang="en-US" sz="1300" dirty="0"/>
          </a:p>
        </p:txBody>
      </p:sp>
      <p:sp>
        <p:nvSpPr>
          <p:cNvPr id="22" name="Text 19"/>
          <p:cNvSpPr/>
          <p:nvPr/>
        </p:nvSpPr>
        <p:spPr>
          <a:xfrm>
            <a:off x="9004300" y="48488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LR</a:t>
            </a:r>
            <a:endParaRPr lang="en-US" sz="1300" dirty="0"/>
          </a:p>
        </p:txBody>
      </p:sp>
      <p:sp>
        <p:nvSpPr>
          <p:cNvPr id="23" name="Text 20"/>
          <p:cNvSpPr/>
          <p:nvPr/>
        </p:nvSpPr>
        <p:spPr>
          <a:xfrm>
            <a:off x="10020300" y="32994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F6F5F0"/>
                </a:solidFill>
                <a:latin typeface="IBM Plex Sans" pitchFamily="34" charset="0"/>
                <a:ea typeface="IBM Plex Sans" pitchFamily="34" charset="-122"/>
                <a:cs typeface="IBM Plex Sans" pitchFamily="34" charset="-120"/>
              </a:rPr>
              <a:t>1380</a:t>
            </a:r>
            <a:endParaRPr lang="en-US" sz="1300" dirty="0"/>
          </a:p>
        </p:txBody>
      </p:sp>
      <p:sp>
        <p:nvSpPr>
          <p:cNvPr id="24" name="Text 21"/>
          <p:cNvSpPr/>
          <p:nvPr/>
        </p:nvSpPr>
        <p:spPr>
          <a:xfrm>
            <a:off x="10020300" y="4848820"/>
            <a:ext cx="1003300" cy="231775"/>
          </a:xfrm>
          <a:prstGeom prst="rect">
            <a:avLst/>
          </a:prstGeom>
          <a:noFill/>
          <a:ln/>
        </p:spPr>
        <p:txBody>
          <a:bodyPr wrap="square" lIns="0" tIns="0" rIns="0" bIns="0" rtlCol="0" anchor="t">
            <a:normAutofit/>
          </a:bodyPr>
          <a:lstStyle/>
          <a:p>
            <a:pPr algn="ctr" indent="0" marL="0">
              <a:lnSpc>
                <a:spcPts val="1625"/>
              </a:lnSpc>
              <a:buNone/>
            </a:pPr>
            <a:r>
              <a:rPr lang="en-US" sz="1300" b="1" dirty="0">
                <a:solidFill>
                  <a:srgbClr val="13202E"/>
                </a:solidFill>
                <a:latin typeface="IBM Plex Sans" pitchFamily="34" charset="0"/>
                <a:ea typeface="IBM Plex Sans" pitchFamily="34" charset="-122"/>
                <a:cs typeface="IBM Plex Sans" pitchFamily="34" charset="-120"/>
              </a:rPr>
              <a:t>LF</a:t>
            </a:r>
            <a:endParaRPr lang="en-US" sz="1300" dirty="0"/>
          </a:p>
        </p:txBody>
      </p:sp>
      <p:sp>
        <p:nvSpPr>
          <p:cNvPr id="25" name="Text 22"/>
          <p:cNvSpPr/>
          <p:nvPr/>
        </p:nvSpPr>
        <p:spPr>
          <a:xfrm>
            <a:off x="9677400" y="2810470"/>
            <a:ext cx="15113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trung bình 1400</a:t>
            </a:r>
            <a:endParaRPr lang="en-US" sz="1200" dirty="0"/>
          </a:p>
        </p:txBody>
      </p:sp>
      <p:sp>
        <p:nvSpPr>
          <p:cNvPr id="26"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88 · Nguồn: công thức motorMix()</a:t>
            </a:r>
            <a:endParaRPr lang="en-US" sz="12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giới hạn bên trong bộ trộn</a:t>
            </a:r>
            <a:endParaRPr lang="en-US" sz="3000" dirty="0"/>
          </a:p>
        </p:txBody>
      </p:sp>
      <p:sp>
        <p:nvSpPr>
          <p:cNvPr id="4" name="Text 2"/>
          <p:cNvSpPr/>
          <p:nvPr/>
        </p:nvSpPr>
        <p:spPr>
          <a:xfrm>
            <a:off x="812800" y="1775420"/>
            <a:ext cx="6187430" cy="2635250"/>
          </a:xfrm>
          <a:prstGeom prst="roundRect">
            <a:avLst>
              <a:gd name="adj" fmla="val 385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int16_t</a:t>
            </a:r>
            <a:r>
              <a:rPr lang="en-US" sz="1300" dirty="0">
                <a:solidFill>
                  <a:srgbClr val="E6EBF0"/>
                </a:solidFill>
                <a:latin typeface="JetBrains Mono" pitchFamily="49" charset="0"/>
                <a:ea typeface="JetBrains Mono" pitchFamily="49" charset="-122"/>
                <a:cs typeface="JetBrains Mono" pitchFamily="49" charset="-120"/>
              </a:rPr>
              <a:t> t = constrain(throttle, RC_MIN, THROTTLE_MAX);</a:t>
            </a:r>
            <a:endParaRPr lang="en-US" sz="1300" dirty="0"/>
          </a:p>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(t &gt; THROTTLE_ARM_MAX) {          </a:t>
            </a:r>
            <a:r>
              <a:rPr lang="en-US" sz="1300" dirty="0">
                <a:solidFill>
                  <a:srgbClr val="8FA3B8"/>
                </a:solidFill>
                <a:latin typeface="JetBrains Mono" pitchFamily="49" charset="0"/>
                <a:ea typeface="JetBrains Mono" pitchFamily="49" charset="-122"/>
                <a:cs typeface="JetBrains Mono" pitchFamily="49" charset="-120"/>
              </a:rPr>
              <a:t>// above 1050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 four mixer lines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motor_rf = constrain(motor_rf, 1100, 2000);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else</a:t>
            </a: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motor_rf = motor_rr = motor_lr = motor_lf = 1000;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pidReset();   </a:t>
            </a:r>
            <a:r>
              <a:rPr lang="en-US" sz="1300" dirty="0">
                <a:solidFill>
                  <a:srgbClr val="8FA3B8"/>
                </a:solidFill>
                <a:latin typeface="JetBrains Mono" pitchFamily="49" charset="0"/>
                <a:ea typeface="JetBrains Mono" pitchFamily="49" charset="-122"/>
                <a:cs typeface="JetBrains Mono" pitchFamily="49" charset="-120"/>
              </a:rPr>
              <a:t>// avoid I-term windup at idle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54230" y="1775420"/>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Ga bị giới hạn ở </a:t>
            </a:r>
            <a:r>
              <a:rPr lang="en-US" sz="1450" b="1" dirty="0">
                <a:solidFill>
                  <a:srgbClr val="13202E"/>
                </a:solidFill>
                <a:latin typeface="IBM Plex Sans" pitchFamily="34" charset="0"/>
                <a:ea typeface="IBM Plex Sans" pitchFamily="34" charset="-122"/>
                <a:cs typeface="IBM Plex Sans" pitchFamily="34" charset="-120"/>
              </a:rPr>
              <a:t>1800</a:t>
            </a:r>
            <a:r>
              <a:rPr lang="en-US" sz="1450" dirty="0">
                <a:solidFill>
                  <a:srgbClr val="13202E"/>
                </a:solidFill>
                <a:latin typeface="IBM Plex Sans" pitchFamily="34" charset="0"/>
                <a:ea typeface="IBM Plex Sans" pitchFamily="34" charset="-122"/>
                <a:cs typeface="IBM Plex Sans" pitchFamily="34" charset="-120"/>
              </a:rPr>
              <a:t> để chừa chỗ cho lệnh sửa.</a:t>
            </a:r>
            <a:endParaRPr lang="en-US" sz="1450" dirty="0"/>
          </a:p>
        </p:txBody>
      </p:sp>
      <p:sp>
        <p:nvSpPr>
          <p:cNvPr id="6" name="Text 4"/>
          <p:cNvSpPr/>
          <p:nvPr/>
        </p:nvSpPr>
        <p:spPr>
          <a:xfrm>
            <a:off x="7254230" y="216019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Mỗi động cơ nằm trong </a:t>
            </a:r>
            <a:r>
              <a:rPr lang="en-US" sz="1450" b="1" dirty="0">
                <a:solidFill>
                  <a:srgbClr val="13202E"/>
                </a:solidFill>
                <a:latin typeface="IBM Plex Sans" pitchFamily="34" charset="0"/>
                <a:ea typeface="IBM Plex Sans" pitchFamily="34" charset="-122"/>
                <a:cs typeface="IBM Plex Sans" pitchFamily="34" charset="-120"/>
              </a:rPr>
              <a:t>1100</a:t>
            </a:r>
            <a:r>
              <a:rPr lang="en-US" sz="1450" dirty="0">
                <a:solidFill>
                  <a:srgbClr val="13202E"/>
                </a:solidFill>
                <a:latin typeface="IBM Plex Sans" pitchFamily="34" charset="0"/>
                <a:ea typeface="IBM Plex Sans" pitchFamily="34" charset="-122"/>
                <a:cs typeface="IBM Plex Sans" pitchFamily="34" charset="-120"/>
              </a:rPr>
              <a:t> đến </a:t>
            </a:r>
            <a:r>
              <a:rPr lang="en-US" sz="1450" b="1" dirty="0">
                <a:solidFill>
                  <a:srgbClr val="13202E"/>
                </a:solidFill>
                <a:latin typeface="IBM Plex Sans" pitchFamily="34" charset="0"/>
                <a:ea typeface="IBM Plex Sans" pitchFamily="34" charset="-122"/>
                <a:cs typeface="IBM Plex Sans" pitchFamily="34" charset="-120"/>
              </a:rPr>
              <a:t>2000</a:t>
            </a:r>
            <a:r>
              <a:rPr lang="en-US" sz="1450" dirty="0">
                <a:solidFill>
                  <a:srgbClr val="13202E"/>
                </a:solidFill>
                <a:latin typeface="IBM Plex Sans" pitchFamily="34" charset="0"/>
                <a:ea typeface="IBM Plex Sans" pitchFamily="34" charset="-122"/>
                <a:cs typeface="IBM Plex Sans" pitchFamily="34" charset="-120"/>
              </a:rPr>
              <a:t> khi đang bay.</a:t>
            </a:r>
            <a:endParaRPr lang="en-US" sz="1450" dirty="0"/>
          </a:p>
        </p:txBody>
      </p:sp>
      <p:sp>
        <p:nvSpPr>
          <p:cNvPr id="7" name="Text 5"/>
          <p:cNvSpPr/>
          <p:nvPr/>
        </p:nvSpPr>
        <p:spPr>
          <a:xfrm>
            <a:off x="7254230" y="280273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Ở ga không tải (≤ 1050) động cơ dừng và bộ nhớ PID bị xóa.</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89 · Nguồn: motorMix()</a:t>
            </a:r>
            <a:endParaRPr lang="en-US" sz="1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usToDuty(): từ 1000–2000 sang 0–1023</a:t>
            </a:r>
            <a:endParaRPr lang="en-US" sz="3000" dirty="0"/>
          </a:p>
        </p:txBody>
      </p:sp>
      <p:sp>
        <p:nvSpPr>
          <p:cNvPr id="4" name="Text 2"/>
          <p:cNvSpPr/>
          <p:nvPr/>
        </p:nvSpPr>
        <p:spPr>
          <a:xfrm>
            <a:off x="812800" y="1775420"/>
            <a:ext cx="6187430" cy="2120900"/>
          </a:xfrm>
          <a:prstGeom prst="roundRect">
            <a:avLst>
              <a:gd name="adj" fmla="val 4790"/>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inline</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uint16_t</a:t>
            </a:r>
            <a:r>
              <a:rPr lang="en-US" sz="1500" dirty="0">
                <a:solidFill>
                  <a:srgbClr val="E6EBF0"/>
                </a:solidFill>
                <a:latin typeface="JetBrains Mono" pitchFamily="49" charset="0"/>
                <a:ea typeface="JetBrains Mono" pitchFamily="49" charset="-122"/>
                <a:cs typeface="JetBrains Mono" pitchFamily="49" charset="-120"/>
              </a:rPr>
              <a:t> usToDuty(</a:t>
            </a:r>
            <a:r>
              <a:rPr lang="en-US" sz="1500" dirty="0">
                <a:solidFill>
                  <a:srgbClr val="F29E5C"/>
                </a:solidFill>
                <a:latin typeface="JetBrains Mono" pitchFamily="49" charset="0"/>
                <a:ea typeface="JetBrains Mono" pitchFamily="49" charset="-122"/>
                <a:cs typeface="JetBrains Mono" pitchFamily="49" charset="-120"/>
              </a:rPr>
              <a:t>int16_t</a:t>
            </a:r>
            <a:r>
              <a:rPr lang="en-US" sz="1500" dirty="0">
                <a:solidFill>
                  <a:srgbClr val="E6EBF0"/>
                </a:solidFill>
                <a:latin typeface="JetBrains Mono" pitchFamily="49" charset="0"/>
                <a:ea typeface="JetBrains Mono" pitchFamily="49" charset="-122"/>
                <a:cs typeface="JetBrains Mono" pitchFamily="49" charset="-120"/>
              </a:rPr>
              <a:t> us) {</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(us &lt;= 1000)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0;</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(us &gt;= 2000)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MOTOR_PWM_MAX;   </a:t>
            </a:r>
            <a:r>
              <a:rPr lang="en-US" sz="1500" dirty="0">
                <a:solidFill>
                  <a:srgbClr val="8FA3B8"/>
                </a:solidFill>
                <a:latin typeface="JetBrains Mono" pitchFamily="49" charset="0"/>
                <a:ea typeface="JetBrains Mono" pitchFamily="49" charset="-122"/>
                <a:cs typeface="JetBrains Mono" pitchFamily="49" charset="-120"/>
              </a:rPr>
              <a:t>// 1023</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uint16_t</a:t>
            </a:r>
            <a:r>
              <a:rPr lang="en-US" sz="1500" dirty="0">
                <a:solidFill>
                  <a:srgbClr val="E6EBF0"/>
                </a:solidFill>
                <a:latin typeface="JetBrains Mono" pitchFamily="49" charset="0"/>
                <a:ea typeface="JetBrains Mono" pitchFamily="49" charset="-122"/>
                <a:cs typeface="JetBrains Mono" pitchFamily="49" charset="-120"/>
              </a:rPr>
              <a:t>)(((</a:t>
            </a:r>
            <a:r>
              <a:rPr lang="en-US" sz="1500" dirty="0">
                <a:solidFill>
                  <a:srgbClr val="F29E5C"/>
                </a:solidFill>
                <a:latin typeface="JetBrains Mono" pitchFamily="49" charset="0"/>
                <a:ea typeface="JetBrains Mono" pitchFamily="49" charset="-122"/>
                <a:cs typeface="JetBrains Mono" pitchFamily="49" charset="-120"/>
              </a:rPr>
              <a:t>uint32_t</a:t>
            </a:r>
            <a:r>
              <a:rPr lang="en-US" sz="1500" dirty="0">
                <a:solidFill>
                  <a:srgbClr val="E6EBF0"/>
                </a:solidFill>
                <a:latin typeface="JetBrains Mono" pitchFamily="49" charset="0"/>
                <a:ea typeface="JetBrains Mono" pitchFamily="49" charset="-122"/>
                <a:cs typeface="JetBrains Mono" pitchFamily="49" charset="-120"/>
              </a:rPr>
              <a:t>)(us - 1000)</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 MOTOR_PWM_MAX) / 1000);</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Mã nghĩ theo “µs” như ESC của drone lớn, rồi đổi ở bước cuối.</a:t>
            </a:r>
            <a:endParaRPr lang="en-US" sz="1450" dirty="0"/>
          </a:p>
        </p:txBody>
      </p:sp>
      <p:sp>
        <p:nvSpPr>
          <p:cNvPr id="6" name="Text 4"/>
          <p:cNvSpPr/>
          <p:nvPr/>
        </p:nvSpPr>
        <p:spPr>
          <a:xfrm>
            <a:off x="7254230" y="2417961"/>
            <a:ext cx="4248719" cy="79871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Vì sao giữ 1000–2000?</a:t>
            </a:r>
            <a:r>
              <a:rPr lang="en-US" sz="1450" dirty="0">
                <a:solidFill>
                  <a:srgbClr val="13202E"/>
                </a:solidFill>
                <a:latin typeface="IBM Plex Sans" pitchFamily="34" charset="0"/>
                <a:ea typeface="IBM Plex Sans" pitchFamily="34" charset="-122"/>
                <a:cs typeface="IBM Plex Sans" pitchFamily="34" charset="-120"/>
              </a:rPr>
              <a:t> Con số quen thuộc, và cùng bộ trộn vẫn dùng được nếu bạn đổi sang ESC.</a:t>
            </a:r>
            <a:endParaRPr lang="en-US" sz="1450" dirty="0"/>
          </a:p>
        </p:txBody>
      </p:sp>
      <p:sp>
        <p:nvSpPr>
          <p:cNvPr id="7" name="Text 5"/>
          <p:cNvSpPr/>
          <p:nvPr/>
        </p:nvSpPr>
        <p:spPr>
          <a:xfrm>
            <a:off x="7254230" y="3318272"/>
            <a:ext cx="4937770"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Ép kiểu uint32_t để phép nhân không tràn 16 bit.</a:t>
            </a:r>
            <a:endParaRPr lang="en-US" sz="1450" dirty="0"/>
          </a:p>
        </p:txBody>
      </p:sp>
      <p:sp>
        <p:nvSpPr>
          <p:cNvPr id="8" name="Shape 6"/>
          <p:cNvSpPr/>
          <p:nvPr/>
        </p:nvSpPr>
        <p:spPr>
          <a:xfrm>
            <a:off x="812800" y="4150320"/>
            <a:ext cx="10566400" cy="1018480"/>
          </a:xfrm>
          <a:prstGeom prst="roundRect">
            <a:avLst>
              <a:gd name="adj" fmla="val 9976"/>
            </a:avLst>
          </a:prstGeom>
          <a:solidFill>
            <a:srgbClr val="13202E"/>
          </a:solidFill>
          <a:ln/>
        </p:spPr>
      </p:sp>
      <p:sp>
        <p:nvSpPr>
          <p:cNvPr id="9" name="Text 7"/>
          <p:cNvSpPr/>
          <p:nvPr/>
        </p:nvSpPr>
        <p:spPr>
          <a:xfrm>
            <a:off x="1117600" y="437892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655741"/>
            <a:ext cx="102616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1500 → (500 × 1023) ÷ 1000 = 511 → khoảng 50% duty. 1100 → 102 → 10% duty, mức tối thiểu khi arm.</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90 · Nguồn: usToDuty()</a:t>
            </a:r>
            <a:endParaRPr lang="en-US" sz="12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Cài đặt phần cứng PWM (LEDC)</a:t>
            </a:r>
            <a:endParaRPr lang="en-US" sz="3000" dirty="0"/>
          </a:p>
        </p:txBody>
      </p:sp>
      <p:sp>
        <p:nvSpPr>
          <p:cNvPr id="4" name="Text 2"/>
          <p:cNvSpPr/>
          <p:nvPr/>
        </p:nvSpPr>
        <p:spPr>
          <a:xfrm>
            <a:off x="812800" y="1775420"/>
            <a:ext cx="6187430" cy="2882900"/>
          </a:xfrm>
          <a:prstGeom prst="roundRect">
            <a:avLst>
              <a:gd name="adj" fmla="val 3524"/>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for</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 i = 0; i &lt; 4; i++)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pinMode(pins[i], OUTPUT);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digitalWrite(pins[i], LOW);</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ESP_ARDUINO_VERSION_MAJOR &gt;= 3</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ledcAttach(pins[i], MOTOR_PWM_FREQ_HZ, MOTOR_PWM_BITS);</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r>
              <a:rPr lang="en-US" sz="1300" dirty="0">
                <a:solidFill>
                  <a:srgbClr val="F29E5C"/>
                </a:solidFill>
                <a:latin typeface="JetBrains Mono" pitchFamily="49" charset="0"/>
                <a:ea typeface="JetBrains Mono" pitchFamily="49" charset="-122"/>
                <a:cs typeface="JetBrains Mono" pitchFamily="49" charset="-120"/>
              </a:rPr>
              <a:t>else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ledcSetup(i, MOTOR_PWM_FREQ_HZ, MOTOR_PWM_BITS);</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ledcAttachPin(pins[i], i);</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#endif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LEDC</a:t>
            </a:r>
            <a:r>
              <a:rPr lang="en-US" sz="1450" dirty="0">
                <a:solidFill>
                  <a:srgbClr val="13202E"/>
                </a:solidFill>
                <a:latin typeface="IBM Plex Sans" pitchFamily="34" charset="0"/>
                <a:ea typeface="IBM Plex Sans" pitchFamily="34" charset="-122"/>
                <a:cs typeface="IBM Plex Sans" pitchFamily="34" charset="-120"/>
              </a:rPr>
              <a:t> là khối PWM của ESP32. Nó làm cho LED, nhưng lái MOSFET cũng tốt.</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Hai API</a:t>
            </a:r>
            <a:r>
              <a:rPr lang="en-US" sz="1450" dirty="0">
                <a:solidFill>
                  <a:srgbClr val="13202E"/>
                </a:solidFill>
                <a:latin typeface="IBM Plex Sans" pitchFamily="34" charset="0"/>
                <a:ea typeface="IBM Plex Sans" pitchFamily="34" charset="-122"/>
                <a:cs typeface="IBM Plex Sans" pitchFamily="34" charset="-120"/>
              </a:rPr>
              <a:t>: core Arduino-ESP32 bản 3.x đổi tên hàm, nên hỗ trợ cả hai.</a:t>
            </a:r>
            <a:endParaRPr lang="en-US" sz="1450" dirty="0"/>
          </a:p>
        </p:txBody>
      </p:sp>
      <p:sp>
        <p:nvSpPr>
          <p:cNvPr id="7" name="Text 5"/>
          <p:cNvSpPr/>
          <p:nvPr/>
        </p:nvSpPr>
        <p:spPr>
          <a:xfrm>
            <a:off x="7254230" y="3060502"/>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Các chân được kéo LOW trước: động cơ tắt.</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91 · Nguồn: motorInit()</a:t>
            </a:r>
            <a:endParaRPr lang="en-US"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Vì sao 20 kHz và 10 bit đi cùng nhau</a:t>
            </a:r>
            <a:endParaRPr lang="en-US" sz="3000" dirty="0"/>
          </a:p>
        </p:txBody>
      </p:sp>
      <p:sp>
        <p:nvSpPr>
          <p:cNvPr id="4" name="Shape 2"/>
          <p:cNvSpPr/>
          <p:nvPr/>
        </p:nvSpPr>
        <p:spPr>
          <a:xfrm>
            <a:off x="812800" y="1775420"/>
            <a:ext cx="3403600" cy="1733550"/>
          </a:xfrm>
          <a:prstGeom prst="roundRect">
            <a:avLst>
              <a:gd name="adj" fmla="val 5861"/>
            </a:avLst>
          </a:prstGeom>
          <a:solidFill>
            <a:srgbClr val="13202E"/>
          </a:solidFill>
          <a:ln/>
        </p:spPr>
      </p:sp>
      <p:sp>
        <p:nvSpPr>
          <p:cNvPr id="5" name="Text 3"/>
          <p:cNvSpPr/>
          <p:nvPr/>
        </p:nvSpPr>
        <p:spPr>
          <a:xfrm>
            <a:off x="10922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80 MHz</a:t>
            </a:r>
            <a:endParaRPr lang="en-US" sz="4400" dirty="0"/>
          </a:p>
        </p:txBody>
      </p:sp>
      <p:sp>
        <p:nvSpPr>
          <p:cNvPr id="6" name="Text 4"/>
          <p:cNvSpPr/>
          <p:nvPr/>
        </p:nvSpPr>
        <p:spPr>
          <a:xfrm>
            <a:off x="1092200" y="2715220"/>
            <a:ext cx="2930144"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xung nhịp LEDC trên ESP32</a:t>
            </a:r>
            <a:endParaRPr lang="en-US" sz="1500" dirty="0"/>
          </a:p>
        </p:txBody>
      </p:sp>
      <p:sp>
        <p:nvSpPr>
          <p:cNvPr id="7" name="Shape 5"/>
          <p:cNvSpPr/>
          <p:nvPr/>
        </p:nvSpPr>
        <p:spPr>
          <a:xfrm>
            <a:off x="4394200" y="1775420"/>
            <a:ext cx="3403600" cy="1733550"/>
          </a:xfrm>
          <a:prstGeom prst="roundRect">
            <a:avLst>
              <a:gd name="adj" fmla="val 5861"/>
            </a:avLst>
          </a:prstGeom>
          <a:solidFill>
            <a:srgbClr val="13202E"/>
          </a:solidFill>
          <a:ln/>
        </p:spPr>
      </p:sp>
      <p:sp>
        <p:nvSpPr>
          <p:cNvPr id="8" name="Text 6"/>
          <p:cNvSpPr/>
          <p:nvPr/>
        </p:nvSpPr>
        <p:spPr>
          <a:xfrm>
            <a:off x="46736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4000</a:t>
            </a:r>
            <a:endParaRPr lang="en-US" sz="4400" dirty="0"/>
          </a:p>
        </p:txBody>
      </p:sp>
      <p:sp>
        <p:nvSpPr>
          <p:cNvPr id="9" name="Text 7"/>
          <p:cNvSpPr/>
          <p:nvPr/>
        </p:nvSpPr>
        <p:spPr>
          <a:xfrm>
            <a:off x="46736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nhịp xung mỗi chu kỳ 20 kHz (80 M ÷ 20 k)</a:t>
            </a:r>
            <a:endParaRPr lang="en-US" sz="1500" dirty="0"/>
          </a:p>
        </p:txBody>
      </p:sp>
      <p:sp>
        <p:nvSpPr>
          <p:cNvPr id="10" name="Shape 8"/>
          <p:cNvSpPr/>
          <p:nvPr/>
        </p:nvSpPr>
        <p:spPr>
          <a:xfrm>
            <a:off x="7975600" y="1775420"/>
            <a:ext cx="3403600" cy="1733550"/>
          </a:xfrm>
          <a:prstGeom prst="roundRect">
            <a:avLst>
              <a:gd name="adj" fmla="val 5861"/>
            </a:avLst>
          </a:prstGeom>
          <a:solidFill>
            <a:srgbClr val="13202E"/>
          </a:solidFill>
          <a:ln/>
        </p:spPr>
      </p:sp>
      <p:sp>
        <p:nvSpPr>
          <p:cNvPr id="11" name="Text 9"/>
          <p:cNvSpPr/>
          <p:nvPr/>
        </p:nvSpPr>
        <p:spPr>
          <a:xfrm>
            <a:off x="8255000" y="2054820"/>
            <a:ext cx="2930144"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F29E5C"/>
                </a:solidFill>
                <a:latin typeface="IBM Plex Sans" pitchFamily="34" charset="0"/>
                <a:ea typeface="IBM Plex Sans" pitchFamily="34" charset="-122"/>
                <a:cs typeface="IBM Plex Sans" pitchFamily="34" charset="-120"/>
              </a:rPr>
              <a:t>1024</a:t>
            </a:r>
            <a:endParaRPr lang="en-US" sz="4400" dirty="0"/>
          </a:p>
        </p:txBody>
      </p:sp>
      <p:sp>
        <p:nvSpPr>
          <p:cNvPr id="12" name="Text 10"/>
          <p:cNvSpPr/>
          <p:nvPr/>
        </p:nvSpPr>
        <p:spPr>
          <a:xfrm>
            <a:off x="8255000" y="2715220"/>
            <a:ext cx="2930144"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F6F5F0"/>
                </a:solidFill>
                <a:latin typeface="IBM Plex Sans" pitchFamily="34" charset="0"/>
                <a:ea typeface="IBM Plex Sans" pitchFamily="34" charset="-122"/>
                <a:cs typeface="IBM Plex Sans" pitchFamily="34" charset="-120"/>
              </a:rPr>
              <a:t>bậc duty ở 10 bit — lọt trong 4000; 12 bit (4096) thì không</a:t>
            </a:r>
            <a:endParaRPr lang="en-US" sz="1500" dirty="0"/>
          </a:p>
        </p:txBody>
      </p:sp>
      <p:sp>
        <p:nvSpPr>
          <p:cNvPr id="13" name="Text 11"/>
          <p:cNvSpPr/>
          <p:nvPr/>
        </p:nvSpPr>
        <p:spPr>
          <a:xfrm>
            <a:off x="812800" y="376297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Độ phân giải × tần số là một đánh đổi. Hỏi tại sao: bạn chọn gì cho động cơ gimbal cần êm?</a:t>
            </a:r>
            <a:endParaRPr lang="en-US" sz="15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92 · Nguồn: Espressif ESP32 Technical Reference (LEDC); #define MOTOR_PWM_*</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Mọi chỗ động cơ bị dừng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76500"/>
        </p:xfrm>
        <a:graphic>
          <a:graphicData uri="http://schemas.openxmlformats.org/drawingml/2006/table">
            <a:tbl>
              <a:tblPr/>
              <a:tblGrid>
                <a:gridCol w="4221480"/>
                <a:gridCol w="6332220"/>
              </a:tblGrid>
              <a:tr h="412750">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Ở đâu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Vì sao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setup()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trạng thái an toàn trước khi mọi thứ khởi động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Failsafe trong loop()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không có đầu vào sống trong 500 ms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flightEmergency()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CẮT ĐỘNG CƠ từ ứng dụng — luôn được thực hiện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Cuối hạ cánh AUTO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đường dốc xong → disarm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DISARM, hạ ga, gạt cần disarm</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phi công yêu cầu</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93 · Nguồn: các chỗ gọi motorStop()</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BỘ TRỘN VÀ ĐỘNG CƠ</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Bão hòa: khi một động cơ chạm giới hạn</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Nếu một động cơ cần hơn 2000 hoặc dưới 1100, nó bị cắt. Cân bằng giữa bốn động cơ mất đi.</a:t>
            </a:r>
            <a:endParaRPr lang="en-US" sz="1700" dirty="0"/>
          </a:p>
        </p:txBody>
      </p:sp>
      <p:sp>
        <p:nvSpPr>
          <p:cNvPr id="5" name="Shape 3"/>
          <p:cNvSpPr/>
          <p:nvPr/>
        </p:nvSpPr>
        <p:spPr>
          <a:xfrm>
            <a:off x="819150" y="2337991"/>
            <a:ext cx="3390900" cy="1567061"/>
          </a:xfrm>
          <a:prstGeom prst="roundRect">
            <a:avLst>
              <a:gd name="adj" fmla="val 6078"/>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Bạn thấy gì</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Ở ga tối đa drone kém ổn định hơn; có thể xoay hoặc lắc.</a:t>
            </a:r>
            <a:endParaRPr lang="en-US" sz="1400" dirty="0"/>
          </a:p>
        </p:txBody>
      </p:sp>
      <p:sp>
        <p:nvSpPr>
          <p:cNvPr id="8" name="Shape 6"/>
          <p:cNvSpPr/>
          <p:nvPr/>
        </p:nvSpPr>
        <p:spPr>
          <a:xfrm>
            <a:off x="4400550" y="2337991"/>
            <a:ext cx="3390900" cy="1567061"/>
          </a:xfrm>
          <a:prstGeom prst="roundRect">
            <a:avLst>
              <a:gd name="adj" fmla="val 6078"/>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Vì sao</a:t>
            </a:r>
            <a:endParaRPr lang="en-US" sz="1800" dirty="0"/>
          </a:p>
        </p:txBody>
      </p:sp>
      <p:sp>
        <p:nvSpPr>
          <p:cNvPr id="10" name="Text 8"/>
          <p:cNvSpPr/>
          <p:nvPr/>
        </p:nvSpPr>
        <p:spPr>
          <a:xfrm>
            <a:off x="46609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Động cơ bị cắt không đóng góp được phần sửa của nó.</a:t>
            </a:r>
            <a:endParaRPr lang="en-US" sz="1400" dirty="0"/>
          </a:p>
        </p:txBody>
      </p:sp>
      <p:sp>
        <p:nvSpPr>
          <p:cNvPr id="11" name="Shape 9"/>
          <p:cNvSpPr/>
          <p:nvPr/>
        </p:nvSpPr>
        <p:spPr>
          <a:xfrm>
            <a:off x="7981950" y="2337991"/>
            <a:ext cx="3390900" cy="1567061"/>
          </a:xfrm>
          <a:prstGeom prst="roundRect">
            <a:avLst>
              <a:gd name="adj" fmla="val 6078"/>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Hỗ trợ có sẵn</a:t>
            </a:r>
            <a:endParaRPr lang="en-US" sz="1800" dirty="0"/>
          </a:p>
        </p:txBody>
      </p:sp>
      <p:sp>
        <p:nvSpPr>
          <p:cNvPr id="13" name="Text 11"/>
          <p:cNvSpPr/>
          <p:nvPr/>
        </p:nvSpPr>
        <p:spPr>
          <a:xfrm>
            <a:off x="8242300" y="292343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THROTTLE_MAX 1800 và PID_LIMIT ±400 giảm khả năng bị cắt.</a:t>
            </a:r>
            <a:endParaRPr lang="en-US" sz="1400" dirty="0"/>
          </a:p>
        </p:txBody>
      </p:sp>
      <p:sp>
        <p:nvSpPr>
          <p:cNvPr id="14" name="Shape 12"/>
          <p:cNvSpPr/>
          <p:nvPr/>
        </p:nvSpPr>
        <p:spPr>
          <a:xfrm>
            <a:off x="812800" y="4165402"/>
            <a:ext cx="10566400" cy="1018480"/>
          </a:xfrm>
          <a:prstGeom prst="roundRect">
            <a:avLst>
              <a:gd name="adj" fmla="val 9976"/>
            </a:avLst>
          </a:prstGeom>
          <a:solidFill>
            <a:srgbClr val="13202E"/>
          </a:solidFill>
          <a:ln/>
        </p:spPr>
      </p:sp>
      <p:sp>
        <p:nvSpPr>
          <p:cNvPr id="15" name="Text 13"/>
          <p:cNvSpPr/>
          <p:nvPr/>
        </p:nvSpPr>
        <p:spPr>
          <a:xfrm>
            <a:off x="1117600" y="439400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67082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Ga 1800, roll +300 → động cơ phải 2100 → cắt còn 2000. Mất 100 đơn vị sửa roll.</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Bộ trộn và động cơ · 94 · Nguồn: motorMix()</a:t>
            </a:r>
            <a:endParaRPr lang="en-US" sz="1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BỘ TRỘN VÀ ĐỘNG CƠ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các dấu của bộ trộn ở mỗi cột cộng lại bằng 0?</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tổng lực đẩy thay đổi thế nào?</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giữ 1000–2000 khi động cơ dùng duty 0–1023?</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nghĩ về ESC và tính dễ đọc.</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ga bị giới hạn ở 1800?</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lệnh sửa cần gì ở ga tối đa?</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PWM 10 bit mà không 12 bit ở 20 kHz?</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đếm số nhịp xung mỗi chu kỳ.</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Bộ trộn và động cơ · 95</a:t>
            </a:r>
            <a:endParaRPr lang="en-US" sz="12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08</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Đầu vào vô tuyến: SBUS và CRTP</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Cần điều khiển và cú chạm trên điện thoại trở thành con số trong vòng lặp ra sao.</a:t>
            </a:r>
            <a:endParaRPr lang="en-US" sz="2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Một khung SBUS: 25 byte</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Một khung SBUS: 25 byte, mỗi 7–14 ms.</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Byte 0</a:t>
            </a:r>
            <a:r>
              <a:rPr lang="en-US" sz="1400" dirty="0">
                <a:solidFill>
                  <a:srgbClr val="13202E"/>
                </a:solidFill>
                <a:latin typeface="IBM Plex Sans" pitchFamily="34" charset="0"/>
                <a:ea typeface="IBM Plex Sans" pitchFamily="34" charset="-122"/>
                <a:cs typeface="IBM Plex Sans" pitchFamily="34" charset="-120"/>
              </a:rPr>
              <a:t>: đầu khung 0x0F, bắt đầu một khung.</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Byte 1–22</a:t>
            </a:r>
            <a:r>
              <a:rPr lang="en-US" sz="1400" dirty="0">
                <a:solidFill>
                  <a:srgbClr val="13202E"/>
                </a:solidFill>
                <a:latin typeface="IBM Plex Sans" pitchFamily="34" charset="0"/>
                <a:ea typeface="IBM Plex Sans" pitchFamily="34" charset="-122"/>
                <a:cs typeface="IBM Plex Sans" pitchFamily="34" charset="-120"/>
              </a:rPr>
              <a:t>: 16 kênh × 11 bit, gói sát nhau.</a:t>
            </a:r>
            <a:endParaRPr lang="en-US" sz="1400" dirty="0"/>
          </a:p>
        </p:txBody>
      </p:sp>
      <p:sp>
        <p:nvSpPr>
          <p:cNvPr id="7" name="Text 5"/>
          <p:cNvSpPr/>
          <p:nvPr/>
        </p:nvSpPr>
        <p:spPr>
          <a:xfrm>
            <a:off x="812800" y="29665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Byte 23</a:t>
            </a:r>
            <a:r>
              <a:rPr lang="en-US" sz="1400" dirty="0">
                <a:solidFill>
                  <a:srgbClr val="13202E"/>
                </a:solidFill>
                <a:latin typeface="IBM Plex Sans" pitchFamily="34" charset="0"/>
                <a:ea typeface="IBM Plex Sans" pitchFamily="34" charset="-122"/>
                <a:cs typeface="IBM Plex Sans" pitchFamily="34" charset="-120"/>
              </a:rPr>
              <a:t>: cờ. </a:t>
            </a:r>
            <a:r>
              <a:rPr lang="en-US" sz="1400" b="1" dirty="0">
                <a:solidFill>
                  <a:srgbClr val="13202E"/>
                </a:solidFill>
                <a:latin typeface="IBM Plex Sans" pitchFamily="34" charset="0"/>
                <a:ea typeface="IBM Plex Sans" pitchFamily="34" charset="-122"/>
                <a:cs typeface="IBM Plex Sans" pitchFamily="34" charset="-120"/>
              </a:rPr>
              <a:t>Byte 24</a:t>
            </a:r>
            <a:r>
              <a:rPr lang="en-US" sz="1400" dirty="0">
                <a:solidFill>
                  <a:srgbClr val="13202E"/>
                </a:solidFill>
                <a:latin typeface="IBM Plex Sans" pitchFamily="34" charset="0"/>
                <a:ea typeface="IBM Plex Sans" pitchFamily="34" charset="-122"/>
                <a:cs typeface="IBM Plex Sans" pitchFamily="34" charset="-120"/>
              </a:rPr>
              <a:t>: cuối khung (0x00, hoặc 0x04/0x14/0x24/0x34 với SBUS2).</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Lỗi cũ đọc cờ từ byte 24 — byte cuối khung — nên máy thu ở failsafe không bao giờ bị phát hiện.</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Khung SBUS 25 byte: đầu khung, 22 byte kênh, một byte cờ và byte cuối; byte cờ được phóng to để thấy bit 3 failsafe và bit 2 mất khung">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235700" y="1902420"/>
            <a:ext cx="812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byte 0</a:t>
            </a:r>
            <a:endParaRPr lang="en-US" sz="1200" dirty="0"/>
          </a:p>
        </p:txBody>
      </p:sp>
      <p:sp>
        <p:nvSpPr>
          <p:cNvPr id="14" name="Text 11"/>
          <p:cNvSpPr/>
          <p:nvPr/>
        </p:nvSpPr>
        <p:spPr>
          <a:xfrm>
            <a:off x="7794625" y="1902420"/>
            <a:ext cx="196215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byte 1–22: 16 kênh</a:t>
            </a:r>
            <a:endParaRPr lang="en-US" sz="1200" dirty="0"/>
          </a:p>
        </p:txBody>
      </p:sp>
      <p:sp>
        <p:nvSpPr>
          <p:cNvPr id="15" name="Text 12"/>
          <p:cNvSpPr/>
          <p:nvPr/>
        </p:nvSpPr>
        <p:spPr>
          <a:xfrm>
            <a:off x="9296400" y="2727920"/>
            <a:ext cx="15113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byte 23: cờ</a:t>
            </a:r>
            <a:endParaRPr lang="en-US" sz="1200" dirty="0"/>
          </a:p>
        </p:txBody>
      </p:sp>
      <p:sp>
        <p:nvSpPr>
          <p:cNvPr id="16" name="Text 13"/>
          <p:cNvSpPr/>
          <p:nvPr/>
        </p:nvSpPr>
        <p:spPr>
          <a:xfrm>
            <a:off x="9296400" y="2956520"/>
            <a:ext cx="1511300" cy="2159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4A5568"/>
                </a:solidFill>
                <a:latin typeface="IBM Plex Sans" pitchFamily="34" charset="0"/>
                <a:ea typeface="IBM Plex Sans" pitchFamily="34" charset="-122"/>
                <a:cs typeface="IBM Plex Sans" pitchFamily="34" charset="-120"/>
              </a:rPr>
              <a:t>byte 24: cuối khung</a:t>
            </a:r>
            <a:endParaRPr lang="en-US" sz="1200" dirty="0"/>
          </a:p>
        </p:txBody>
      </p:sp>
      <p:sp>
        <p:nvSpPr>
          <p:cNvPr id="17" name="Text 14"/>
          <p:cNvSpPr/>
          <p:nvPr/>
        </p:nvSpPr>
        <p:spPr>
          <a:xfrm>
            <a:off x="105537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0</a:t>
            </a:r>
            <a:endParaRPr lang="en-US" sz="1400" dirty="0"/>
          </a:p>
        </p:txBody>
      </p:sp>
      <p:sp>
        <p:nvSpPr>
          <p:cNvPr id="18" name="Text 15"/>
          <p:cNvSpPr/>
          <p:nvPr/>
        </p:nvSpPr>
        <p:spPr>
          <a:xfrm>
            <a:off x="99695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1</a:t>
            </a:r>
            <a:endParaRPr lang="en-US" sz="1400" dirty="0"/>
          </a:p>
        </p:txBody>
      </p:sp>
      <p:sp>
        <p:nvSpPr>
          <p:cNvPr id="19" name="Text 16"/>
          <p:cNvSpPr/>
          <p:nvPr/>
        </p:nvSpPr>
        <p:spPr>
          <a:xfrm>
            <a:off x="93853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2</a:t>
            </a:r>
            <a:endParaRPr lang="en-US" sz="1400" dirty="0"/>
          </a:p>
        </p:txBody>
      </p:sp>
      <p:sp>
        <p:nvSpPr>
          <p:cNvPr id="20" name="Text 17"/>
          <p:cNvSpPr/>
          <p:nvPr/>
        </p:nvSpPr>
        <p:spPr>
          <a:xfrm>
            <a:off x="88011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3</a:t>
            </a:r>
            <a:endParaRPr lang="en-US" sz="1400" dirty="0"/>
          </a:p>
        </p:txBody>
      </p:sp>
      <p:sp>
        <p:nvSpPr>
          <p:cNvPr id="21" name="Text 18"/>
          <p:cNvSpPr/>
          <p:nvPr/>
        </p:nvSpPr>
        <p:spPr>
          <a:xfrm>
            <a:off x="82169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4</a:t>
            </a:r>
            <a:endParaRPr lang="en-US" sz="1400" dirty="0"/>
          </a:p>
        </p:txBody>
      </p:sp>
      <p:sp>
        <p:nvSpPr>
          <p:cNvPr id="22" name="Text 19"/>
          <p:cNvSpPr/>
          <p:nvPr/>
        </p:nvSpPr>
        <p:spPr>
          <a:xfrm>
            <a:off x="76327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5</a:t>
            </a:r>
            <a:endParaRPr lang="en-US" sz="1400" dirty="0"/>
          </a:p>
        </p:txBody>
      </p:sp>
      <p:sp>
        <p:nvSpPr>
          <p:cNvPr id="23" name="Text 20"/>
          <p:cNvSpPr/>
          <p:nvPr/>
        </p:nvSpPr>
        <p:spPr>
          <a:xfrm>
            <a:off x="70485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6</a:t>
            </a:r>
            <a:endParaRPr lang="en-US" sz="1400" dirty="0"/>
          </a:p>
        </p:txBody>
      </p:sp>
      <p:sp>
        <p:nvSpPr>
          <p:cNvPr id="24" name="Text 21"/>
          <p:cNvSpPr/>
          <p:nvPr/>
        </p:nvSpPr>
        <p:spPr>
          <a:xfrm>
            <a:off x="6464300" y="36042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7</a:t>
            </a:r>
            <a:endParaRPr lang="en-US" sz="1400" dirty="0"/>
          </a:p>
        </p:txBody>
      </p:sp>
      <p:sp>
        <p:nvSpPr>
          <p:cNvPr id="25" name="Text 22"/>
          <p:cNvSpPr/>
          <p:nvPr/>
        </p:nvSpPr>
        <p:spPr>
          <a:xfrm>
            <a:off x="8610600" y="4061420"/>
            <a:ext cx="939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bit 3</a:t>
            </a:r>
            <a:endParaRPr lang="en-US" sz="1200" dirty="0"/>
          </a:p>
          <a:p>
            <a:pPr algn="ct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failsafe</a:t>
            </a:r>
            <a:endParaRPr lang="en-US" sz="1200" dirty="0"/>
          </a:p>
        </p:txBody>
      </p:sp>
      <p:sp>
        <p:nvSpPr>
          <p:cNvPr id="26" name="Text 23"/>
          <p:cNvSpPr/>
          <p:nvPr/>
        </p:nvSpPr>
        <p:spPr>
          <a:xfrm>
            <a:off x="9321800" y="4061420"/>
            <a:ext cx="939800"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bit 2</a:t>
            </a:r>
            <a:endParaRPr lang="en-US" sz="1200" dirty="0"/>
          </a:p>
          <a:p>
            <a:pPr algn="ct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mất khung</a:t>
            </a:r>
            <a:endParaRPr lang="en-US" sz="1200" dirty="0"/>
          </a:p>
        </p:txBody>
      </p:sp>
      <p:sp>
        <p:nvSpPr>
          <p:cNvPr id="27" name="Text 24"/>
          <p:cNvSpPr/>
          <p:nvPr/>
        </p:nvSpPr>
        <p:spPr>
          <a:xfrm>
            <a:off x="6426200" y="4632920"/>
            <a:ext cx="4970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Một trong hai bit bật → khung bị bỏ, và hạn 500 ms sẽ dừng động cơ.</a:t>
            </a:r>
            <a:endParaRPr lang="en-US" sz="1200" dirty="0"/>
          </a:p>
        </p:txBody>
      </p:sp>
      <p:sp>
        <p:nvSpPr>
          <p:cNvPr id="28"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97 · Nguồn: chú thích sbusFrameUsable()</a:t>
            </a:r>
            <a:endParaRPr lang="en-US" sz="12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Tách các kênh 11 bit</a:t>
            </a:r>
            <a:endParaRPr lang="en-US" sz="3000" dirty="0"/>
          </a:p>
        </p:txBody>
      </p:sp>
      <p:sp>
        <p:nvSpPr>
          <p:cNvPr id="4" name="Text 2"/>
          <p:cNvSpPr/>
          <p:nvPr/>
        </p:nvSpPr>
        <p:spPr>
          <a:xfrm>
            <a:off x="812800" y="1775420"/>
            <a:ext cx="6187430" cy="2406650"/>
          </a:xfrm>
          <a:prstGeom prst="roundRect">
            <a:avLst>
              <a:gd name="adj" fmla="val 422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sbus_raw[0] = (b[1]      | b[2] &lt;&lt; 8)             &amp; 0x7FF;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sbus_raw[1] = (b[2] &gt;&gt; 3 | b[3] &lt;&lt; 5)             &amp; 0x7FF;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sbus_raw[2] = (b[3] &gt;&gt; 6 | b[4] &lt;&lt; 2 | b[5] &lt;&lt; 10) &amp; 0x7FF;</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8FA3B8"/>
                </a:solidFill>
                <a:latin typeface="JetBrains Mono" pitchFamily="49" charset="0"/>
                <a:ea typeface="JetBrains Mono" pitchFamily="49" charset="-122"/>
                <a:cs typeface="JetBrains Mono" pitchFamily="49" charset="-120"/>
              </a:rPr>
              <a:t>// 13 more lines, same pattern</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Các kênh không thẳng hàng với byte: mỗi kênh 11 bit nên vắt qua ranh giới byte.</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Dịch bit</a:t>
            </a:r>
            <a:r>
              <a:rPr lang="en-US" sz="1450" dirty="0">
                <a:solidFill>
                  <a:srgbClr val="13202E"/>
                </a:solidFill>
                <a:latin typeface="IBM Plex Sans" pitchFamily="34" charset="0"/>
                <a:ea typeface="IBM Plex Sans" pitchFamily="34" charset="-122"/>
                <a:cs typeface="IBM Plex Sans" pitchFamily="34" charset="-120"/>
              </a:rPr>
              <a:t> đưa bit vào đúng chỗ; </a:t>
            </a:r>
            <a:r>
              <a:rPr lang="en-US" sz="1450" b="1" dirty="0">
                <a:solidFill>
                  <a:srgbClr val="13202E"/>
                </a:solidFill>
                <a:latin typeface="IBM Plex Sans" pitchFamily="34" charset="0"/>
                <a:ea typeface="IBM Plex Sans" pitchFamily="34" charset="-122"/>
                <a:cs typeface="IBM Plex Sans" pitchFamily="34" charset="-120"/>
              </a:rPr>
              <a:t>OR</a:t>
            </a:r>
            <a:r>
              <a:rPr lang="en-US" sz="1450" dirty="0">
                <a:solidFill>
                  <a:srgbClr val="13202E"/>
                </a:solidFill>
                <a:latin typeface="IBM Plex Sans" pitchFamily="34" charset="0"/>
                <a:ea typeface="IBM Plex Sans" pitchFamily="34" charset="-122"/>
                <a:cs typeface="IBM Plex Sans" pitchFamily="34" charset="-120"/>
              </a:rPr>
              <a:t> ghép các mảnh; </a:t>
            </a:r>
            <a:r>
              <a:rPr lang="en-US" sz="1450" b="1" dirty="0">
                <a:solidFill>
                  <a:srgbClr val="13202E"/>
                </a:solidFill>
                <a:latin typeface="IBM Plex Sans" pitchFamily="34" charset="0"/>
                <a:ea typeface="IBM Plex Sans" pitchFamily="34" charset="-122"/>
                <a:cs typeface="IBM Plex Sans" pitchFamily="34" charset="-120"/>
              </a:rPr>
              <a:t>&amp; 0x7FF</a:t>
            </a:r>
            <a:r>
              <a:rPr lang="en-US" sz="1450" dirty="0">
                <a:solidFill>
                  <a:srgbClr val="13202E"/>
                </a:solidFill>
                <a:latin typeface="IBM Plex Sans" pitchFamily="34" charset="0"/>
                <a:ea typeface="IBM Plex Sans" pitchFamily="34" charset="-122"/>
                <a:cs typeface="IBM Plex Sans" pitchFamily="34" charset="-120"/>
              </a:rPr>
              <a:t> giữ 11 bit.</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Giá trị 0–2047; cần bình thường dùng khoảng 172–1811.</a:t>
            </a:r>
            <a:endParaRPr lang="en-US" sz="1450" dirty="0"/>
          </a:p>
        </p:txBody>
      </p:sp>
      <p:sp>
        <p:nvSpPr>
          <p:cNvPr id="8" name="Shape 6"/>
          <p:cNvSpPr/>
          <p:nvPr/>
        </p:nvSpPr>
        <p:spPr>
          <a:xfrm>
            <a:off x="812800" y="4436070"/>
            <a:ext cx="10566400" cy="1018480"/>
          </a:xfrm>
          <a:prstGeom prst="roundRect">
            <a:avLst>
              <a:gd name="adj" fmla="val 9976"/>
            </a:avLst>
          </a:prstGeom>
          <a:solidFill>
            <a:srgbClr val="13202E"/>
          </a:solidFill>
          <a:ln/>
        </p:spPr>
      </p:sp>
      <p:sp>
        <p:nvSpPr>
          <p:cNvPr id="9" name="Text 7"/>
          <p:cNvSpPr/>
          <p:nvPr/>
        </p:nvSpPr>
        <p:spPr>
          <a:xfrm>
            <a:off x="1117600" y="466467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494149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b[1] = 0xE0, b[2] = 0x03 → (0xE0 | 0x03 &lt;&lt; 8) &amp; 0x7FF = 0x3E0 = 992, vị trí giữa của cần.</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98 · Nguồn: sbusDecode()</a:t>
            </a:r>
            <a:endParaRPr lang="en-US"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Lỗi thật: đọc nhầm byte</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Lệch một byte, cờ failsafe không bao giờ được thấy.</a:t>
            </a:r>
            <a:endParaRPr lang="en-US" sz="1600" dirty="0"/>
          </a:p>
        </p:txBody>
      </p:sp>
      <p:sp>
        <p:nvSpPr>
          <p:cNvPr id="5" name="Shape 3"/>
          <p:cNvSpPr/>
          <p:nvPr/>
        </p:nvSpPr>
        <p:spPr>
          <a:xfrm>
            <a:off x="819150" y="2320230"/>
            <a:ext cx="5168900" cy="1983581"/>
          </a:xfrm>
          <a:prstGeom prst="roundRect">
            <a:avLst>
              <a:gd name="adj" fmla="val 4802"/>
            </a:avLst>
          </a:prstGeom>
          <a:solidFill>
            <a:srgbClr val="FDFCF8"/>
          </a:solidFill>
          <a:ln w="12700">
            <a:solidFill>
              <a:srgbClr val="E2DFD6"/>
            </a:solidFill>
            <a:prstDash val="solid"/>
          </a:ln>
        </p:spPr>
      </p:sp>
      <p:sp>
        <p:nvSpPr>
          <p:cNvPr id="6" name="Text 4"/>
          <p:cNvSpPr/>
          <p:nvPr/>
        </p:nvSpPr>
        <p:spPr>
          <a:xfrm>
            <a:off x="10795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2318"/>
                </a:solidFill>
                <a:latin typeface="IBM Plex Sans" pitchFamily="34" charset="0"/>
                <a:ea typeface="IBM Plex Sans" pitchFamily="34" charset="-122"/>
                <a:cs typeface="IBM Plex Sans" pitchFamily="34" charset="-120"/>
              </a:rPr>
              <a:t>Trước (lỗi)</a:t>
            </a:r>
            <a:endParaRPr lang="en-US" sz="1900" dirty="0"/>
          </a:p>
        </p:txBody>
      </p:sp>
      <p:sp>
        <p:nvSpPr>
          <p:cNvPr id="7" name="Text 5"/>
          <p:cNvSpPr/>
          <p:nvPr/>
        </p:nvSpPr>
        <p:spPr>
          <a:xfrm>
            <a:off x="10795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Đọc cờ từ byte 24, tức byte cuối khung</a:t>
            </a:r>
            <a:endParaRPr lang="en-US" sz="1400" dirty="0"/>
          </a:p>
        </p:txBody>
      </p:sp>
      <p:sp>
        <p:nvSpPr>
          <p:cNvPr id="8" name="Text 6"/>
          <p:cNvSpPr/>
          <p:nvPr/>
        </p:nvSpPr>
        <p:spPr>
          <a:xfrm>
            <a:off x="10795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Byte cuối luôn là 0x00 → cờ luôn trông như sạch</a:t>
            </a:r>
            <a:endParaRPr lang="en-US" sz="1400" dirty="0"/>
          </a:p>
        </p:txBody>
      </p:sp>
      <p:sp>
        <p:nvSpPr>
          <p:cNvPr id="9" name="Text 7"/>
          <p:cNvSpPr/>
          <p:nvPr/>
        </p:nvSpPr>
        <p:spPr>
          <a:xfrm>
            <a:off x="1079500" y="357108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Máy thu ở failsafe vẫn giữ động cơ chạy theo cần cũ</a:t>
            </a:r>
            <a:endParaRPr lang="en-US" sz="1400" dirty="0"/>
          </a:p>
        </p:txBody>
      </p:sp>
      <p:sp>
        <p:nvSpPr>
          <p:cNvPr id="10" name="Shape 8"/>
          <p:cNvSpPr/>
          <p:nvPr/>
        </p:nvSpPr>
        <p:spPr>
          <a:xfrm>
            <a:off x="6203950" y="2320230"/>
            <a:ext cx="5168900" cy="1983581"/>
          </a:xfrm>
          <a:prstGeom prst="roundRect">
            <a:avLst>
              <a:gd name="adj" fmla="val 4802"/>
            </a:avLst>
          </a:prstGeom>
          <a:solidFill>
            <a:srgbClr val="FDFCF8"/>
          </a:solidFill>
          <a:ln w="12700">
            <a:solidFill>
              <a:srgbClr val="E2DFD6"/>
            </a:solidFill>
            <a:prstDash val="solid"/>
          </a:ln>
        </p:spPr>
      </p:sp>
      <p:sp>
        <p:nvSpPr>
          <p:cNvPr id="11" name="Text 9"/>
          <p:cNvSpPr/>
          <p:nvPr/>
        </p:nvSpPr>
        <p:spPr>
          <a:xfrm>
            <a:off x="64643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4D"/>
                </a:solidFill>
                <a:latin typeface="IBM Plex Sans" pitchFamily="34" charset="0"/>
                <a:ea typeface="IBM Plex Sans" pitchFamily="34" charset="-122"/>
                <a:cs typeface="IBM Plex Sans" pitchFamily="34" charset="-120"/>
              </a:rPr>
              <a:t>Sau (đã sửa)</a:t>
            </a:r>
            <a:endParaRPr lang="en-US" sz="1900" dirty="0"/>
          </a:p>
        </p:txBody>
      </p:sp>
      <p:sp>
        <p:nvSpPr>
          <p:cNvPr id="12" name="Text 10"/>
          <p:cNvSpPr/>
          <p:nvPr/>
        </p:nvSpPr>
        <p:spPr>
          <a:xfrm>
            <a:off x="64643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Đọc cờ từ byte 23</a:t>
            </a:r>
            <a:endParaRPr lang="en-US" sz="1400" dirty="0"/>
          </a:p>
        </p:txBody>
      </p:sp>
      <p:sp>
        <p:nvSpPr>
          <p:cNvPr id="13" name="Text 11"/>
          <p:cNvSpPr/>
          <p:nvPr/>
        </p:nvSpPr>
        <p:spPr>
          <a:xfrm>
            <a:off x="64643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Khung mất hoặc failsafe bị bỏ</a:t>
            </a:r>
            <a:endParaRPr lang="en-US" sz="1400" dirty="0"/>
          </a:p>
        </p:txBody>
      </p:sp>
      <p:sp>
        <p:nvSpPr>
          <p:cNvPr id="14" name="Text 12"/>
          <p:cNvSpPr/>
          <p:nvPr/>
        </p:nvSpPr>
        <p:spPr>
          <a:xfrm>
            <a:off x="6464300" y="357108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Thời hạn 500 ms sau đó dừng động cơ; sbus_test.cpp ghim lại</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99 · Nguồn: sbusFrameUsable(); test/sbus_test.cpp</a:t>
            </a:r>
            <a:endParaRPr lang="en-US"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Tìm khung và co giãn giá trị cần</a:t>
            </a:r>
            <a:endParaRPr lang="en-US" sz="3000" dirty="0"/>
          </a:p>
        </p:txBody>
      </p:sp>
      <p:sp>
        <p:nvSpPr>
          <p:cNvPr id="4" name="Text 2"/>
          <p:cNvSpPr/>
          <p:nvPr/>
        </p:nvSpPr>
        <p:spPr>
          <a:xfrm>
            <a:off x="812800" y="1775420"/>
            <a:ext cx="6187430" cy="3873500"/>
          </a:xfrm>
          <a:prstGeom prst="roundRect">
            <a:avLst>
              <a:gd name="adj" fmla="val 2623"/>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while</a:t>
            </a:r>
            <a:r>
              <a:rPr lang="en-US" sz="1300" dirty="0">
                <a:solidFill>
                  <a:srgbClr val="E6EBF0"/>
                </a:solidFill>
                <a:latin typeface="JetBrains Mono" pitchFamily="49" charset="0"/>
                <a:ea typeface="JetBrains Mono" pitchFamily="49" charset="-122"/>
                <a:cs typeface="JetBrains Mono" pitchFamily="49" charset="-120"/>
              </a:rPr>
              <a:t> (Serial2.available())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 c = Serial2.read();</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(sbus_idx == 0 &amp;&amp; c != 0x0F) continue;  </a:t>
            </a:r>
            <a:r>
              <a:rPr lang="en-US" sz="1300" dirty="0">
                <a:solidFill>
                  <a:srgbClr val="8FA3B8"/>
                </a:solidFill>
                <a:latin typeface="JetBrains Mono" pitchFamily="49" charset="0"/>
                <a:ea typeface="JetBrains Mono" pitchFamily="49" charset="-122"/>
                <a:cs typeface="JetBrains Mono" pitchFamily="49" charset="-120"/>
              </a:rPr>
              <a:t>// wait for header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sbus_buf[sbus_idx++] = c;</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(sbus_idx &gt;= SBUS_FRAME_LEN)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sbus_idx = 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(sbusFrameUsable(sbus_buf)) sbusDecode(sbus_buf);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8FA3B8"/>
                </a:solidFill>
                <a:latin typeface="JetBrains Mono" pitchFamily="49" charset="0"/>
                <a:ea typeface="JetBrains Mono" pitchFamily="49" charset="-122"/>
                <a:cs typeface="JetBrains Mono" pitchFamily="49" charset="-120"/>
              </a:rPr>
              <a:t>// in sbusDecode: 172..1811 -&gt; 1000..2000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rc[i] = constrain(map(sbus_raw[i], 172, 1811, 1000, 2000),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1000, 2000);</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Không chặn</a:t>
            </a:r>
            <a:r>
              <a:rPr lang="en-US" sz="1450" dirty="0">
                <a:solidFill>
                  <a:srgbClr val="13202E"/>
                </a:solidFill>
                <a:latin typeface="IBM Plex Sans" pitchFamily="34" charset="0"/>
                <a:ea typeface="IBM Plex Sans" pitchFamily="34" charset="-122"/>
                <a:cs typeface="IBM Plex Sans" pitchFamily="34" charset="-120"/>
              </a:rPr>
              <a:t>: chỉ đọc những gì đã tới, không bao giờ chờ.</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map()</a:t>
            </a:r>
            <a:r>
              <a:rPr lang="en-US" sz="1450" dirty="0">
                <a:solidFill>
                  <a:srgbClr val="13202E"/>
                </a:solidFill>
                <a:latin typeface="IBM Plex Sans" pitchFamily="34" charset="0"/>
                <a:ea typeface="IBM Plex Sans" pitchFamily="34" charset="-122"/>
                <a:cs typeface="IBM Plex Sans" pitchFamily="34" charset="-120"/>
              </a:rPr>
              <a:t> co giãn về dải 1000–2000 mà phần còn lại của mã dùng.</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CH5 thành công tắc đơn giản: trên 1024 → 2000, ngược lại 1000.</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100 · Nguồn: sbusPoll(), sbusDecode()</a:t>
            </a:r>
            <a:endParaRPr lang="en-US" sz="1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Arm bằng tay điều khiển RC</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1597422"/>
        </p:xfrm>
        <a:graphic>
          <a:graphicData uri="http://schemas.openxmlformats.org/drawingml/2006/table">
            <a:tbl>
              <a:tblPr/>
              <a:tblGrid>
                <a:gridCol w="1899666"/>
                <a:gridCol w="1899666"/>
                <a:gridCol w="4854702"/>
                <a:gridCol w="1899666"/>
              </a:tblGrid>
              <a:tr h="399355">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Thao tác</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Ga</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Cần yaw hoặc CH5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Giữ</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Arm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dưới 1050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yaw phải (trên 1700) hoặc CH5 cao</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 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Disarm</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dưới 1050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yaw trái (dưới 1300)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 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Disarm (công tắc)</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bất kỳ</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CH5 hạ thấp, khi đã thấy dùng công tắc</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 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363954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Mọi cách arm đều cần pin từ 3,3 V trở lên (armChecksOk).</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101 · Nguồn: armUpdate(), #define YAW_ARM_THRESHOLD</a:t>
            </a:r>
            <a:endParaRPr lang="en-US" sz="1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CRTP: ngôn ngữ của điện thoại</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CRTP: byte đầu tiên cho biết gói đi đâu.</a:t>
            </a:r>
            <a:endParaRPr lang="en-US" sz="1600" dirty="0"/>
          </a:p>
        </p:txBody>
      </p:sp>
      <p:sp>
        <p:nvSpPr>
          <p:cNvPr id="5" name="Text 3"/>
          <p:cNvSpPr/>
          <p:nvPr/>
        </p:nvSpPr>
        <p:spPr>
          <a:xfrm>
            <a:off x="812800" y="218941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CRTP đến từ dự án Crazyflie; ứng dụng ESP-Drone nói giao thức này.</a:t>
            </a:r>
            <a:endParaRPr lang="en-US" sz="1400" dirty="0"/>
          </a:p>
        </p:txBody>
      </p:sp>
      <p:sp>
        <p:nvSpPr>
          <p:cNvPr id="6" name="Text 4"/>
          <p:cNvSpPr/>
          <p:nvPr/>
        </p:nvSpPr>
        <p:spPr>
          <a:xfrm>
            <a:off x="812800" y="28268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4 bit cao của byte đầu chọn </a:t>
            </a:r>
            <a:r>
              <a:rPr lang="en-US" sz="1400" b="1" dirty="0">
                <a:solidFill>
                  <a:srgbClr val="B5501A"/>
                </a:solidFill>
                <a:latin typeface="IBM Plex Sans" pitchFamily="34" charset="0"/>
                <a:ea typeface="IBM Plex Sans" pitchFamily="34" charset="-122"/>
                <a:cs typeface="IBM Plex Sans" pitchFamily="34" charset="-120"/>
              </a:rPr>
              <a:t>port</a:t>
            </a:r>
            <a:r>
              <a:rPr lang="en-US" sz="1400" dirty="0">
                <a:solidFill>
                  <a:srgbClr val="13202E"/>
                </a:solidFill>
                <a:latin typeface="IBM Plex Sans" pitchFamily="34" charset="0"/>
                <a:ea typeface="IBM Plex Sans" pitchFamily="34" charset="-122"/>
                <a:cs typeface="IBM Plex Sans" pitchFamily="34" charset="-120"/>
              </a:rPr>
              <a:t>, 2 bit thấp chọn </a:t>
            </a:r>
            <a:r>
              <a:rPr lang="en-US" sz="1400" b="1" dirty="0">
                <a:solidFill>
                  <a:srgbClr val="2F6FA3"/>
                </a:solidFill>
                <a:latin typeface="IBM Plex Sans" pitchFamily="34" charset="0"/>
                <a:ea typeface="IBM Plex Sans" pitchFamily="34" charset="-122"/>
                <a:cs typeface="IBM Plex Sans" pitchFamily="34" charset="-120"/>
              </a:rPr>
              <a:t>kênh</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812800" y="32154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crtpDispatch()</a:t>
            </a:r>
            <a:r>
              <a:rPr lang="en-US" sz="1400" dirty="0">
                <a:solidFill>
                  <a:srgbClr val="13202E"/>
                </a:solidFill>
                <a:latin typeface="IBM Plex Sans" pitchFamily="34" charset="0"/>
                <a:ea typeface="IBM Plex Sans" pitchFamily="34" charset="-122"/>
                <a:cs typeface="IBM Plex Sans" pitchFamily="34" charset="-120"/>
              </a:rPr>
              <a:t> đọc port và gọi đúng handler.</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port = (byte &gt;&gt; 4) &amp; 0x0F; kênh = byte &amp; 0x03. Với 0x71: port 7, kênh 1.</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yte đầu CRTP: bit 7 đến 4 là port, bit 1 và 0 là kênh; giải mã ví dụ 0x30, 0x70, 0x71 và 0x25">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104902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0</a:t>
            </a:r>
            <a:endParaRPr lang="en-US" sz="1400" dirty="0"/>
          </a:p>
        </p:txBody>
      </p:sp>
      <p:sp>
        <p:nvSpPr>
          <p:cNvPr id="14" name="Text 11"/>
          <p:cNvSpPr/>
          <p:nvPr/>
        </p:nvSpPr>
        <p:spPr>
          <a:xfrm>
            <a:off x="99060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1</a:t>
            </a:r>
            <a:endParaRPr lang="en-US" sz="1400" dirty="0"/>
          </a:p>
        </p:txBody>
      </p:sp>
      <p:sp>
        <p:nvSpPr>
          <p:cNvPr id="15" name="Text 12"/>
          <p:cNvSpPr/>
          <p:nvPr/>
        </p:nvSpPr>
        <p:spPr>
          <a:xfrm>
            <a:off x="93218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2</a:t>
            </a:r>
            <a:endParaRPr lang="en-US" sz="1400" dirty="0"/>
          </a:p>
        </p:txBody>
      </p:sp>
      <p:sp>
        <p:nvSpPr>
          <p:cNvPr id="16" name="Text 13"/>
          <p:cNvSpPr/>
          <p:nvPr/>
        </p:nvSpPr>
        <p:spPr>
          <a:xfrm>
            <a:off x="87376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3</a:t>
            </a:r>
            <a:endParaRPr lang="en-US" sz="1400" dirty="0"/>
          </a:p>
        </p:txBody>
      </p:sp>
      <p:sp>
        <p:nvSpPr>
          <p:cNvPr id="17" name="Text 14"/>
          <p:cNvSpPr/>
          <p:nvPr/>
        </p:nvSpPr>
        <p:spPr>
          <a:xfrm>
            <a:off x="81534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4</a:t>
            </a:r>
            <a:endParaRPr lang="en-US" sz="1400" dirty="0"/>
          </a:p>
        </p:txBody>
      </p:sp>
      <p:sp>
        <p:nvSpPr>
          <p:cNvPr id="18" name="Text 15"/>
          <p:cNvSpPr/>
          <p:nvPr/>
        </p:nvSpPr>
        <p:spPr>
          <a:xfrm>
            <a:off x="75692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5</a:t>
            </a:r>
            <a:endParaRPr lang="en-US" sz="1400" dirty="0"/>
          </a:p>
        </p:txBody>
      </p:sp>
      <p:sp>
        <p:nvSpPr>
          <p:cNvPr id="19" name="Text 16"/>
          <p:cNvSpPr/>
          <p:nvPr/>
        </p:nvSpPr>
        <p:spPr>
          <a:xfrm>
            <a:off x="69850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6</a:t>
            </a:r>
            <a:endParaRPr lang="en-US" sz="1400" dirty="0"/>
          </a:p>
        </p:txBody>
      </p:sp>
      <p:sp>
        <p:nvSpPr>
          <p:cNvPr id="20" name="Text 17"/>
          <p:cNvSpPr/>
          <p:nvPr/>
        </p:nvSpPr>
        <p:spPr>
          <a:xfrm>
            <a:off x="6400800" y="2321520"/>
            <a:ext cx="584200" cy="247650"/>
          </a:xfrm>
          <a:prstGeom prst="rect">
            <a:avLst/>
          </a:prstGeom>
          <a:noFill/>
          <a:ln/>
        </p:spPr>
        <p:txBody>
          <a:bodyPr wrap="square" lIns="0" tIns="0" rIns="0" bIns="0" rtlCol="0" anchor="t">
            <a:normAutofit/>
          </a:bodyPr>
          <a:lstStyle/>
          <a:p>
            <a:pPr algn="ctr" indent="0" marL="0">
              <a:lnSpc>
                <a:spcPts val="1750"/>
              </a:lnSpc>
              <a:buNone/>
            </a:pPr>
            <a:r>
              <a:rPr lang="en-US" sz="1400" b="1" dirty="0">
                <a:solidFill>
                  <a:srgbClr val="F6F5F0"/>
                </a:solidFill>
                <a:latin typeface="IBM Plex Sans" pitchFamily="34" charset="0"/>
                <a:ea typeface="IBM Plex Sans" pitchFamily="34" charset="-122"/>
                <a:cs typeface="IBM Plex Sans" pitchFamily="34" charset="-120"/>
              </a:rPr>
              <a:t>7</a:t>
            </a:r>
            <a:endParaRPr lang="en-US" sz="1400" dirty="0"/>
          </a:p>
        </p:txBody>
      </p:sp>
      <p:sp>
        <p:nvSpPr>
          <p:cNvPr id="21" name="Text 18"/>
          <p:cNvSpPr/>
          <p:nvPr/>
        </p:nvSpPr>
        <p:spPr>
          <a:xfrm>
            <a:off x="6391910" y="2766020"/>
            <a:ext cx="23545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B5501A"/>
                </a:solidFill>
                <a:latin typeface="IBM Plex Sans" pitchFamily="34" charset="0"/>
                <a:ea typeface="IBM Plex Sans" pitchFamily="34" charset="-122"/>
                <a:cs typeface="IBM Plex Sans" pitchFamily="34" charset="-120"/>
              </a:rPr>
              <a:t>bit 7–4: </a:t>
            </a:r>
            <a:r>
              <a:rPr lang="en-US" sz="1200" b="1" dirty="0">
                <a:solidFill>
                  <a:srgbClr val="B5501A"/>
                </a:solidFill>
                <a:latin typeface="IBM Plex Sans" pitchFamily="34" charset="0"/>
                <a:ea typeface="IBM Plex Sans" pitchFamily="34" charset="-122"/>
                <a:cs typeface="IBM Plex Sans" pitchFamily="34" charset="-120"/>
              </a:rPr>
              <a:t>port</a:t>
            </a:r>
            <a:r>
              <a:rPr lang="en-US" sz="1200" dirty="0">
                <a:solidFill>
                  <a:srgbClr val="B5501A"/>
                </a:solidFill>
                <a:latin typeface="IBM Plex Sans" pitchFamily="34" charset="0"/>
                <a:ea typeface="IBM Plex Sans" pitchFamily="34" charset="-122"/>
                <a:cs typeface="IBM Plex Sans" pitchFamily="34" charset="-120"/>
              </a:rPr>
              <a:t> (dịch vụ)</a:t>
            </a:r>
            <a:endParaRPr lang="en-US" sz="1200" dirty="0"/>
          </a:p>
        </p:txBody>
      </p:sp>
      <p:sp>
        <p:nvSpPr>
          <p:cNvPr id="22" name="Text 19"/>
          <p:cNvSpPr/>
          <p:nvPr/>
        </p:nvSpPr>
        <p:spPr>
          <a:xfrm>
            <a:off x="8737600" y="2766020"/>
            <a:ext cx="1168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3–2: link</a:t>
            </a:r>
            <a:endParaRPr lang="en-US" sz="1200" dirty="0"/>
          </a:p>
        </p:txBody>
      </p:sp>
      <p:sp>
        <p:nvSpPr>
          <p:cNvPr id="23" name="Text 20"/>
          <p:cNvSpPr/>
          <p:nvPr/>
        </p:nvSpPr>
        <p:spPr>
          <a:xfrm>
            <a:off x="9906000" y="2766020"/>
            <a:ext cx="11684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2F6FA3"/>
                </a:solidFill>
                <a:latin typeface="IBM Plex Sans" pitchFamily="34" charset="0"/>
                <a:ea typeface="IBM Plex Sans" pitchFamily="34" charset="-122"/>
                <a:cs typeface="IBM Plex Sans" pitchFamily="34" charset="-120"/>
              </a:rPr>
              <a:t>1–0: </a:t>
            </a:r>
            <a:r>
              <a:rPr lang="en-US" sz="1200" b="1" dirty="0">
                <a:solidFill>
                  <a:srgbClr val="2F6FA3"/>
                </a:solidFill>
                <a:latin typeface="IBM Plex Sans" pitchFamily="34" charset="0"/>
                <a:ea typeface="IBM Plex Sans" pitchFamily="34" charset="-122"/>
                <a:cs typeface="IBM Plex Sans" pitchFamily="34" charset="-120"/>
              </a:rPr>
              <a:t>kênh</a:t>
            </a:r>
            <a:endParaRPr lang="en-US" sz="1200" dirty="0"/>
          </a:p>
        </p:txBody>
      </p:sp>
      <p:sp>
        <p:nvSpPr>
          <p:cNvPr id="24" name="Text 21"/>
          <p:cNvSpPr/>
          <p:nvPr/>
        </p:nvSpPr>
        <p:spPr>
          <a:xfrm>
            <a:off x="6426200" y="3362920"/>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0x30</a:t>
            </a:r>
            <a:endParaRPr lang="en-US" sz="1400" dirty="0"/>
          </a:p>
        </p:txBody>
      </p:sp>
      <p:sp>
        <p:nvSpPr>
          <p:cNvPr id="25" name="Text 22"/>
          <p:cNvSpPr/>
          <p:nvPr/>
        </p:nvSpPr>
        <p:spPr>
          <a:xfrm>
            <a:off x="7124700" y="3362920"/>
            <a:ext cx="12573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4A5568"/>
                </a:solidFill>
                <a:latin typeface="IBM Plex Sans" pitchFamily="34" charset="0"/>
                <a:ea typeface="IBM Plex Sans" pitchFamily="34" charset="-122"/>
                <a:cs typeface="IBM Plex Sans" pitchFamily="34" charset="-120"/>
              </a:rPr>
              <a:t>0011 0000</a:t>
            </a:r>
            <a:endParaRPr lang="en-US" sz="1400" dirty="0"/>
          </a:p>
        </p:txBody>
      </p:sp>
      <p:sp>
        <p:nvSpPr>
          <p:cNvPr id="26" name="Text 23"/>
          <p:cNvSpPr/>
          <p:nvPr/>
        </p:nvSpPr>
        <p:spPr>
          <a:xfrm>
            <a:off x="8394700" y="3362920"/>
            <a:ext cx="29845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3202E"/>
                </a:solidFill>
                <a:latin typeface="IBM Plex Sans" pitchFamily="34" charset="0"/>
                <a:ea typeface="IBM Plex Sans" pitchFamily="34" charset="-122"/>
                <a:cs typeface="IBM Plex Sans" pitchFamily="34" charset="-120"/>
              </a:rPr>
              <a:t>port 3, kênh 0 → commander (cần lái)</a:t>
            </a:r>
            <a:endParaRPr lang="en-US" sz="1300" dirty="0"/>
          </a:p>
        </p:txBody>
      </p:sp>
      <p:sp>
        <p:nvSpPr>
          <p:cNvPr id="27" name="Text 24"/>
          <p:cNvSpPr/>
          <p:nvPr/>
        </p:nvSpPr>
        <p:spPr>
          <a:xfrm>
            <a:off x="6426200" y="3820120"/>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0x70</a:t>
            </a:r>
            <a:endParaRPr lang="en-US" sz="1400" dirty="0"/>
          </a:p>
        </p:txBody>
      </p:sp>
      <p:sp>
        <p:nvSpPr>
          <p:cNvPr id="28" name="Text 25"/>
          <p:cNvSpPr/>
          <p:nvPr/>
        </p:nvSpPr>
        <p:spPr>
          <a:xfrm>
            <a:off x="7124700" y="3820120"/>
            <a:ext cx="12573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4A5568"/>
                </a:solidFill>
                <a:latin typeface="IBM Plex Sans" pitchFamily="34" charset="0"/>
                <a:ea typeface="IBM Plex Sans" pitchFamily="34" charset="-122"/>
                <a:cs typeface="IBM Plex Sans" pitchFamily="34" charset="-120"/>
              </a:rPr>
              <a:t>0111 0000</a:t>
            </a:r>
            <a:endParaRPr lang="en-US" sz="1400" dirty="0"/>
          </a:p>
        </p:txBody>
      </p:sp>
      <p:sp>
        <p:nvSpPr>
          <p:cNvPr id="29" name="Text 26"/>
          <p:cNvSpPr/>
          <p:nvPr/>
        </p:nvSpPr>
        <p:spPr>
          <a:xfrm>
            <a:off x="8394700" y="3820120"/>
            <a:ext cx="294322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3202E"/>
                </a:solidFill>
                <a:latin typeface="IBM Plex Sans" pitchFamily="34" charset="0"/>
                <a:ea typeface="IBM Plex Sans" pitchFamily="34" charset="-122"/>
                <a:cs typeface="IBM Plex Sans" pitchFamily="34" charset="-120"/>
              </a:rPr>
              <a:t>port 7, kênh 0 → điều khiển bay</a:t>
            </a:r>
            <a:endParaRPr lang="en-US" sz="1300" dirty="0"/>
          </a:p>
        </p:txBody>
      </p:sp>
      <p:sp>
        <p:nvSpPr>
          <p:cNvPr id="30" name="Text 27"/>
          <p:cNvSpPr/>
          <p:nvPr/>
        </p:nvSpPr>
        <p:spPr>
          <a:xfrm>
            <a:off x="6426200" y="4277320"/>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0x71</a:t>
            </a:r>
            <a:endParaRPr lang="en-US" sz="1400" dirty="0"/>
          </a:p>
        </p:txBody>
      </p:sp>
      <p:sp>
        <p:nvSpPr>
          <p:cNvPr id="31" name="Text 28"/>
          <p:cNvSpPr/>
          <p:nvPr/>
        </p:nvSpPr>
        <p:spPr>
          <a:xfrm>
            <a:off x="7124700" y="4277320"/>
            <a:ext cx="12573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4A5568"/>
                </a:solidFill>
                <a:latin typeface="IBM Plex Sans" pitchFamily="34" charset="0"/>
                <a:ea typeface="IBM Plex Sans" pitchFamily="34" charset="-122"/>
                <a:cs typeface="IBM Plex Sans" pitchFamily="34" charset="-120"/>
              </a:rPr>
              <a:t>0111 0001</a:t>
            </a:r>
            <a:endParaRPr lang="en-US" sz="1400" dirty="0"/>
          </a:p>
        </p:txBody>
      </p:sp>
      <p:sp>
        <p:nvSpPr>
          <p:cNvPr id="32" name="Text 29"/>
          <p:cNvSpPr/>
          <p:nvPr/>
        </p:nvSpPr>
        <p:spPr>
          <a:xfrm>
            <a:off x="8394700" y="4277320"/>
            <a:ext cx="294322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3202E"/>
                </a:solidFill>
                <a:latin typeface="IBM Plex Sans" pitchFamily="34" charset="0"/>
                <a:ea typeface="IBM Plex Sans" pitchFamily="34" charset="-122"/>
                <a:cs typeface="IBM Plex Sans" pitchFamily="34" charset="-120"/>
              </a:rPr>
              <a:t>port 7, kênh 1 → dẫn đường</a:t>
            </a:r>
            <a:endParaRPr lang="en-US" sz="1300" dirty="0"/>
          </a:p>
        </p:txBody>
      </p:sp>
      <p:sp>
        <p:nvSpPr>
          <p:cNvPr id="33" name="Text 30"/>
          <p:cNvSpPr/>
          <p:nvPr/>
        </p:nvSpPr>
        <p:spPr>
          <a:xfrm>
            <a:off x="6426200" y="4734520"/>
            <a:ext cx="7493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E"/>
                </a:solidFill>
                <a:latin typeface="IBM Plex Sans" pitchFamily="34" charset="0"/>
                <a:ea typeface="IBM Plex Sans" pitchFamily="34" charset="-122"/>
                <a:cs typeface="IBM Plex Sans" pitchFamily="34" charset="-120"/>
              </a:rPr>
              <a:t>0x25</a:t>
            </a:r>
            <a:endParaRPr lang="en-US" sz="1400" dirty="0"/>
          </a:p>
        </p:txBody>
      </p:sp>
      <p:sp>
        <p:nvSpPr>
          <p:cNvPr id="34" name="Text 31"/>
          <p:cNvSpPr/>
          <p:nvPr/>
        </p:nvSpPr>
        <p:spPr>
          <a:xfrm>
            <a:off x="7124700" y="4734520"/>
            <a:ext cx="1257300" cy="247650"/>
          </a:xfrm>
          <a:prstGeom prst="rect">
            <a:avLst/>
          </a:prstGeom>
          <a:noFill/>
          <a:ln/>
        </p:spPr>
        <p:txBody>
          <a:bodyPr wrap="square" lIns="0" tIns="0" rIns="0" bIns="0" rtlCol="0" anchor="t">
            <a:normAutofit/>
          </a:bodyPr>
          <a:lstStyle/>
          <a:p>
            <a:pPr algn="l" indent="0" marL="0">
              <a:lnSpc>
                <a:spcPts val="1750"/>
              </a:lnSpc>
              <a:buNone/>
            </a:pPr>
            <a:r>
              <a:rPr lang="en-US" sz="1400" dirty="0">
                <a:solidFill>
                  <a:srgbClr val="4A5568"/>
                </a:solidFill>
                <a:latin typeface="IBM Plex Sans" pitchFamily="34" charset="0"/>
                <a:ea typeface="IBM Plex Sans" pitchFamily="34" charset="-122"/>
                <a:cs typeface="IBM Plex Sans" pitchFamily="34" charset="-120"/>
              </a:rPr>
              <a:t>0010 0101</a:t>
            </a:r>
            <a:endParaRPr lang="en-US" sz="1400" dirty="0"/>
          </a:p>
        </p:txBody>
      </p:sp>
      <p:sp>
        <p:nvSpPr>
          <p:cNvPr id="35" name="Text 32"/>
          <p:cNvSpPr/>
          <p:nvPr/>
        </p:nvSpPr>
        <p:spPr>
          <a:xfrm>
            <a:off x="8394700" y="4734520"/>
            <a:ext cx="2943225"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3202E"/>
                </a:solidFill>
                <a:latin typeface="IBM Plex Sans" pitchFamily="34" charset="0"/>
                <a:ea typeface="IBM Plex Sans" pitchFamily="34" charset="-122"/>
                <a:cs typeface="IBM Plex Sans" pitchFamily="34" charset="-120"/>
              </a:rPr>
              <a:t>port 2, kênh 1 → đọc tham số</a:t>
            </a:r>
            <a:endParaRPr lang="en-US" sz="1300" dirty="0"/>
          </a:p>
        </p:txBody>
      </p:sp>
      <p:sp>
        <p:nvSpPr>
          <p:cNvPr id="36"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102 · Nguồn: phần CRTP; crtpDispatch()</a:t>
            </a:r>
            <a:endParaRPr lang="en-US" sz="1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Đóng khung và checksum</a:t>
            </a:r>
            <a:endParaRPr lang="en-US" sz="3000" dirty="0"/>
          </a:p>
        </p:txBody>
      </p:sp>
      <p:sp>
        <p:nvSpPr>
          <p:cNvPr id="4" name="Text 2"/>
          <p:cNvSpPr/>
          <p:nvPr/>
        </p:nvSpPr>
        <p:spPr>
          <a:xfrm>
            <a:off x="812800" y="1775420"/>
            <a:ext cx="6187430" cy="2635250"/>
          </a:xfrm>
          <a:prstGeom prst="roundRect">
            <a:avLst>
              <a:gd name="adj" fmla="val 385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 crtpChecksum(</a:t>
            </a:r>
            <a:r>
              <a:rPr lang="en-US" sz="1300" dirty="0">
                <a:solidFill>
                  <a:srgbClr val="F29E5C"/>
                </a:solidFill>
                <a:latin typeface="JetBrains Mono" pitchFamily="49" charset="0"/>
                <a:ea typeface="JetBrains Mono" pitchFamily="49" charset="-122"/>
                <a:cs typeface="JetBrains Mono" pitchFamily="49" charset="-120"/>
              </a:rPr>
              <a:t>const</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 *data, </a:t>
            </a:r>
            <a:r>
              <a:rPr lang="en-US" sz="1300" dirty="0">
                <a:solidFill>
                  <a:srgbClr val="F29E5C"/>
                </a:solidFill>
                <a:latin typeface="JetBrains Mono" pitchFamily="49" charset="0"/>
                <a:ea typeface="JetBrains Mono" pitchFamily="49" charset="-122"/>
                <a:cs typeface="JetBrains Mono" pitchFamily="49" charset="-120"/>
              </a:rPr>
              <a:t>size_t</a:t>
            </a:r>
            <a:r>
              <a:rPr lang="en-US" sz="1300" dirty="0">
                <a:solidFill>
                  <a:srgbClr val="E6EBF0"/>
                </a:solidFill>
                <a:latin typeface="JetBrains Mono" pitchFamily="49" charset="0"/>
                <a:ea typeface="JetBrains Mono" pitchFamily="49" charset="-122"/>
                <a:cs typeface="JetBrains Mono" pitchFamily="49" charset="-120"/>
              </a:rPr>
              <a:t> len)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uint32_t</a:t>
            </a:r>
            <a:r>
              <a:rPr lang="en-US" sz="1300" dirty="0">
                <a:solidFill>
                  <a:srgbClr val="E6EBF0"/>
                </a:solidFill>
                <a:latin typeface="JetBrains Mono" pitchFamily="49" charset="0"/>
                <a:ea typeface="JetBrains Mono" pitchFamily="49" charset="-122"/>
                <a:cs typeface="JetBrains Mono" pitchFamily="49" charset="-120"/>
              </a:rPr>
              <a:t> sum = 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for</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size_t</a:t>
            </a:r>
            <a:r>
              <a:rPr lang="en-US" sz="1300" dirty="0">
                <a:solidFill>
                  <a:srgbClr val="E6EBF0"/>
                </a:solidFill>
                <a:latin typeface="JetBrains Mono" pitchFamily="49" charset="0"/>
                <a:ea typeface="JetBrains Mono" pitchFamily="49" charset="-122"/>
                <a:cs typeface="JetBrains Mono" pitchFamily="49" charset="-120"/>
              </a:rPr>
              <a:t> i = 0; i &lt; len; i++) sum += data[i];</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uint8_t</a:t>
            </a:r>
            <a:r>
              <a:rPr lang="en-US" sz="1300" dirty="0">
                <a:solidFill>
                  <a:srgbClr val="E6EBF0"/>
                </a:solidFill>
                <a:latin typeface="JetBrains Mono" pitchFamily="49" charset="0"/>
                <a:ea typeface="JetBrains Mono" pitchFamily="49" charset="-122"/>
                <a:cs typeface="JetBrains Mono" pitchFamily="49" charset="-120"/>
              </a:rPr>
              <a:t>)(sum &amp; 0xFF);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8FA3B8"/>
                </a:solidFill>
                <a:latin typeface="JetBrains Mono" pitchFamily="49" charset="0"/>
                <a:ea typeface="JetBrains Mono" pitchFamily="49" charset="-122"/>
                <a:cs typeface="JetBrains Mono" pitchFamily="49" charset="-120"/>
              </a:rPr>
              <a:t>// on receive (UDP / SPP):</a:t>
            </a:r>
            <a:endParaRPr lang="en-US" sz="1300" dirty="0"/>
          </a:p>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(crtpChecksum(data, len - 1) != data[len - 1])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crtpDispatch(data, len - 1);</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crtp_last_rx_ms = millis();     </a:t>
            </a:r>
            <a:r>
              <a:rPr lang="en-US" sz="1300" dirty="0">
                <a:solidFill>
                  <a:srgbClr val="8FA3B8"/>
                </a:solidFill>
                <a:latin typeface="JetBrains Mono" pitchFamily="49" charset="0"/>
                <a:ea typeface="JetBrains Mono" pitchFamily="49" charset="-122"/>
                <a:cs typeface="JetBrains Mono" pitchFamily="49" charset="-120"/>
              </a:rPr>
              <a:t>// the link is alive</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Qua UDP và SPP, mỗi gói kết thúc bằng một byte checksum: 8 bit thấp của tổng.</a:t>
            </a:r>
            <a:endParaRPr lang="en-US" sz="1450" dirty="0"/>
          </a:p>
        </p:txBody>
      </p:sp>
      <p:sp>
        <p:nvSpPr>
          <p:cNvPr id="6" name="Text 4"/>
          <p:cNvSpPr/>
          <p:nvPr/>
        </p:nvSpPr>
        <p:spPr>
          <a:xfrm>
            <a:off x="7254230" y="2417961"/>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Checksum sai → gói bị bỏ im lặng.</a:t>
            </a:r>
            <a:endParaRPr lang="en-US" sz="1450" dirty="0"/>
          </a:p>
        </p:txBody>
      </p:sp>
      <p:sp>
        <p:nvSpPr>
          <p:cNvPr id="7" name="Text 5"/>
          <p:cNvSpPr/>
          <p:nvPr/>
        </p:nvSpPr>
        <p:spPr>
          <a:xfrm>
            <a:off x="7254230" y="280273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Gói tốt cũng cập nhật </a:t>
            </a:r>
            <a:r>
              <a:rPr lang="en-US" sz="1450" b="1" dirty="0">
                <a:solidFill>
                  <a:srgbClr val="13202E"/>
                </a:solidFill>
                <a:latin typeface="IBM Plex Sans" pitchFamily="34" charset="0"/>
                <a:ea typeface="IBM Plex Sans" pitchFamily="34" charset="-122"/>
                <a:cs typeface="IBM Plex Sans" pitchFamily="34" charset="-120"/>
              </a:rPr>
              <a:t>crtp_last_rx_ms</a:t>
            </a:r>
            <a:r>
              <a:rPr lang="en-US" sz="1450" dirty="0">
                <a:solidFill>
                  <a:srgbClr val="13202E"/>
                </a:solidFill>
                <a:latin typeface="IBM Plex Sans" pitchFamily="34" charset="0"/>
                <a:ea typeface="IBM Plex Sans" pitchFamily="34" charset="-122"/>
                <a:cs typeface="IBM Plex Sans" pitchFamily="34" charset="-120"/>
              </a:rPr>
              <a:t>, được failsafe dùng.</a:t>
            </a:r>
            <a:endParaRPr lang="en-US" sz="1450" dirty="0"/>
          </a:p>
        </p:txBody>
      </p:sp>
      <p:sp>
        <p:nvSpPr>
          <p:cNvPr id="8" name="Shape 6"/>
          <p:cNvSpPr/>
          <p:nvPr/>
        </p:nvSpPr>
        <p:spPr>
          <a:xfrm>
            <a:off x="812800" y="4664670"/>
            <a:ext cx="10566400" cy="1018480"/>
          </a:xfrm>
          <a:prstGeom prst="roundRect">
            <a:avLst>
              <a:gd name="adj" fmla="val 9976"/>
            </a:avLst>
          </a:prstGeom>
          <a:solidFill>
            <a:srgbClr val="13202E"/>
          </a:solidFill>
          <a:ln/>
        </p:spPr>
      </p:sp>
      <p:sp>
        <p:nvSpPr>
          <p:cNvPr id="9" name="Text 7"/>
          <p:cNvSpPr/>
          <p:nvPr/>
        </p:nvSpPr>
        <p:spPr>
          <a:xfrm>
            <a:off x="1117600" y="4893270"/>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117600" y="5170091"/>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Gói 0x70 0x02 → tổng 0x72 → byte checksum 0x72. Trên đường truyền: 70 02 72.</a:t>
            </a:r>
            <a:endParaRPr lang="en-US" sz="16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103 · Nguồn: crtpChecksum(), crtpReceiveFramed()</a:t>
            </a:r>
            <a:endParaRPr lang="en-US" sz="1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Ba cách mang CRTP</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1544042"/>
        </p:xfrm>
        <a:graphic>
          <a:graphicData uri="http://schemas.openxmlformats.org/drawingml/2006/table">
            <a:tbl>
              <a:tblPr/>
              <a:tblGrid>
                <a:gridCol w="2110740"/>
                <a:gridCol w="5487924"/>
                <a:gridCol w="2955036"/>
              </a:tblGrid>
              <a:tr h="386011">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Đường truyền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Chi tiết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Đóng khung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Wi-Fi UDP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drone 192.168.43.42, nghe cổng 2390, trả lời về 2399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CRTP + checksum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Bluetooth SPP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nối tiếp qua Bluetooth Classic (Android)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CRTP + checksum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Bluetooth 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ghi và thông báo GATT (iPhone)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đoạn 19 byte, không checksum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104 · Nguồn: phần TRANSPORT</a:t>
            </a:r>
            <a:endParaRPr lang="en-US" sz="12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Gói commander (port 3)</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396133"/>
        </p:xfrm>
        <a:graphic>
          <a:graphicData uri="http://schemas.openxmlformats.org/drawingml/2006/table">
            <a:tbl>
              <a:tblPr/>
              <a:tblGrid>
                <a:gridCol w="1688592"/>
                <a:gridCol w="1899666"/>
                <a:gridCol w="1899666"/>
                <a:gridCol w="5065776"/>
              </a:tblGrid>
              <a:tr h="399355">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Byte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Trường</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Kiểu</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Ý nghĩa</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đầu gói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0x30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port 3, kênh 0</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 – 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roll</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float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góc nghiêng, độ</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5 – 8</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pitch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float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góc nghiêng, độ</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9 – 12</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yaw</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float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tốc độ yaw, °/s</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13 – 14</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thrust</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uint16</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0 – 65535</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43825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Kiểm tra hợp lệ: NaN hoặc vô cực → bỏ qua; |roll| hoặc |pitch| quá 180, hay |yaw| quá 2000 → bỏ qua.</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105 · Nguồn: crtpHandleCommander()</a:t>
            </a:r>
            <a:endParaRPr lang="en-US" sz="12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port CRTP được dùng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702074"/>
        </p:xfrm>
        <a:graphic>
          <a:graphicData uri="http://schemas.openxmlformats.org/drawingml/2006/table">
            <a:tbl>
              <a:tblPr/>
              <a:tblGrid>
                <a:gridCol w="1266444"/>
                <a:gridCol w="1899666"/>
                <a:gridCol w="1688592"/>
                <a:gridCol w="5698998"/>
              </a:tblGrid>
              <a:tr h="386011">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Tên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Xử lý?</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Dùng cho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console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chỉ gửi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tin nhắn chữ tới ứng dụng (pin yếu, từ chối arm)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params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đọc và ghi giá trị chỉnh được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commander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gói cần điều khiển ở MANUAL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logging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truyền telemetry, tối đa 3 khối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generic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có</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kênh 0 điều khiển bay, kênh 1 dẫn đường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6011">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4, 15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memory, link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bỏ qua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bo mạch này không cần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106 · Nguồn: #define CRTP_PORT_*, crtpDispatch()</a:t>
            </a:r>
            <a:endParaRPr lang="en-US" sz="1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8352"/>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ĐẦU VÀO</a:t>
            </a:r>
            <a:endParaRPr lang="en-US" sz="1159" dirty="0"/>
          </a:p>
        </p:txBody>
      </p:sp>
      <p:sp>
        <p:nvSpPr>
          <p:cNvPr id="3" name="Text 1"/>
          <p:cNvSpPr/>
          <p:nvPr>
            <p:ph type="title"/>
          </p:nvPr>
        </p:nvSpPr>
        <p:spPr>
          <a:xfrm>
            <a:off x="812800" y="1091952"/>
            <a:ext cx="10883392" cy="424160"/>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Tham số: TOC và kiểm tra dải</a:t>
            </a:r>
            <a:endParaRPr lang="en-US" sz="2878" dirty="0"/>
          </a:p>
        </p:txBody>
      </p:sp>
      <p:sp>
        <p:nvSpPr>
          <p:cNvPr id="4" name="Text 2"/>
          <p:cNvSpPr/>
          <p:nvPr/>
        </p:nvSpPr>
        <p:spPr>
          <a:xfrm>
            <a:off x="812800" y="1744712"/>
            <a:ext cx="6187430" cy="2978150"/>
          </a:xfrm>
          <a:prstGeom prst="roundRect">
            <a:avLst>
              <a:gd name="adj" fmla="val 341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"pid", "roll_kp", PT_FLOAT, 4, TOC_ACCESS_RW,</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&amp;pid_p_gain_roll, 0.0f, 100.0f },</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"flight", "takeoff_ms", PT_UINT16, 2, TOC_ACCESS_RW,</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&amp;takeoff_ms, 100.0f, 20000.0f },</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on write:</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(!isfinite(v))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8FA3B8"/>
                </a:solidFill>
                <a:latin typeface="JetBrains Mono" pitchFamily="49" charset="0"/>
                <a:ea typeface="JetBrains Mono" pitchFamily="49" charset="-122"/>
                <a:cs typeface="JetBrains Mono" pitchFamily="49" charset="-120"/>
              </a:rPr>
              <a:t>// refused</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v = paramClampF(e, v);       </a:t>
            </a:r>
            <a:r>
              <a:rPr lang="en-US" sz="1500" dirty="0">
                <a:solidFill>
                  <a:srgbClr val="8FA3B8"/>
                </a:solidFill>
                <a:latin typeface="JetBrains Mono" pitchFamily="49" charset="0"/>
                <a:ea typeface="JetBrains Mono" pitchFamily="49" charset="-122"/>
                <a:cs typeface="JetBrains Mono" pitchFamily="49" charset="-120"/>
              </a:rPr>
              <a:t>// clamp into [lo, hi]</a:t>
            </a:r>
            <a:endParaRPr lang="en-US" sz="1500" dirty="0"/>
          </a:p>
        </p:txBody>
      </p:sp>
      <p:sp>
        <p:nvSpPr>
          <p:cNvPr id="5" name="Text 3"/>
          <p:cNvSpPr/>
          <p:nvPr/>
        </p:nvSpPr>
        <p:spPr>
          <a:xfrm>
            <a:off x="7254230" y="174471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TOC</a:t>
            </a:r>
            <a:r>
              <a:rPr lang="en-US" sz="1450" dirty="0">
                <a:solidFill>
                  <a:srgbClr val="13202E"/>
                </a:solidFill>
                <a:latin typeface="IBM Plex Sans" pitchFamily="34" charset="0"/>
                <a:ea typeface="IBM Plex Sans" pitchFamily="34" charset="-122"/>
                <a:cs typeface="IBM Plex Sans" pitchFamily="34" charset="-120"/>
              </a:rPr>
              <a:t> = mục lục: ứng dụng tải danh sách tên, kiểu và quyền truy cập.</a:t>
            </a:r>
            <a:endParaRPr lang="en-US" sz="1450" dirty="0"/>
          </a:p>
        </p:txBody>
      </p:sp>
      <p:sp>
        <p:nvSpPr>
          <p:cNvPr id="6" name="Text 4"/>
          <p:cNvSpPr/>
          <p:nvPr/>
        </p:nvSpPr>
        <p:spPr>
          <a:xfrm>
            <a:off x="7254230" y="2387253"/>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Mỗi mục đọc-ghi mang dải </a:t>
            </a:r>
            <a:r>
              <a:rPr lang="en-US" sz="1450" b="1" dirty="0">
                <a:solidFill>
                  <a:srgbClr val="13202E"/>
                </a:solidFill>
                <a:latin typeface="IBM Plex Sans" pitchFamily="34" charset="0"/>
                <a:ea typeface="IBM Plex Sans" pitchFamily="34" charset="-122"/>
                <a:cs typeface="IBM Plex Sans" pitchFamily="34" charset="-120"/>
              </a:rPr>
              <a:t>lo</a:t>
            </a:r>
            <a:r>
              <a:rPr lang="en-US" sz="1450" dirty="0">
                <a:solidFill>
                  <a:srgbClr val="13202E"/>
                </a:solidFill>
                <a:latin typeface="IBM Plex Sans" pitchFamily="34" charset="0"/>
                <a:ea typeface="IBM Plex Sans" pitchFamily="34" charset="-122"/>
                <a:cs typeface="IBM Plex Sans" pitchFamily="34" charset="-120"/>
              </a:rPr>
              <a:t> và </a:t>
            </a:r>
            <a:r>
              <a:rPr lang="en-US" sz="1450" b="1" dirty="0">
                <a:solidFill>
                  <a:srgbClr val="13202E"/>
                </a:solidFill>
                <a:latin typeface="IBM Plex Sans" pitchFamily="34" charset="0"/>
                <a:ea typeface="IBM Plex Sans" pitchFamily="34" charset="-122"/>
                <a:cs typeface="IBM Plex Sans" pitchFamily="34" charset="-120"/>
              </a:rPr>
              <a:t>hi</a:t>
            </a:r>
            <a:r>
              <a:rPr lang="en-US" sz="1450" dirty="0">
                <a:solidFill>
                  <a:srgbClr val="13202E"/>
                </a:solidFill>
                <a:latin typeface="IBM Plex Sans" pitchFamily="34" charset="0"/>
                <a:ea typeface="IBM Plex Sans" pitchFamily="34" charset="-122"/>
                <a:cs typeface="IBM Plex Sans" pitchFamily="34" charset="-120"/>
              </a:rPr>
              <a:t>.</a:t>
            </a:r>
            <a:endParaRPr lang="en-US" sz="1450" dirty="0"/>
          </a:p>
        </p:txBody>
      </p:sp>
      <p:sp>
        <p:nvSpPr>
          <p:cNvPr id="7" name="Text 5"/>
          <p:cNvSpPr/>
          <p:nvPr/>
        </p:nvSpPr>
        <p:spPr>
          <a:xfrm>
            <a:off x="7254230" y="2772023"/>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Phản hồi lặp lại giá trị thật đã lưu, nên ứng dụng hiện đúng sự thật.</a:t>
            </a:r>
            <a:endParaRPr lang="en-US" sz="1450" dirty="0"/>
          </a:p>
        </p:txBody>
      </p:sp>
      <p:sp>
        <p:nvSpPr>
          <p:cNvPr id="8" name="Shape 6"/>
          <p:cNvSpPr/>
          <p:nvPr/>
        </p:nvSpPr>
        <p:spPr>
          <a:xfrm>
            <a:off x="812800" y="4847828"/>
            <a:ext cx="10566400" cy="994172"/>
          </a:xfrm>
          <a:prstGeom prst="roundRect">
            <a:avLst>
              <a:gd name="adj" fmla="val 10220"/>
            </a:avLst>
          </a:prstGeom>
          <a:solidFill>
            <a:srgbClr val="13202E"/>
          </a:solidFill>
          <a:ln/>
        </p:spPr>
      </p:sp>
      <p:sp>
        <p:nvSpPr>
          <p:cNvPr id="9" name="Text 7"/>
          <p:cNvSpPr/>
          <p:nvPr/>
        </p:nvSpPr>
        <p:spPr>
          <a:xfrm>
            <a:off x="1117600" y="5076428"/>
            <a:ext cx="10255504" cy="228302"/>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F29E5C"/>
                </a:solidFill>
                <a:latin typeface="IBM Plex Sans" pitchFamily="34" charset="0"/>
                <a:ea typeface="IBM Plex Sans" pitchFamily="34" charset="-122"/>
                <a:cs typeface="IBM Plex Sans" pitchFamily="34" charset="-120"/>
              </a:rPr>
              <a:t>VÍ DỤ</a:t>
            </a:r>
            <a:endParaRPr lang="en-US" sz="1159" dirty="0"/>
          </a:p>
        </p:txBody>
      </p:sp>
      <p:sp>
        <p:nvSpPr>
          <p:cNvPr id="10" name="Text 8"/>
          <p:cNvSpPr/>
          <p:nvPr/>
        </p:nvSpPr>
        <p:spPr>
          <a:xfrm>
            <a:off x="1117600" y="5342830"/>
            <a:ext cx="10255504" cy="29597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F6F5F0"/>
                </a:solidFill>
                <a:latin typeface="IBM Plex Sans" pitchFamily="34" charset="0"/>
                <a:ea typeface="IBM Plex Sans" pitchFamily="34" charset="-122"/>
                <a:cs typeface="IBM Plex Sans" pitchFamily="34" charset="-120"/>
              </a:rPr>
              <a:t>Ứng dụng ghi roll_kp = 1000 → lưu thành 100 (giới hạn hi) → phản hồi báo ứng dụng 100.</a:t>
            </a:r>
            <a:endParaRPr lang="en-US" sz="155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107 · Nguồn: PARAM_TOC, paramStore()</a:t>
            </a:r>
            <a:endParaRPr lang="en-US"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Log: truyền dữ liệu về điện thoại</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Ứng dụng chọn biến từ TOC log và đặt chu kỳ. Sau đó drone tự gửi.</a:t>
            </a:r>
            <a:endParaRPr lang="en-US" sz="1700" dirty="0"/>
          </a:p>
        </p:txBody>
      </p:sp>
      <p:sp>
        <p:nvSpPr>
          <p:cNvPr id="5" name="Shape 3"/>
          <p:cNvSpPr/>
          <p:nvPr/>
        </p:nvSpPr>
        <p:spPr>
          <a:xfrm>
            <a:off x="819150" y="2337991"/>
            <a:ext cx="3390900" cy="1567061"/>
          </a:xfrm>
          <a:prstGeom prst="roundRect">
            <a:avLst>
              <a:gd name="adj" fmla="val 6078"/>
            </a:avLst>
          </a:prstGeom>
          <a:solidFill>
            <a:srgbClr val="FDFCF8"/>
          </a:solidFill>
          <a:ln w="12700">
            <a:solidFill>
              <a:srgbClr val="E2DFD6"/>
            </a:solidFill>
            <a:prstDash val="solid"/>
          </a:ln>
        </p:spPr>
      </p:sp>
      <p:sp>
        <p:nvSpPr>
          <p:cNvPr id="6" name="Text 4"/>
          <p:cNvSpPr/>
          <p:nvPr/>
        </p:nvSpPr>
        <p:spPr>
          <a:xfrm>
            <a:off x="10795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Tối đa 3 khối</a:t>
            </a:r>
            <a:endParaRPr lang="en-US" sz="1800" dirty="0"/>
          </a:p>
        </p:txBody>
      </p:sp>
      <p:sp>
        <p:nvSpPr>
          <p:cNvPr id="7" name="Text 5"/>
          <p:cNvSpPr/>
          <p:nvPr/>
        </p:nvSpPr>
        <p:spPr>
          <a:xfrm>
            <a:off x="10795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Mỗi khối tới 12 biến và chu kỳ riêng (bước 10 ms).</a:t>
            </a:r>
            <a:endParaRPr lang="en-US" sz="1400" dirty="0"/>
          </a:p>
        </p:txBody>
      </p:sp>
      <p:sp>
        <p:nvSpPr>
          <p:cNvPr id="8" name="Shape 6"/>
          <p:cNvSpPr/>
          <p:nvPr/>
        </p:nvSpPr>
        <p:spPr>
          <a:xfrm>
            <a:off x="4400550" y="2337991"/>
            <a:ext cx="3390900" cy="1567061"/>
          </a:xfrm>
          <a:prstGeom prst="roundRect">
            <a:avLst>
              <a:gd name="adj" fmla="val 6078"/>
            </a:avLst>
          </a:prstGeom>
          <a:solidFill>
            <a:srgbClr val="FDFCF8"/>
          </a:solidFill>
          <a:ln w="12700">
            <a:solidFill>
              <a:srgbClr val="E2DFD6"/>
            </a:solidFill>
            <a:prstDash val="solid"/>
          </a:ln>
        </p:spPr>
      </p:sp>
      <p:sp>
        <p:nvSpPr>
          <p:cNvPr id="9" name="Text 7"/>
          <p:cNvSpPr/>
          <p:nvPr/>
        </p:nvSpPr>
        <p:spPr>
          <a:xfrm>
            <a:off x="46609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Các nhóm</a:t>
            </a:r>
            <a:endParaRPr lang="en-US" sz="1800" dirty="0"/>
          </a:p>
        </p:txBody>
      </p:sp>
      <p:sp>
        <p:nvSpPr>
          <p:cNvPr id="10" name="Text 8"/>
          <p:cNvSpPr/>
          <p:nvPr/>
        </p:nvSpPr>
        <p:spPr>
          <a:xfrm>
            <a:off x="4660900" y="2923431"/>
            <a:ext cx="295630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pm.vbat, stabilizer, controller, motor, flight, nav, pid (P/I/D mỗi trục).</a:t>
            </a:r>
            <a:endParaRPr lang="en-US" sz="1400" dirty="0"/>
          </a:p>
        </p:txBody>
      </p:sp>
      <p:sp>
        <p:nvSpPr>
          <p:cNvPr id="11" name="Shape 9"/>
          <p:cNvSpPr/>
          <p:nvPr/>
        </p:nvSpPr>
        <p:spPr>
          <a:xfrm>
            <a:off x="7981950" y="2337991"/>
            <a:ext cx="3390900" cy="1567061"/>
          </a:xfrm>
          <a:prstGeom prst="roundRect">
            <a:avLst>
              <a:gd name="adj" fmla="val 6078"/>
            </a:avLst>
          </a:prstGeom>
          <a:solidFill>
            <a:srgbClr val="FDFCF8"/>
          </a:solidFill>
          <a:ln w="12700">
            <a:solidFill>
              <a:srgbClr val="E2DFD6"/>
            </a:solidFill>
            <a:prstDash val="solid"/>
          </a:ln>
        </p:spPr>
      </p:sp>
      <p:sp>
        <p:nvSpPr>
          <p:cNvPr id="12" name="Text 10"/>
          <p:cNvSpPr/>
          <p:nvPr/>
        </p:nvSpPr>
        <p:spPr>
          <a:xfrm>
            <a:off x="8242300" y="2572941"/>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Gói</a:t>
            </a:r>
            <a:endParaRPr lang="en-US" sz="1800" dirty="0"/>
          </a:p>
        </p:txBody>
      </p:sp>
      <p:sp>
        <p:nvSpPr>
          <p:cNvPr id="13" name="Text 11"/>
          <p:cNvSpPr/>
          <p:nvPr/>
        </p:nvSpPr>
        <p:spPr>
          <a:xfrm>
            <a:off x="8242300" y="292343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id khối, mốc thời gian 24 bit, rồi giá trị lấy thẳng từ biến đang chạy.</a:t>
            </a:r>
            <a:endParaRPr lang="en-US" sz="1400" dirty="0"/>
          </a:p>
        </p:txBody>
      </p:sp>
      <p:sp>
        <p:nvSpPr>
          <p:cNvPr id="14" name="Shape 12"/>
          <p:cNvSpPr/>
          <p:nvPr/>
        </p:nvSpPr>
        <p:spPr>
          <a:xfrm>
            <a:off x="812800" y="4165402"/>
            <a:ext cx="10566400" cy="1018480"/>
          </a:xfrm>
          <a:prstGeom prst="roundRect">
            <a:avLst>
              <a:gd name="adj" fmla="val 9976"/>
            </a:avLst>
          </a:prstGeom>
          <a:solidFill>
            <a:srgbClr val="13202E"/>
          </a:solidFill>
          <a:ln/>
        </p:spPr>
      </p:sp>
      <p:sp>
        <p:nvSpPr>
          <p:cNvPr id="15" name="Text 13"/>
          <p:cNvSpPr/>
          <p:nvPr/>
        </p:nvSpPr>
        <p:spPr>
          <a:xfrm>
            <a:off x="1117600" y="439400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67082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Khối 1, chu kỳ 25 (× 10 ms = 250 ms): pm.vbat, flight.mode, flight.armed → 4 gói mỗi giây.</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108 · Nguồn: LOG_TOC, logSendData(), logUpdate()</a:t>
            </a:r>
            <a:endParaRPr lang="en-US"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ĐẦU VÀO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Port 7: các lệnh điều khiển bay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874566"/>
        </p:xfrm>
        <a:graphic>
          <a:graphicData uri="http://schemas.openxmlformats.org/drawingml/2006/table">
            <a:tbl>
              <a:tblPr/>
              <a:tblGrid>
                <a:gridCol w="1688592"/>
                <a:gridCol w="2743962"/>
                <a:gridCol w="6121146"/>
              </a:tblGrid>
              <a:tr h="359321">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Mã</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Lệnh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20"/>
                        </a:lnSpc>
                        <a:buNone/>
                      </a:pPr>
                      <a:r>
                        <a:rPr lang="en-US" sz="1300" b="1" dirty="0">
                          <a:solidFill>
                            <a:srgbClr val="13202E"/>
                          </a:solidFill>
                          <a:latin typeface="IBM Plex Sans" pitchFamily="34" charset="0"/>
                          <a:ea typeface="IBM Plex Sans" pitchFamily="34" charset="-122"/>
                          <a:cs typeface="IBM Plex Sans" pitchFamily="34" charset="-120"/>
                        </a:rPr>
                        <a:t>Làm gì</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SET_MODE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MANUAL, HOLD, AUTO, FOLLOW, RTH (từ chối khi pin nguy hiểm)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0x02 / 0x03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TAKEOFF / LAND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bắt đầu dốc lên / dốc xuống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SET_HOVER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lực đẩy lơ lửng, kẹp trong 8000 – 55000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EMERGENCY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tắt động cơ ngay — luôn được thực hiện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0x07 / 0x08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ARM / DISARM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ARM chỉ từ trạng thái nghỉ; DISARM luôn được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0x09 – 0x0B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SAVE / DEFAULTS / LOAD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cài đặt trong flash; SAVE bị từ chối khi arm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9321">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0x10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LINK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3202E"/>
                          </a:solidFill>
                          <a:latin typeface="IBM Plex Sans" pitchFamily="34" charset="0"/>
                          <a:ea typeface="IBM Plex Sans" pitchFamily="34" charset="-122"/>
                          <a:cs typeface="IBM Plex Sans" pitchFamily="34" charset="-120"/>
                        </a:rPr>
                        <a:t>đổi cấu hình kết nối và khởi động lại; từ chối khi arm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Đầu vào · 109 · Nguồn: crtpHandleFlightControl()</a:t>
            </a:r>
            <a:endParaRPr 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ĐẦU VÀO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750"/>
          </a:xfrm>
          <a:prstGeom prst="line">
            <a:avLst/>
          </a:prstGeom>
          <a:noFill/>
          <a:ln w="38100">
            <a:solidFill>
              <a:srgbClr val="F29E5C"/>
            </a:solidFill>
            <a:prstDash val="solid"/>
          </a:ln>
        </p:spPr>
      </p:sp>
      <p:sp>
        <p:nvSpPr>
          <p:cNvPr id="5" name="Text 3"/>
          <p:cNvSpPr/>
          <p:nvPr/>
        </p:nvSpPr>
        <p:spPr>
          <a:xfrm>
            <a:off x="1028700" y="1750020"/>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phải kiểm tra cờ failsafe của SBUS?</a:t>
            </a:r>
            <a:endParaRPr lang="en-US" sz="1700" dirty="0"/>
          </a:p>
        </p:txBody>
      </p:sp>
      <p:sp>
        <p:nvSpPr>
          <p:cNvPr id="6" name="Text 4"/>
          <p:cNvSpPr/>
          <p:nvPr/>
        </p:nvSpPr>
        <p:spPr>
          <a:xfrm>
            <a:off x="1028700" y="20687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máy thu gửi gì sau khi mất tay phát?</a:t>
            </a:r>
            <a:endParaRPr lang="en-US" sz="1350" dirty="0"/>
          </a:p>
        </p:txBody>
      </p:sp>
      <p:sp>
        <p:nvSpPr>
          <p:cNvPr id="7" name="Shape 5"/>
          <p:cNvSpPr/>
          <p:nvPr/>
        </p:nvSpPr>
        <p:spPr>
          <a:xfrm>
            <a:off x="831850" y="2448471"/>
            <a:ext cx="0" cy="558750"/>
          </a:xfrm>
          <a:prstGeom prst="line">
            <a:avLst/>
          </a:prstGeom>
          <a:noFill/>
          <a:ln w="38100">
            <a:solidFill>
              <a:srgbClr val="F29E5C"/>
            </a:solidFill>
            <a:prstDash val="solid"/>
          </a:ln>
        </p:spPr>
      </p:sp>
      <p:sp>
        <p:nvSpPr>
          <p:cNvPr id="8" name="Text 6"/>
          <p:cNvSpPr/>
          <p:nvPr/>
        </p:nvSpPr>
        <p:spPr>
          <a:xfrm>
            <a:off x="1028700" y="24484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đầu gói CRTP đặt port ở các bit cao?</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crtpDispatch tìm handler thế nào?</a:t>
            </a:r>
            <a:endParaRPr lang="en-US" sz="1350" dirty="0"/>
          </a:p>
        </p:txBody>
      </p:sp>
      <p:sp>
        <p:nvSpPr>
          <p:cNvPr id="10" name="Shape 8"/>
          <p:cNvSpPr/>
          <p:nvPr/>
        </p:nvSpPr>
        <p:spPr>
          <a:xfrm>
            <a:off x="831850" y="3146921"/>
            <a:ext cx="0" cy="558750"/>
          </a:xfrm>
          <a:prstGeom prst="line">
            <a:avLst/>
          </a:prstGeom>
          <a:noFill/>
          <a:ln w="38100">
            <a:solidFill>
              <a:srgbClr val="F29E5C"/>
            </a:solidFill>
            <a:prstDash val="solid"/>
          </a:ln>
        </p:spPr>
      </p:sp>
      <p:sp>
        <p:nvSpPr>
          <p:cNvPr id="11" name="Text 9"/>
          <p:cNvSpPr/>
          <p:nvPr/>
        </p:nvSpPr>
        <p:spPr>
          <a:xfrm>
            <a:off x="1028700" y="314692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lặp lại giá trị đã lưu sau khi ghi tham số?</a:t>
            </a:r>
            <a:endParaRPr lang="en-US" sz="1700" dirty="0"/>
          </a:p>
        </p:txBody>
      </p:sp>
      <p:sp>
        <p:nvSpPr>
          <p:cNvPr id="12" name="Text 10"/>
          <p:cNvSpPr/>
          <p:nvPr/>
        </p:nvSpPr>
        <p:spPr>
          <a:xfrm>
            <a:off x="1028700" y="346566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nếu drone đã kẹp giá trị thì sao?</a:t>
            </a:r>
            <a:endParaRPr lang="en-US" sz="1350" dirty="0"/>
          </a:p>
        </p:txBody>
      </p:sp>
      <p:sp>
        <p:nvSpPr>
          <p:cNvPr id="13" name="Shape 11"/>
          <p:cNvSpPr/>
          <p:nvPr/>
        </p:nvSpPr>
        <p:spPr>
          <a:xfrm>
            <a:off x="831850" y="3845371"/>
            <a:ext cx="0" cy="558750"/>
          </a:xfrm>
          <a:prstGeom prst="line">
            <a:avLst/>
          </a:prstGeom>
          <a:noFill/>
          <a:ln w="38100">
            <a:solidFill>
              <a:srgbClr val="F29E5C"/>
            </a:solidFill>
            <a:prstDash val="solid"/>
          </a:ln>
        </p:spPr>
      </p:sp>
      <p:sp>
        <p:nvSpPr>
          <p:cNvPr id="14" name="Text 12"/>
          <p:cNvSpPr/>
          <p:nvPr/>
        </p:nvSpPr>
        <p:spPr>
          <a:xfrm>
            <a:off x="1028700" y="3845371"/>
            <a:ext cx="10661015" cy="30604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mọi lệnh port 7 phải idempotent?</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ứng dụng làm gì mỗi 500 ms?</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Đầu vào · 110</a:t>
            </a:r>
            <a:endParaRPr lang="en-US" sz="12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09</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Chế độ bay và an toàn</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Drone tự làm gì, và mọi lớp bảo vệ ngăn nó gây hại.</a:t>
            </a:r>
            <a:endParaRPr lang="en-US" sz="20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Năm chế độ bay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396133"/>
        </p:xfrm>
        <a:graphic>
          <a:graphicData uri="http://schemas.openxmlformats.org/drawingml/2006/table">
            <a:tbl>
              <a:tblPr/>
              <a:tblGrid>
                <a:gridCol w="1688592"/>
                <a:gridCol w="3166110"/>
                <a:gridCol w="5698998"/>
              </a:tblGrid>
              <a:tr h="399355">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Chế độ</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Ai lái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Drone giữ gì</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MANUAL</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phi công (cần điện thoại hoặc RC)</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không gì tự động — cần ra lệnh góc hoặc tốc độ</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HOLD</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thăng bằng, khóa hướng, một mức lực đẩy cố định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AUTO</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dốc cất cánh → lơ lửng → dốc hạ cánh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FOLLOW</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 + GPS điện thoại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nghiêng về vị trí mục tiêu điện thoại gửi</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99355">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RTH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nghiêng quay về điểm cất cánh</a:t>
                      </a:r>
                      <a:endParaRPr lang="en-US" sz="1450" dirty="0">
                        <a:latin typeface="IBM Plex Sans" charset="0"/>
                        <a:ea typeface="IBM Plex Sans" charset="0"/>
                        <a:cs typeface="IBM Plex Sans" charset="0"/>
                      </a:endParaRPr>
                    </a:p>
                  </a:txBody>
                  <a:tcPr marL="64452" marR="64452" marT="64452" marB="64452"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438253"/>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Các chế độ chỉ áp dụng cho đường điện thoại. SBUS luôn bay MANUAL.</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112 · Nguồn: chú thích phần FLIGHT MODES</a:t>
            </a:r>
            <a:endParaRPr lang="en-US" sz="1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AUTO là một máy trạng thái nhỏ</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AUTO là máy trạng thái nhỏ: mỗi trạng thái một quy tắc đơn giản.</a:t>
            </a:r>
            <a:endParaRPr lang="en-US" sz="1600" dirty="0"/>
          </a:p>
        </p:txBody>
      </p:sp>
      <p:sp>
        <p:nvSpPr>
          <p:cNvPr id="5" name="Text 3"/>
          <p:cNvSpPr/>
          <p:nvPr/>
        </p:nvSpPr>
        <p:spPr>
          <a:xfrm>
            <a:off x="812800" y="24637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TAKEOFF</a:t>
            </a:r>
            <a:r>
              <a:rPr lang="en-US" sz="1400" dirty="0">
                <a:solidFill>
                  <a:srgbClr val="13202E"/>
                </a:solidFill>
                <a:latin typeface="IBM Plex Sans" pitchFamily="34" charset="0"/>
                <a:ea typeface="IBM Plex Sans" pitchFamily="34" charset="-122"/>
                <a:cs typeface="IBM Plex Sans" pitchFamily="34" charset="-120"/>
              </a:rPr>
              <a:t> tự chuyển sang HOLD khi dốc xong.</a:t>
            </a:r>
            <a:endParaRPr lang="en-US" sz="1400" dirty="0"/>
          </a:p>
        </p:txBody>
      </p:sp>
      <p:sp>
        <p:nvSpPr>
          <p:cNvPr id="6" name="Text 4"/>
          <p:cNvSpPr/>
          <p:nvPr/>
        </p:nvSpPr>
        <p:spPr>
          <a:xfrm>
            <a:off x="812800" y="2852291"/>
            <a:ext cx="5359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HOLD</a:t>
            </a:r>
            <a:r>
              <a:rPr lang="en-US" sz="1400" dirty="0">
                <a:solidFill>
                  <a:srgbClr val="13202E"/>
                </a:solidFill>
                <a:latin typeface="IBM Plex Sans" pitchFamily="34" charset="0"/>
                <a:ea typeface="IBM Plex Sans" pitchFamily="34" charset="-122"/>
                <a:cs typeface="IBM Plex Sans" pitchFamily="34" charset="-120"/>
              </a:rPr>
              <a:t> kéo dài tới khi chạm LAND hoặc pin vào mức nguy hiểm.</a:t>
            </a:r>
            <a:endParaRPr lang="en-US" sz="1400" dirty="0"/>
          </a:p>
        </p:txBody>
      </p:sp>
      <p:sp>
        <p:nvSpPr>
          <p:cNvPr id="7" name="Text 5"/>
          <p:cNvSpPr/>
          <p:nvPr/>
        </p:nvSpPr>
        <p:spPr>
          <a:xfrm>
            <a:off x="812800" y="324088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LAND</a:t>
            </a:r>
            <a:r>
              <a:rPr lang="en-US" sz="1400" dirty="0">
                <a:solidFill>
                  <a:srgbClr val="13202E"/>
                </a:solidFill>
                <a:latin typeface="IBM Plex Sans" pitchFamily="34" charset="0"/>
                <a:ea typeface="IBM Plex Sans" pitchFamily="34" charset="-122"/>
                <a:cs typeface="IBM Plex Sans" pitchFamily="34" charset="-120"/>
              </a:rPr>
              <a:t> kết thúc bằng disarm và về MANUAL.</a:t>
            </a:r>
            <a:endParaRPr lang="en-US" sz="1400" dirty="0"/>
          </a:p>
        </p:txBody>
      </p:sp>
      <p:sp>
        <p:nvSpPr>
          <p:cNvPr id="8" name="Shape 6"/>
          <p:cNvSpPr/>
          <p:nvPr/>
        </p:nvSpPr>
        <p:spPr>
          <a:xfrm>
            <a:off x="812800" y="3629471"/>
            <a:ext cx="5054600" cy="1031180"/>
          </a:xfrm>
          <a:prstGeom prst="roundRect">
            <a:avLst>
              <a:gd name="adj" fmla="val 9853"/>
            </a:avLst>
          </a:prstGeom>
          <a:solidFill>
            <a:srgbClr val="13202E"/>
          </a:solidFill>
          <a:ln/>
        </p:spPr>
      </p:sp>
      <p:sp>
        <p:nvSpPr>
          <p:cNvPr id="9" name="Text 7"/>
          <p:cNvSpPr/>
          <p:nvPr/>
        </p:nvSpPr>
        <p:spPr>
          <a:xfrm>
            <a:off x="1016000" y="37818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459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Chạm Cất cánh → lên 2 s → lơ lửng → chạm Hạ cánh → xuống 2,5 s → disarm.</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Vòng bốn trạng thái: IDLE sang TAKEOFF khi có lệnh cất cánh, TAKEOFF sang HOLD khi dốc xong, HOLD sang LAND khi hạ cánh hoặc pin yếu, LAND về IDLE khi dốc xong">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435725" y="3245445"/>
            <a:ext cx="1123950" cy="460970"/>
          </a:xfrm>
          <a:prstGeom prst="roundRect">
            <a:avLst>
              <a:gd name="adj" fmla="val 14464"/>
            </a:avLst>
          </a:prstGeom>
          <a:solidFill>
            <a:srgbClr val="FDFCF8"/>
          </a:solidFill>
          <a:ln w="19050">
            <a:solidFill>
              <a:srgbClr val="13202E"/>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IDLE</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tắt động cơ</a:t>
            </a:r>
            <a:endParaRPr lang="en-US" sz="1200" dirty="0"/>
          </a:p>
        </p:txBody>
      </p:sp>
      <p:sp>
        <p:nvSpPr>
          <p:cNvPr id="14" name="Text 11"/>
          <p:cNvSpPr/>
          <p:nvPr/>
        </p:nvSpPr>
        <p:spPr>
          <a:xfrm>
            <a:off x="8213725" y="2038945"/>
            <a:ext cx="1123950" cy="460970"/>
          </a:xfrm>
          <a:prstGeom prst="roundRect">
            <a:avLst>
              <a:gd name="adj" fmla="val 1446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TAKEOFF</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dốc lên</a:t>
            </a:r>
            <a:endParaRPr lang="en-US" sz="1200" dirty="0"/>
          </a:p>
        </p:txBody>
      </p:sp>
      <p:sp>
        <p:nvSpPr>
          <p:cNvPr id="15" name="Text 12"/>
          <p:cNvSpPr/>
          <p:nvPr/>
        </p:nvSpPr>
        <p:spPr>
          <a:xfrm>
            <a:off x="9991725" y="3245445"/>
            <a:ext cx="1123950" cy="460970"/>
          </a:xfrm>
          <a:prstGeom prst="roundRect">
            <a:avLst>
              <a:gd name="adj" fmla="val 14464"/>
            </a:avLst>
          </a:prstGeom>
          <a:solidFill>
            <a:srgbClr val="EAF1F8"/>
          </a:solidFill>
          <a:ln w="19050">
            <a:solidFill>
              <a:srgbClr val="2F6FA3"/>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HOLD</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lơ lửng</a:t>
            </a:r>
            <a:endParaRPr lang="en-US" sz="1200" dirty="0"/>
          </a:p>
        </p:txBody>
      </p:sp>
      <p:sp>
        <p:nvSpPr>
          <p:cNvPr id="16" name="Text 13"/>
          <p:cNvSpPr/>
          <p:nvPr/>
        </p:nvSpPr>
        <p:spPr>
          <a:xfrm>
            <a:off x="8213725" y="4451945"/>
            <a:ext cx="1123950" cy="460970"/>
          </a:xfrm>
          <a:prstGeom prst="roundRect">
            <a:avLst>
              <a:gd name="adj" fmla="val 14464"/>
            </a:avLst>
          </a:prstGeom>
          <a:solidFill>
            <a:srgbClr val="FBEFE6"/>
          </a:solidFill>
          <a:ln w="19050">
            <a:solidFill>
              <a:srgbClr val="B5501A"/>
            </a:solidFill>
            <a:prstDash val="solid"/>
          </a:ln>
        </p:spPr>
        <p:txBody>
          <a:bodyPr wrap="square" lIns="28097" tIns="28097" rIns="28097" bIns="2697" rtlCol="0" anchor="t">
            <a:normAutofit/>
          </a:bodyPr>
          <a:lstStyle/>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LAND</a:t>
            </a:r>
            <a:endParaRPr lang="en-US" sz="1200" dirty="0"/>
          </a:p>
          <a:p>
            <a:pPr algn="ctr" indent="0" marL="0">
              <a:lnSpc>
                <a:spcPts val="1440"/>
              </a:lnSpc>
              <a:buNone/>
            </a:pPr>
            <a:r>
              <a:rPr lang="en-US" sz="1200" b="1" dirty="0">
                <a:solidFill>
                  <a:srgbClr val="13202E"/>
                </a:solidFill>
                <a:latin typeface="IBM Plex Sans" pitchFamily="34" charset="0"/>
                <a:ea typeface="IBM Plex Sans" pitchFamily="34" charset="-122"/>
                <a:cs typeface="IBM Plex Sans" pitchFamily="34" charset="-120"/>
              </a:rPr>
              <a:t>dốc xuống</a:t>
            </a:r>
            <a:endParaRPr lang="en-US" sz="1200" dirty="0"/>
          </a:p>
        </p:txBody>
      </p:sp>
      <p:sp>
        <p:nvSpPr>
          <p:cNvPr id="17" name="Text 14"/>
          <p:cNvSpPr/>
          <p:nvPr/>
        </p:nvSpPr>
        <p:spPr>
          <a:xfrm>
            <a:off x="7645400" y="2727920"/>
            <a:ext cx="1257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lệnh</a:t>
            </a:r>
            <a:endParaRPr lang="en-US" sz="1200" dirty="0"/>
          </a:p>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TAKEOFF</a:t>
            </a:r>
            <a:endParaRPr lang="en-US" sz="1200" dirty="0"/>
          </a:p>
        </p:txBody>
      </p:sp>
      <p:sp>
        <p:nvSpPr>
          <p:cNvPr id="18" name="Text 15"/>
          <p:cNvSpPr/>
          <p:nvPr/>
        </p:nvSpPr>
        <p:spPr>
          <a:xfrm>
            <a:off x="8686800" y="2727920"/>
            <a:ext cx="12573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dốc xong</a:t>
            </a:r>
            <a:endParaRPr lang="en-US" sz="1200" dirty="0"/>
          </a:p>
        </p:txBody>
      </p:sp>
      <p:sp>
        <p:nvSpPr>
          <p:cNvPr id="19" name="Text 16"/>
          <p:cNvSpPr/>
          <p:nvPr/>
        </p:nvSpPr>
        <p:spPr>
          <a:xfrm>
            <a:off x="8686800" y="3870920"/>
            <a:ext cx="1257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LAND hoặc</a:t>
            </a:r>
            <a:endParaRPr lang="en-US" sz="1200" dirty="0"/>
          </a:p>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pin yếu</a:t>
            </a:r>
            <a:endParaRPr lang="en-US" sz="1200" dirty="0"/>
          </a:p>
        </p:txBody>
      </p:sp>
      <p:sp>
        <p:nvSpPr>
          <p:cNvPr id="20" name="Text 17"/>
          <p:cNvSpPr/>
          <p:nvPr/>
        </p:nvSpPr>
        <p:spPr>
          <a:xfrm>
            <a:off x="7645400" y="3870920"/>
            <a:ext cx="125730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dốc xong →</a:t>
            </a:r>
            <a:endParaRPr lang="en-US" sz="1200" dirty="0"/>
          </a:p>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disarm</a:t>
            </a:r>
            <a:endParaRPr lang="en-US" sz="12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113 · Nguồn: khối switch AUTO trong flightSetpoints()</a:t>
            </a:r>
            <a:endParaRPr lang="en-US" sz="12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đường dốc cất và hạ cánh</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Cất cánh và hạ cánh là các đường dốc thẳng.</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a:t>
            </a:r>
            <a:r>
              <a:rPr lang="en-US" sz="1400" dirty="0">
                <a:solidFill>
                  <a:srgbClr val="13202E"/>
                </a:solidFill>
                <a:latin typeface="IBM Plex Sans" pitchFamily="34" charset="0"/>
                <a:ea typeface="IBM Plex Sans" pitchFamily="34" charset="-122"/>
                <a:cs typeface="IBM Plex Sans" pitchFamily="34" charset="-120"/>
              </a:rPr>
              <a:t> chạy từ 0 đến 1 trong mỗi pha, nên lực đẩy là đường thẳng.</a:t>
            </a:r>
            <a:endParaRPr lang="en-US" sz="1400" dirty="0"/>
          </a:p>
        </p:txBody>
      </p:sp>
      <p:sp>
        <p:nvSpPr>
          <p:cNvPr id="6" name="Text 4"/>
          <p:cNvSpPr/>
          <p:nvPr/>
        </p:nvSpPr>
        <p:spPr>
          <a:xfrm>
            <a:off x="812800" y="257800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Lực đẩy (0–65535) đổi sang 1000–2000: </a:t>
            </a:r>
            <a:r>
              <a:rPr lang="en-US" sz="1400" b="1" dirty="0">
                <a:solidFill>
                  <a:srgbClr val="13202E"/>
                </a:solidFill>
                <a:latin typeface="IBM Plex Sans" pitchFamily="34" charset="0"/>
                <a:ea typeface="IBM Plex Sans" pitchFamily="34" charset="-122"/>
                <a:cs typeface="IBM Plex Sans" pitchFamily="34" charset="-120"/>
              </a:rPr>
              <a:t>1000 + lực đẩy ÷ 65535 × 1000</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812800" y="321548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Hạ cánh hoàn toàn theo thời gian — không có cảm biến nào thấy mặt đất.</a:t>
            </a:r>
            <a:endParaRPr lang="en-US" sz="1400" dirty="0"/>
          </a:p>
        </p:txBody>
      </p:sp>
      <p:sp>
        <p:nvSpPr>
          <p:cNvPr id="8" name="Shape 6"/>
          <p:cNvSpPr/>
          <p:nvPr/>
        </p:nvSpPr>
        <p:spPr>
          <a:xfrm>
            <a:off x="812800" y="3852962"/>
            <a:ext cx="5054600" cy="1031180"/>
          </a:xfrm>
          <a:prstGeom prst="roundRect">
            <a:avLst>
              <a:gd name="adj" fmla="val 9853"/>
            </a:avLst>
          </a:prstGeom>
          <a:solidFill>
            <a:srgbClr val="13202E"/>
          </a:solidFill>
          <a:ln/>
        </p:spPr>
      </p:sp>
      <p:sp>
        <p:nvSpPr>
          <p:cNvPr id="9" name="Text 7"/>
          <p:cNvSpPr/>
          <p:nvPr/>
        </p:nvSpPr>
        <p:spPr>
          <a:xfrm>
            <a:off x="1016000" y="400536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26948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hover_thrust 30000, takeoff_ms 2000 → tại 1 s lực đẩy là 15000 → 1229 µs.</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Lực đẩy theo thời gian: dốc thẳng lên 30000 trong 2 giây, đoạn lơ lửng phẳng, rồi dốc thẳng xuống trong 2,5 giây">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lực đẩy (0–65535)</a:t>
            </a:r>
            <a:endParaRPr lang="en-US" sz="1200" dirty="0"/>
          </a:p>
        </p:txBody>
      </p:sp>
      <p:sp>
        <p:nvSpPr>
          <p:cNvPr id="15" name="Text 12"/>
          <p:cNvSpPr/>
          <p:nvPr/>
        </p:nvSpPr>
        <p:spPr>
          <a:xfrm>
            <a:off x="7321550" y="3661370"/>
            <a:ext cx="170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1 s: 15000 → </a:t>
            </a:r>
            <a:r>
              <a:rPr lang="en-US" sz="1200" b="1" dirty="0">
                <a:solidFill>
                  <a:srgbClr val="13202E"/>
                </a:solidFill>
                <a:latin typeface="IBM Plex Sans" pitchFamily="34" charset="0"/>
                <a:ea typeface="IBM Plex Sans" pitchFamily="34" charset="-122"/>
                <a:cs typeface="IBM Plex Sans" pitchFamily="34" charset="-120"/>
              </a:rPr>
              <a:t>1229 µs</a:t>
            </a:r>
            <a:endParaRPr lang="en-US" sz="1200" dirty="0"/>
          </a:p>
        </p:txBody>
      </p:sp>
      <p:sp>
        <p:nvSpPr>
          <p:cNvPr id="16" name="Text 13"/>
          <p:cNvSpPr/>
          <p:nvPr/>
        </p:nvSpPr>
        <p:spPr>
          <a:xfrm>
            <a:off x="6794500" y="2359620"/>
            <a:ext cx="1130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cất cánh 2 s</a:t>
            </a:r>
            <a:endParaRPr lang="en-US" sz="1200" dirty="0"/>
          </a:p>
        </p:txBody>
      </p:sp>
      <p:sp>
        <p:nvSpPr>
          <p:cNvPr id="17" name="Text 14"/>
          <p:cNvSpPr/>
          <p:nvPr/>
        </p:nvSpPr>
        <p:spPr>
          <a:xfrm>
            <a:off x="8299450" y="22072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lơ lửng</a:t>
            </a:r>
            <a:endParaRPr lang="en-US" sz="1200" dirty="0"/>
          </a:p>
        </p:txBody>
      </p:sp>
      <p:sp>
        <p:nvSpPr>
          <p:cNvPr id="18" name="Text 15"/>
          <p:cNvSpPr/>
          <p:nvPr/>
        </p:nvSpPr>
        <p:spPr>
          <a:xfrm>
            <a:off x="9861550" y="23596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hạ cánh 2,5 s</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114 · Nguồn: flightSetpoints()</a:t>
            </a:r>
            <a:endParaRPr lang="en-US" sz="12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Giữ hướng trong HOLD và AUTO</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Giữ hướng: luôn xoay theo đường ngắn.</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Sai số hướng → tốc độ yaw: </a:t>
            </a:r>
            <a:r>
              <a:rPr lang="en-US" sz="1400" b="1" dirty="0">
                <a:solidFill>
                  <a:srgbClr val="13202E"/>
                </a:solidFill>
                <a:latin typeface="IBM Plex Sans" pitchFamily="34" charset="0"/>
                <a:ea typeface="IBM Plex Sans" pitchFamily="34" charset="-122"/>
                <a:cs typeface="IBM Plex Sans" pitchFamily="34" charset="-120"/>
              </a:rPr>
              <a:t>2 °/s mỗi độ</a:t>
            </a:r>
            <a:r>
              <a:rPr lang="en-US" sz="1400" dirty="0">
                <a:solidFill>
                  <a:srgbClr val="13202E"/>
                </a:solidFill>
                <a:latin typeface="IBM Plex Sans" pitchFamily="34" charset="0"/>
                <a:ea typeface="IBM Plex Sans" pitchFamily="34" charset="-122"/>
                <a:cs typeface="IBM Plex Sans" pitchFamily="34" charset="-120"/>
              </a:rPr>
              <a:t>, giới hạn 200 °/s.</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Phép quấn</a:t>
            </a:r>
            <a:r>
              <a:rPr lang="en-US" sz="1400" dirty="0">
                <a:solidFill>
                  <a:srgbClr val="13202E"/>
                </a:solidFill>
                <a:latin typeface="IBM Plex Sans" pitchFamily="34" charset="0"/>
                <a:ea typeface="IBM Plex Sans" pitchFamily="34" charset="-122"/>
                <a:cs typeface="IBM Plex Sans" pitchFamily="34" charset="-120"/>
              </a:rPr>
              <a:t> (±360 khi vượt ±180) chọn đường ngắn.</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Hướng cần giữ được ghi lại khi vào HOLD hoặc lúc cất cánh.</a:t>
            </a:r>
            <a:endParaRPr lang="en-US" sz="1400" dirty="0"/>
          </a:p>
        </p:txBody>
      </p:sp>
      <p:sp>
        <p:nvSpPr>
          <p:cNvPr id="8" name="Shape 6"/>
          <p:cNvSpPr/>
          <p:nvPr/>
        </p:nvSpPr>
        <p:spPr>
          <a:xfrm>
            <a:off x="812800" y="3355181"/>
            <a:ext cx="5054600" cy="1031180"/>
          </a:xfrm>
          <a:prstGeom prst="roundRect">
            <a:avLst>
              <a:gd name="adj" fmla="val 9853"/>
            </a:avLst>
          </a:prstGeom>
          <a:solidFill>
            <a:srgbClr val="13202E"/>
          </a:solidFill>
          <a:ln/>
        </p:spPr>
      </p:sp>
      <p:sp>
        <p:nvSpPr>
          <p:cNvPr id="9" name="Text 7"/>
          <p:cNvSpPr/>
          <p:nvPr/>
        </p:nvSpPr>
        <p:spPr>
          <a:xfrm>
            <a:off x="1016000" y="350758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377170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Giữ 10°, hướng 350° → herr = −340 → +360 = +20 → tốc độ yaw 40 °/s.</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Vòng la bàn: drone ở 350 độ, hướng cần giữ 10 độ; cung cam ngắn 20 độ và cung xám dài 340 độ">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946900" y="2004020"/>
            <a:ext cx="1447800" cy="231775"/>
          </a:xfrm>
          <a:prstGeom prst="rect">
            <a:avLst/>
          </a:prstGeom>
          <a:noFill/>
          <a:ln/>
        </p:spPr>
        <p:txBody>
          <a:bodyPr wrap="square" lIns="0" tIns="0" rIns="0" bIns="0" rtlCol="0" anchor="t">
            <a:normAutofit/>
          </a:bodyPr>
          <a:lstStyle/>
          <a:p>
            <a:pPr algn="r" indent="0" marL="0">
              <a:lnSpc>
                <a:spcPts val="1625"/>
              </a:lnSpc>
              <a:buNone/>
            </a:pPr>
            <a:r>
              <a:rPr lang="en-US" sz="1300" dirty="0">
                <a:solidFill>
                  <a:srgbClr val="13202E"/>
                </a:solidFill>
                <a:latin typeface="IBM Plex Sans" pitchFamily="34" charset="0"/>
                <a:ea typeface="IBM Plex Sans" pitchFamily="34" charset="-122"/>
                <a:cs typeface="IBM Plex Sans" pitchFamily="34" charset="-120"/>
              </a:rPr>
              <a:t>hiện tại </a:t>
            </a:r>
            <a:r>
              <a:rPr lang="en-US" sz="1300" b="1" dirty="0">
                <a:solidFill>
                  <a:srgbClr val="13202E"/>
                </a:solidFill>
                <a:latin typeface="IBM Plex Sans" pitchFamily="34" charset="0"/>
                <a:ea typeface="IBM Plex Sans" pitchFamily="34" charset="-122"/>
                <a:cs typeface="IBM Plex Sans" pitchFamily="34" charset="-120"/>
              </a:rPr>
              <a:t>350°</a:t>
            </a:r>
            <a:endParaRPr lang="en-US" sz="1300" dirty="0"/>
          </a:p>
        </p:txBody>
      </p:sp>
      <p:sp>
        <p:nvSpPr>
          <p:cNvPr id="14" name="Text 11"/>
          <p:cNvSpPr/>
          <p:nvPr/>
        </p:nvSpPr>
        <p:spPr>
          <a:xfrm>
            <a:off x="9156700" y="2004020"/>
            <a:ext cx="1447800"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B5501A"/>
                </a:solidFill>
                <a:latin typeface="IBM Plex Sans" pitchFamily="34" charset="0"/>
                <a:ea typeface="IBM Plex Sans" pitchFamily="34" charset="-122"/>
                <a:cs typeface="IBM Plex Sans" pitchFamily="34" charset="-120"/>
              </a:rPr>
              <a:t>giữ </a:t>
            </a:r>
            <a:r>
              <a:rPr lang="en-US" sz="1300" b="1" dirty="0">
                <a:solidFill>
                  <a:srgbClr val="B5501A"/>
                </a:solidFill>
                <a:latin typeface="IBM Plex Sans" pitchFamily="34" charset="0"/>
                <a:ea typeface="IBM Plex Sans" pitchFamily="34" charset="-122"/>
                <a:cs typeface="IBM Plex Sans" pitchFamily="34" charset="-120"/>
              </a:rPr>
              <a:t>10°</a:t>
            </a:r>
            <a:endParaRPr lang="en-US" sz="1300" dirty="0"/>
          </a:p>
        </p:txBody>
      </p:sp>
      <p:sp>
        <p:nvSpPr>
          <p:cNvPr id="15" name="Text 12"/>
          <p:cNvSpPr/>
          <p:nvPr/>
        </p:nvSpPr>
        <p:spPr>
          <a:xfrm>
            <a:off x="7794625" y="3172420"/>
            <a:ext cx="1962150" cy="438150"/>
          </a:xfrm>
          <a:prstGeom prst="rect">
            <a:avLst/>
          </a:prstGeom>
          <a:noFill/>
          <a:ln/>
        </p:spPr>
        <p:txBody>
          <a:bodyPr wrap="square" lIns="0" tIns="0" rIns="0" bIns="0" rtlCol="0" anchor="t">
            <a:normAutofit/>
          </a:bodyPr>
          <a:lstStyle/>
          <a:p>
            <a:pPr algn="ctr" indent="0" marL="0">
              <a:lnSpc>
                <a:spcPts val="1625"/>
              </a:lnSpc>
              <a:buNone/>
            </a:pPr>
            <a:r>
              <a:rPr lang="en-US" sz="1300" dirty="0">
                <a:solidFill>
                  <a:srgbClr val="B5501A"/>
                </a:solidFill>
                <a:latin typeface="IBM Plex Sans" pitchFamily="34" charset="0"/>
                <a:ea typeface="IBM Plex Sans" pitchFamily="34" charset="-122"/>
                <a:cs typeface="IBM Plex Sans" pitchFamily="34" charset="-120"/>
              </a:rPr>
              <a:t>đường ngắn: </a:t>
            </a:r>
            <a:r>
              <a:rPr lang="en-US" sz="1300" b="1" dirty="0">
                <a:solidFill>
                  <a:srgbClr val="B5501A"/>
                </a:solidFill>
                <a:latin typeface="IBM Plex Sans" pitchFamily="34" charset="0"/>
                <a:ea typeface="IBM Plex Sans" pitchFamily="34" charset="-122"/>
                <a:cs typeface="IBM Plex Sans" pitchFamily="34" charset="-120"/>
              </a:rPr>
              <a:t>+20°</a:t>
            </a:r>
            <a:endParaRPr lang="en-US" sz="1300" dirty="0"/>
          </a:p>
          <a:p>
            <a:pPr algn="ctr" indent="0" marL="0">
              <a:lnSpc>
                <a:spcPts val="1625"/>
              </a:lnSpc>
              <a:buNone/>
            </a:pPr>
            <a:r>
              <a:rPr lang="en-US" sz="1300" dirty="0">
                <a:solidFill>
                  <a:srgbClr val="B5501A"/>
                </a:solidFill>
                <a:latin typeface="IBM Plex Sans" pitchFamily="34" charset="0"/>
                <a:ea typeface="IBM Plex Sans" pitchFamily="34" charset="-122"/>
                <a:cs typeface="IBM Plex Sans" pitchFamily="34" charset="-120"/>
              </a:rPr>
              <a:t>→ 40 °/s</a:t>
            </a:r>
            <a:endParaRPr lang="en-US" sz="1300" dirty="0"/>
          </a:p>
        </p:txBody>
      </p:sp>
      <p:sp>
        <p:nvSpPr>
          <p:cNvPr id="16" name="Text 13"/>
          <p:cNvSpPr/>
          <p:nvPr/>
        </p:nvSpPr>
        <p:spPr>
          <a:xfrm>
            <a:off x="7794625" y="3997920"/>
            <a:ext cx="1962150" cy="4064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đường dài: −340°</a:t>
            </a:r>
            <a:endParaRPr lang="en-US" sz="1200" dirty="0"/>
          </a:p>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(không bao giờ đi)</a:t>
            </a:r>
            <a:endParaRPr lang="en-US" sz="12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115 · Nguồn: flightSetpoints(), #define HEADING_KP</a:t>
            </a:r>
            <a:endParaRPr lang="en-US"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Arm từ điện thoại: ba quy tắc</a:t>
            </a:r>
            <a:endParaRPr lang="en-US" sz="3000" dirty="0"/>
          </a:p>
        </p:txBody>
      </p:sp>
      <p:sp>
        <p:nvSpPr>
          <p:cNvPr id="4" name="Shape 2"/>
          <p:cNvSpPr/>
          <p:nvPr/>
        </p:nvSpPr>
        <p:spPr>
          <a:xfrm>
            <a:off x="819150" y="1781770"/>
            <a:ext cx="3390900" cy="1815951"/>
          </a:xfrm>
          <a:prstGeom prst="roundRect">
            <a:avLst>
              <a:gd name="adj" fmla="val 5245"/>
            </a:avLst>
          </a:prstGeom>
          <a:solidFill>
            <a:srgbClr val="FDFCF8"/>
          </a:solidFill>
          <a:ln w="12700">
            <a:solidFill>
              <a:srgbClr val="E2DFD6"/>
            </a:solidFill>
            <a:prstDash val="solid"/>
          </a:ln>
        </p:spPr>
      </p:sp>
      <p:sp>
        <p:nvSpPr>
          <p:cNvPr id="5" name="Text 3"/>
          <p:cNvSpPr/>
          <p:nvPr/>
        </p:nvSpPr>
        <p:spPr>
          <a:xfrm>
            <a:off x="10795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Ga thấp trước</a:t>
            </a:r>
            <a:endParaRPr lang="en-US" sz="1800" dirty="0"/>
          </a:p>
        </p:txBody>
      </p:sp>
      <p:sp>
        <p:nvSpPr>
          <p:cNvPr id="6" name="Text 4"/>
          <p:cNvSpPr/>
          <p:nvPr/>
        </p:nvSpPr>
        <p:spPr>
          <a:xfrm>
            <a:off x="1079500" y="2367211"/>
            <a:ext cx="2956306"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Ở MANUAL, tăng ga chỉ arm sau khi ứng dụng đã báo ga bằng 0. Điện thoại kết nối khi cần đang cao không thể làm cánh quay.</a:t>
            </a:r>
            <a:endParaRPr lang="en-US" sz="1400" dirty="0"/>
          </a:p>
        </p:txBody>
      </p:sp>
      <p:sp>
        <p:nvSpPr>
          <p:cNvPr id="7" name="Shape 5"/>
          <p:cNvSpPr/>
          <p:nvPr/>
        </p:nvSpPr>
        <p:spPr>
          <a:xfrm>
            <a:off x="4400550" y="1781770"/>
            <a:ext cx="3390900" cy="1815951"/>
          </a:xfrm>
          <a:prstGeom prst="roundRect">
            <a:avLst>
              <a:gd name="adj" fmla="val 5245"/>
            </a:avLst>
          </a:prstGeom>
          <a:solidFill>
            <a:srgbClr val="FDFCF8"/>
          </a:solidFill>
          <a:ln w="12700">
            <a:solidFill>
              <a:srgbClr val="E2DFD6"/>
            </a:solidFill>
            <a:prstDash val="solid"/>
          </a:ln>
        </p:spPr>
      </p:sp>
      <p:sp>
        <p:nvSpPr>
          <p:cNvPr id="8" name="Text 6"/>
          <p:cNvSpPr/>
          <p:nvPr/>
        </p:nvSpPr>
        <p:spPr>
          <a:xfrm>
            <a:off x="46609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ARM chỉ từ trạng thái nghỉ</a:t>
            </a:r>
            <a:endParaRPr lang="en-US" sz="1800" dirty="0"/>
          </a:p>
        </p:txBody>
      </p:sp>
      <p:sp>
        <p:nvSpPr>
          <p:cNvPr id="9" name="Text 7"/>
          <p:cNvSpPr/>
          <p:nvPr/>
        </p:nvSpPr>
        <p:spPr>
          <a:xfrm>
            <a:off x="4660900" y="2367211"/>
            <a:ext cx="2956306"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ARM bị từ chối ở HOLD, FOLLOW hay RTH, nơi động cơ sẽ nhảy lên lực đẩy hover. Ở đó hãy dùng TAKEOFF.</a:t>
            </a:r>
            <a:endParaRPr lang="en-US" sz="1400" dirty="0"/>
          </a:p>
        </p:txBody>
      </p:sp>
      <p:sp>
        <p:nvSpPr>
          <p:cNvPr id="10" name="Shape 8"/>
          <p:cNvSpPr/>
          <p:nvPr/>
        </p:nvSpPr>
        <p:spPr>
          <a:xfrm>
            <a:off x="7981950" y="1781770"/>
            <a:ext cx="3390900" cy="1815951"/>
          </a:xfrm>
          <a:prstGeom prst="roundRect">
            <a:avLst>
              <a:gd name="adj" fmla="val 5245"/>
            </a:avLst>
          </a:prstGeom>
          <a:solidFill>
            <a:srgbClr val="FDFCF8"/>
          </a:solidFill>
          <a:ln w="12700">
            <a:solidFill>
              <a:srgbClr val="E2DFD6"/>
            </a:solidFill>
            <a:prstDash val="solid"/>
          </a:ln>
        </p:spPr>
      </p:sp>
      <p:sp>
        <p:nvSpPr>
          <p:cNvPr id="11" name="Text 9"/>
          <p:cNvSpPr/>
          <p:nvPr/>
        </p:nvSpPr>
        <p:spPr>
          <a:xfrm>
            <a:off x="8242300" y="2016720"/>
            <a:ext cx="2956306"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TAKEOFF arm an toàn</a:t>
            </a:r>
            <a:endParaRPr lang="en-US" sz="1800" dirty="0"/>
          </a:p>
        </p:txBody>
      </p:sp>
      <p:sp>
        <p:nvSpPr>
          <p:cNvPr id="12" name="Text 10"/>
          <p:cNvSpPr/>
          <p:nvPr/>
        </p:nvSpPr>
        <p:spPr>
          <a:xfrm>
            <a:off x="8242300" y="236721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Nó kiểm tra pin, đặt điểm cất cánh và bắt đầu dốc từ 0.</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116 · Nguồn: armUpdate(), FC_CMD_ARM, flightTakeoff()</a:t>
            </a:r>
            <a:endParaRPr lang="en-US"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Một kiểm tra trước arm cho mọi đường</a:t>
            </a:r>
            <a:endParaRPr lang="en-US" sz="3000" dirty="0"/>
          </a:p>
        </p:txBody>
      </p:sp>
      <p:sp>
        <p:nvSpPr>
          <p:cNvPr id="4" name="Text 2"/>
          <p:cNvSpPr/>
          <p:nvPr/>
        </p:nvSpPr>
        <p:spPr>
          <a:xfrm>
            <a:off x="812800" y="1775420"/>
            <a:ext cx="6187430" cy="3378200"/>
          </a:xfrm>
          <a:prstGeom prst="roundRect">
            <a:avLst>
              <a:gd name="adj" fmla="val 3008"/>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bool</a:t>
            </a:r>
            <a:r>
              <a:rPr lang="en-US" sz="1300" dirty="0">
                <a:solidFill>
                  <a:srgbClr val="E6EBF0"/>
                </a:solidFill>
                <a:latin typeface="JetBrains Mono" pitchFamily="49" charset="0"/>
                <a:ea typeface="JetBrains Mono" pitchFamily="49" charset="-122"/>
                <a:cs typeface="JetBrains Mono" pitchFamily="49" charset="-120"/>
              </a:rPr>
              <a:t> armChecksOk(</a:t>
            </a:r>
            <a:r>
              <a:rPr lang="en-US" sz="1300" dirty="0">
                <a:solidFill>
                  <a:srgbClr val="F29E5C"/>
                </a:solidFill>
                <a:latin typeface="JetBrains Mono" pitchFamily="49" charset="0"/>
                <a:ea typeface="JetBrains Mono" pitchFamily="49" charset="-122"/>
                <a:cs typeface="JetBrains Mono" pitchFamily="49" charset="-120"/>
              </a:rPr>
              <a:t>const</a:t>
            </a:r>
            <a:r>
              <a:rPr lang="en-US" sz="1300" dirty="0">
                <a:solidFill>
                  <a:srgbClr val="E6EBF0"/>
                </a:solidFill>
                <a:latin typeface="JetBrains Mono" pitchFamily="49" charset="0"/>
                <a:ea typeface="JetBrains Mono" pitchFamily="49" charset="-122"/>
                <a:cs typeface="JetBrains Mono" pitchFamily="49" charset="-120"/>
              </a:rPr>
              <a:t> char *who)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VBAT_ARM_CHECK</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(vbat &lt; VBAT_CELLS * VBAT_CELL_CRIT) {      </a:t>
            </a:r>
            <a:r>
              <a:rPr lang="en-US" sz="1300" dirty="0">
                <a:solidFill>
                  <a:srgbClr val="8FA3B8"/>
                </a:solidFill>
                <a:latin typeface="JetBrains Mono" pitchFamily="49" charset="0"/>
                <a:ea typeface="JetBrains Mono" pitchFamily="49" charset="-122"/>
                <a:cs typeface="JetBrains Mono" pitchFamily="49" charset="-120"/>
              </a:rPr>
              <a:t>// 3.3 V</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8FA3B8"/>
                </a:solidFill>
                <a:latin typeface="JetBrains Mono" pitchFamily="49" charset="0"/>
                <a:ea typeface="JetBrains Mono" pitchFamily="49" charset="-122"/>
                <a:cs typeface="JetBrains Mono" pitchFamily="49" charset="-120"/>
              </a:rPr>
              <a:t>// rate-limited message, at most once a second</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Serial.printf("[ARM] %s refused: battery %.2f V\n", who, vbat);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crtpConsole("arm refused: low battery");</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false</a:t>
            </a: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#endif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true</a:t>
            </a: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Được gọi bởi arm SBUS, tăng ga CRTP, ARM và TAKEOFF.</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Vì sao một hàm?</a:t>
            </a:r>
            <a:r>
              <a:rPr lang="en-US" sz="1450" dirty="0">
                <a:solidFill>
                  <a:srgbClr val="13202E"/>
                </a:solidFill>
                <a:latin typeface="IBM Plex Sans" pitchFamily="34" charset="0"/>
                <a:ea typeface="IBM Plex Sans" pitchFamily="34" charset="-122"/>
                <a:cs typeface="IBM Plex Sans" pitchFamily="34" charset="-120"/>
              </a:rPr>
              <a:t> Thêm một kiểm tra ở đây là bảo vệ mọi đường cùng lúc.</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Tin nhắn bị giới hạn tần suất để cần giữ lâu không làm ngập console.</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117 · Nguồn: armChecksOk()</a:t>
            </a:r>
            <a:endParaRPr lang="en-US" sz="12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Failsafe: không có đầu vào, không có động cơ</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Failsafe: không đầu vào, không động cơ.</a:t>
            </a:r>
            <a:endParaRPr lang="en-US" sz="1600" dirty="0"/>
          </a:p>
        </p:txBody>
      </p:sp>
      <p:sp>
        <p:nvSpPr>
          <p:cNvPr id="5" name="Text 3"/>
          <p:cNvSpPr/>
          <p:nvPr/>
        </p:nvSpPr>
        <p:spPr>
          <a:xfrm>
            <a:off x="812800" y="2189411"/>
            <a:ext cx="53594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Mỗi đầu vào “còn sống” nếu được nghe trong </a:t>
            </a:r>
            <a:r>
              <a:rPr lang="en-US" sz="1400" b="1" dirty="0">
                <a:solidFill>
                  <a:srgbClr val="13202E"/>
                </a:solidFill>
                <a:latin typeface="IBM Plex Sans" pitchFamily="34" charset="0"/>
                <a:ea typeface="IBM Plex Sans" pitchFamily="34" charset="-122"/>
                <a:cs typeface="IBM Plex Sans" pitchFamily="34" charset="-120"/>
              </a:rPr>
              <a:t>500 ms</a:t>
            </a:r>
            <a:r>
              <a:rPr lang="en-US" sz="1400" dirty="0">
                <a:solidFill>
                  <a:srgbClr val="13202E"/>
                </a:solidFill>
                <a:latin typeface="IBM Plex Sans" pitchFamily="34" charset="0"/>
                <a:ea typeface="IBM Plex Sans" pitchFamily="34" charset="-122"/>
                <a:cs typeface="IBM Plex Sans" pitchFamily="34" charset="-120"/>
              </a:rPr>
              <a:t> vừa qua.</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rx_ok</a:t>
            </a:r>
            <a:r>
              <a:rPr lang="en-US" sz="1400" dirty="0">
                <a:solidFill>
                  <a:srgbClr val="13202E"/>
                </a:solidFill>
                <a:latin typeface="IBM Plex Sans" pitchFamily="34" charset="0"/>
                <a:ea typeface="IBM Plex Sans" pitchFamily="34" charset="-122"/>
                <a:cs typeface="IBM Plex Sans" pitchFamily="34" charset="-120"/>
              </a:rPr>
              <a:t> = điện thoại sống HOẶC SBUS sống.</a:t>
            </a:r>
            <a:endParaRPr lang="en-US" sz="1400" dirty="0"/>
          </a:p>
        </p:txBody>
      </p:sp>
      <p:sp>
        <p:nvSpPr>
          <p:cNvPr id="7" name="Text 5"/>
          <p:cNvSpPr/>
          <p:nvPr/>
        </p:nvSpPr>
        <p:spPr>
          <a:xfrm>
            <a:off x="812800" y="296659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Không có đầu vào sống khi đang arm → disarm, tắt động cơ, về MANUAL.</a:t>
            </a:r>
            <a:endParaRPr lang="en-US" sz="1400" dirty="0"/>
          </a:p>
        </p:txBody>
      </p:sp>
      <p:sp>
        <p:nvSpPr>
          <p:cNvPr id="8" name="Shape 6"/>
          <p:cNvSpPr/>
          <p:nvPr/>
        </p:nvSpPr>
        <p:spPr>
          <a:xfrm>
            <a:off x="812800" y="3604071"/>
            <a:ext cx="5054600" cy="1031180"/>
          </a:xfrm>
          <a:prstGeom prst="roundRect">
            <a:avLst>
              <a:gd name="adj" fmla="val 9853"/>
            </a:avLst>
          </a:prstGeom>
          <a:solidFill>
            <a:srgbClr val="13202E"/>
          </a:solidFill>
          <a:ln/>
        </p:spPr>
      </p:sp>
      <p:sp>
        <p:nvSpPr>
          <p:cNvPr id="9" name="Text 7"/>
          <p:cNvSpPr/>
          <p:nvPr/>
        </p:nvSpPr>
        <p:spPr>
          <a:xfrm>
            <a:off x="1016000" y="375647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02059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Ứng dụng treo ở 400 ms → ở 900 ms cánh dừng, ngay trong vòng mà kiểm tra thất bại.</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Dòng thời gian: gói mỗi 50 ms tới 400 ms, rồi im lặng; ở 900 ms, 500 ms sau gói cuối, failsafe dừng động cơ">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6553200" y="2283420"/>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gói đến mỗi 50 ms</a:t>
            </a:r>
            <a:endParaRPr lang="en-US" sz="1200" dirty="0"/>
          </a:p>
        </p:txBody>
      </p:sp>
      <p:sp>
        <p:nvSpPr>
          <p:cNvPr id="14" name="Text 11"/>
          <p:cNvSpPr/>
          <p:nvPr/>
        </p:nvSpPr>
        <p:spPr>
          <a:xfrm>
            <a:off x="8153400" y="2778720"/>
            <a:ext cx="189674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500 ms im lặng</a:t>
            </a:r>
            <a:endParaRPr lang="en-US" sz="1200" dirty="0"/>
          </a:p>
        </p:txBody>
      </p:sp>
      <p:sp>
        <p:nvSpPr>
          <p:cNvPr id="15" name="Text 12"/>
          <p:cNvSpPr/>
          <p:nvPr/>
        </p:nvSpPr>
        <p:spPr>
          <a:xfrm>
            <a:off x="10020300" y="3680420"/>
            <a:ext cx="1511300" cy="438150"/>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failsafe:</a:t>
            </a:r>
            <a:endParaRPr lang="en-US" sz="1300" dirty="0"/>
          </a:p>
          <a:p>
            <a:pPr algn="l" indent="0" marL="0">
              <a:lnSpc>
                <a:spcPts val="1625"/>
              </a:lnSpc>
              <a:buNone/>
            </a:pPr>
            <a:r>
              <a:rPr lang="en-US" sz="1300" b="1" dirty="0">
                <a:solidFill>
                  <a:srgbClr val="B42318"/>
                </a:solidFill>
                <a:latin typeface="IBM Plex Sans" pitchFamily="34" charset="0"/>
                <a:ea typeface="IBM Plex Sans" pitchFamily="34" charset="-122"/>
                <a:cs typeface="IBM Plex Sans" pitchFamily="34" charset="-120"/>
              </a:rPr>
              <a:t>dừng động cơ</a:t>
            </a:r>
            <a:endParaRPr lang="en-US" sz="1300" dirty="0"/>
          </a:p>
        </p:txBody>
      </p:sp>
      <p:sp>
        <p:nvSpPr>
          <p:cNvPr id="16" name="Text 13"/>
          <p:cNvSpPr/>
          <p:nvPr/>
        </p:nvSpPr>
        <p:spPr>
          <a:xfrm>
            <a:off x="6591300" y="384552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6F5F0"/>
                </a:solidFill>
                <a:latin typeface="IBM Plex Sans" pitchFamily="34" charset="0"/>
                <a:ea typeface="IBM Plex Sans" pitchFamily="34" charset="-122"/>
                <a:cs typeface="IBM Plex Sans" pitchFamily="34" charset="-120"/>
              </a:rPr>
              <a:t>đã arm, đang bay</a:t>
            </a:r>
            <a:endParaRPr lang="en-US" sz="1200" dirty="0"/>
          </a:p>
        </p:txBody>
      </p:sp>
      <p:sp>
        <p:nvSpPr>
          <p:cNvPr id="17" name="Text 14"/>
          <p:cNvSpPr/>
          <p:nvPr/>
        </p:nvSpPr>
        <p:spPr>
          <a:xfrm>
            <a:off x="6553200" y="3274020"/>
            <a:ext cx="812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0 ms</a:t>
            </a:r>
            <a:endParaRPr lang="en-US" sz="1200" dirty="0"/>
          </a:p>
        </p:txBody>
      </p:sp>
      <p:sp>
        <p:nvSpPr>
          <p:cNvPr id="18" name="Text 15"/>
          <p:cNvSpPr/>
          <p:nvPr/>
        </p:nvSpPr>
        <p:spPr>
          <a:xfrm>
            <a:off x="7797800" y="3274020"/>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400</a:t>
            </a:r>
            <a:endParaRPr lang="en-US" sz="1200" dirty="0"/>
          </a:p>
        </p:txBody>
      </p:sp>
      <p:sp>
        <p:nvSpPr>
          <p:cNvPr id="19" name="Text 16"/>
          <p:cNvSpPr/>
          <p:nvPr/>
        </p:nvSpPr>
        <p:spPr>
          <a:xfrm>
            <a:off x="9575800" y="3274020"/>
            <a:ext cx="81280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900</a:t>
            </a:r>
            <a:endParaRPr lang="en-US" sz="1200" dirty="0"/>
          </a:p>
        </p:txBody>
      </p:sp>
      <p:sp>
        <p:nvSpPr>
          <p:cNvPr id="20" name="Text 17"/>
          <p:cNvSpPr/>
          <p:nvPr/>
        </p:nvSpPr>
        <p:spPr>
          <a:xfrm>
            <a:off x="6426200" y="4569420"/>
            <a:ext cx="49707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MANUAL cần gói cần lái. HOLD / AUTO / FOLLOW / RTH chấp nhận mọi lưu lượng CRTP.</a:t>
            </a:r>
            <a:endParaRPr lang="en-US" sz="1200" dirty="0"/>
          </a:p>
        </p:txBody>
      </p:sp>
      <p:sp>
        <p:nvSpPr>
          <p:cNvPr id="21"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118 · Nguồn: khối failsafe trong loop()</a:t>
            </a:r>
            <a:endParaRPr lang="en-US" sz="12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Lỗi thật: thời gian bị đo ngược</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Một mili giây, đọc sai thứ tự, có thể cắt động cơ.</a:t>
            </a:r>
            <a:endParaRPr lang="en-US" sz="1600" dirty="0"/>
          </a:p>
        </p:txBody>
      </p:sp>
      <p:sp>
        <p:nvSpPr>
          <p:cNvPr id="5" name="Shape 3"/>
          <p:cNvSpPr/>
          <p:nvPr/>
        </p:nvSpPr>
        <p:spPr>
          <a:xfrm>
            <a:off x="819150" y="2320230"/>
            <a:ext cx="5168900" cy="1983581"/>
          </a:xfrm>
          <a:prstGeom prst="roundRect">
            <a:avLst>
              <a:gd name="adj" fmla="val 4802"/>
            </a:avLst>
          </a:prstGeom>
          <a:solidFill>
            <a:srgbClr val="FDFCF8"/>
          </a:solidFill>
          <a:ln w="12700">
            <a:solidFill>
              <a:srgbClr val="E2DFD6"/>
            </a:solidFill>
            <a:prstDash val="solid"/>
          </a:ln>
        </p:spPr>
      </p:sp>
      <p:sp>
        <p:nvSpPr>
          <p:cNvPr id="6" name="Text 4"/>
          <p:cNvSpPr/>
          <p:nvPr/>
        </p:nvSpPr>
        <p:spPr>
          <a:xfrm>
            <a:off x="10795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2318"/>
                </a:solidFill>
                <a:latin typeface="IBM Plex Sans" pitchFamily="34" charset="0"/>
                <a:ea typeface="IBM Plex Sans" pitchFamily="34" charset="-122"/>
                <a:cs typeface="IBM Plex Sans" pitchFamily="34" charset="-120"/>
              </a:rPr>
              <a:t>Trước (lỗi)</a:t>
            </a:r>
            <a:endParaRPr lang="en-US" sz="1900" dirty="0"/>
          </a:p>
        </p:txBody>
      </p:sp>
      <p:sp>
        <p:nvSpPr>
          <p:cNvPr id="7" name="Text 5"/>
          <p:cNvSpPr/>
          <p:nvPr/>
        </p:nvSpPr>
        <p:spPr>
          <a:xfrm>
            <a:off x="10795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So sánh tuổi gói bằng số không dấu</a:t>
            </a:r>
            <a:endParaRPr lang="en-US" sz="1400" dirty="0"/>
          </a:p>
        </p:txBody>
      </p:sp>
      <p:sp>
        <p:nvSpPr>
          <p:cNvPr id="8" name="Text 6"/>
          <p:cNvSpPr/>
          <p:nvPr/>
        </p:nvSpPr>
        <p:spPr>
          <a:xfrm>
            <a:off x="10795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Gói xử lý trong vòng này có thể mới hơn </a:t>
            </a:r>
            <a:r>
              <a:rPr lang="en-US" sz="1400" i="1" dirty="0">
                <a:solidFill>
                  <a:srgbClr val="13202E"/>
                </a:solidFill>
                <a:latin typeface="IBM Plex Sans" pitchFamily="34" charset="0"/>
                <a:ea typeface="IBM Plex Sans" pitchFamily="34" charset="-122"/>
                <a:cs typeface="IBM Plex Sans" pitchFamily="34" charset="-120"/>
              </a:rPr>
              <a:t>now</a:t>
            </a:r>
            <a:r>
              <a:rPr lang="en-US" sz="1400" dirty="0">
                <a:solidFill>
                  <a:srgbClr val="13202E"/>
                </a:solidFill>
                <a:latin typeface="IBM Plex Sans" pitchFamily="34" charset="0"/>
                <a:ea typeface="IBM Plex Sans" pitchFamily="34" charset="-122"/>
                <a:cs typeface="IBM Plex Sans" pitchFamily="34" charset="-120"/>
              </a:rPr>
              <a:t> 1 ms</a:t>
            </a:r>
            <a:endParaRPr lang="en-US" sz="1400" dirty="0"/>
          </a:p>
        </p:txBody>
      </p:sp>
      <p:sp>
        <p:nvSpPr>
          <p:cNvPr id="9" name="Text 7"/>
          <p:cNvSpPr/>
          <p:nvPr/>
        </p:nvSpPr>
        <p:spPr>
          <a:xfrm>
            <a:off x="1079500" y="357108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now − last = −1 → quấn thành ~49 ngày → failsafe → cắt động cơ</a:t>
            </a:r>
            <a:endParaRPr lang="en-US" sz="1400" dirty="0"/>
          </a:p>
        </p:txBody>
      </p:sp>
      <p:sp>
        <p:nvSpPr>
          <p:cNvPr id="10" name="Shape 8"/>
          <p:cNvSpPr/>
          <p:nvPr/>
        </p:nvSpPr>
        <p:spPr>
          <a:xfrm>
            <a:off x="6203950" y="2320230"/>
            <a:ext cx="5168900" cy="1983581"/>
          </a:xfrm>
          <a:prstGeom prst="roundRect">
            <a:avLst>
              <a:gd name="adj" fmla="val 4802"/>
            </a:avLst>
          </a:prstGeom>
          <a:solidFill>
            <a:srgbClr val="FDFCF8"/>
          </a:solidFill>
          <a:ln w="12700">
            <a:solidFill>
              <a:srgbClr val="E2DFD6"/>
            </a:solidFill>
            <a:prstDash val="solid"/>
          </a:ln>
        </p:spPr>
      </p:sp>
      <p:sp>
        <p:nvSpPr>
          <p:cNvPr id="11" name="Text 9"/>
          <p:cNvSpPr/>
          <p:nvPr/>
        </p:nvSpPr>
        <p:spPr>
          <a:xfrm>
            <a:off x="64643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4D"/>
                </a:solidFill>
                <a:latin typeface="IBM Plex Sans" pitchFamily="34" charset="0"/>
                <a:ea typeface="IBM Plex Sans" pitchFamily="34" charset="-122"/>
                <a:cs typeface="IBM Plex Sans" pitchFamily="34" charset="-120"/>
              </a:rPr>
              <a:t>Sau (đã sửa)</a:t>
            </a:r>
            <a:endParaRPr lang="en-US" sz="1900" dirty="0"/>
          </a:p>
        </p:txBody>
      </p:sp>
      <p:sp>
        <p:nvSpPr>
          <p:cNvPr id="12" name="Text 10"/>
          <p:cNvSpPr/>
          <p:nvPr/>
        </p:nvSpPr>
        <p:spPr>
          <a:xfrm>
            <a:off x="6464300" y="292090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(int32_t)(now − last) &lt; FAILSAFE_MS</a:t>
            </a:r>
            <a:endParaRPr lang="en-US" sz="1400" dirty="0"/>
          </a:p>
        </p:txBody>
      </p:sp>
      <p:sp>
        <p:nvSpPr>
          <p:cNvPr id="13" name="Text 11"/>
          <p:cNvSpPr/>
          <p:nvPr/>
        </p:nvSpPr>
        <p:spPr>
          <a:xfrm>
            <a:off x="6464300" y="324599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−1 ms đơn giản là “rất mới”</a:t>
            </a:r>
            <a:endParaRPr lang="en-US" sz="1400" dirty="0"/>
          </a:p>
        </p:txBody>
      </p:sp>
      <p:sp>
        <p:nvSpPr>
          <p:cNvPr id="14" name="Text 12"/>
          <p:cNvSpPr/>
          <p:nvPr/>
        </p:nvSpPr>
        <p:spPr>
          <a:xfrm>
            <a:off x="6464300" y="3571081"/>
            <a:ext cx="478764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So sánh có dấu vẫn đúng qua lần quấn 49 ngày</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119 · Nguồn: chú thích loop()</a:t>
            </a:r>
            <a:endParaRPr lang="en-US" sz="12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Ai đang điều khiển? Vài tình huống</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235994"/>
        </p:xfrm>
        <a:graphic>
          <a:graphicData uri="http://schemas.openxmlformats.org/drawingml/2006/table">
            <a:tbl>
              <a:tblPr/>
              <a:tblGrid>
                <a:gridCol w="4643628"/>
                <a:gridCol w="1688592"/>
                <a:gridCol w="1688592"/>
                <a:gridCol w="2532888"/>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Tình huống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phone_ok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sbus_ok</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Kết quả</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Điện thoại bay MANUAL, đang gửi cần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có</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điện thoại lái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Điện thoại ở AUTO lơ lửng, chỉ có log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có</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điện thoại lái (AUTO)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Ứng dụng đóng, có máy thu RC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không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có</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RC lái, rate thủ công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Mất điện thoại, không có máy thu</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không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không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failsafe: dừng động cơ</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Tay phát RC tắt, máy thu ở failsafe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không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không (cờ)</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failsafe: dừng động cơ</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120 · Nguồn: loop()</a:t>
            </a:r>
            <a:endParaRPr lang="en-US" sz="1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Pin nguy hiểm phải kéo dài 3 giây</a:t>
            </a:r>
            <a:endParaRPr lang="en-US" sz="3000" dirty="0"/>
          </a:p>
        </p:txBody>
      </p:sp>
      <p:sp>
        <p:nvSpPr>
          <p:cNvPr id="4" name="Text 2"/>
          <p:cNvSpPr/>
          <p:nvPr/>
        </p:nvSpPr>
        <p:spPr>
          <a:xfrm>
            <a:off x="812800" y="1775420"/>
            <a:ext cx="5206238"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Pin nguy hiểm phải kéo dài 3 giây.</a:t>
            </a:r>
            <a:endParaRPr lang="en-US" sz="1600" dirty="0"/>
          </a:p>
        </p:txBody>
      </p:sp>
      <p:sp>
        <p:nvSpPr>
          <p:cNvPr id="5" name="Text 3"/>
          <p:cNvSpPr/>
          <p:nvPr/>
        </p:nvSpPr>
        <p:spPr>
          <a:xfrm>
            <a:off x="812800" y="218941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Hai bộ lọc: làm mượt 0,2 s, rồi </a:t>
            </a:r>
            <a:r>
              <a:rPr lang="en-US" sz="1400" b="1" dirty="0">
                <a:solidFill>
                  <a:srgbClr val="13202E"/>
                </a:solidFill>
                <a:latin typeface="IBM Plex Sans" pitchFamily="34" charset="0"/>
                <a:ea typeface="IBM Plex Sans" pitchFamily="34" charset="-122"/>
                <a:cs typeface="IBM Plex Sans" pitchFamily="34" charset="-120"/>
              </a:rPr>
              <a:t>giữ 3 s</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257800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Tăng ga đột ngột làm sụt áp chốc lát — đó không phải pin hết.</a:t>
            </a:r>
            <a:endParaRPr lang="en-US" sz="1400" dirty="0"/>
          </a:p>
        </p:txBody>
      </p:sp>
      <p:sp>
        <p:nvSpPr>
          <p:cNvPr id="7" name="Text 5"/>
          <p:cNvSpPr/>
          <p:nvPr/>
        </p:nvSpPr>
        <p:spPr>
          <a:xfrm>
            <a:off x="812800" y="2966591"/>
            <a:ext cx="52062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Đồng hồ đếm lại ngay khi điện áp hồi trên 3,3 V.</a:t>
            </a:r>
            <a:endParaRPr lang="en-US" sz="1400" dirty="0"/>
          </a:p>
        </p:txBody>
      </p:sp>
      <p:sp>
        <p:nvSpPr>
          <p:cNvPr id="8" name="Shape 6"/>
          <p:cNvSpPr/>
          <p:nvPr/>
        </p:nvSpPr>
        <p:spPr>
          <a:xfrm>
            <a:off x="812800" y="3355181"/>
            <a:ext cx="5054600" cy="1031180"/>
          </a:xfrm>
          <a:prstGeom prst="roundRect">
            <a:avLst>
              <a:gd name="adj" fmla="val 9853"/>
            </a:avLst>
          </a:prstGeom>
          <a:solidFill>
            <a:srgbClr val="13202E"/>
          </a:solidFill>
          <a:ln/>
        </p:spPr>
      </p:sp>
      <p:sp>
        <p:nvSpPr>
          <p:cNvPr id="9" name="Text 7"/>
          <p:cNvSpPr/>
          <p:nvPr/>
        </p:nvSpPr>
        <p:spPr>
          <a:xfrm>
            <a:off x="1016000" y="3507581"/>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377170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Lơ lửng ở 3,28 V trong 3 s → nguy hiểm → ở AUTO drone tự hạ cánh; phi công lái tay nhận cảnh báo.</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điện áp pin: sụt ngắn dưới 3,3 vôn bị bỏ qua; ở dưới 3,3 vôn suốt 3 giây thì thành nguy hiểm">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pin (V)</a:t>
            </a:r>
            <a:endParaRPr lang="en-US" sz="1200" dirty="0"/>
          </a:p>
        </p:txBody>
      </p:sp>
      <p:sp>
        <p:nvSpPr>
          <p:cNvPr id="15" name="Text 12"/>
          <p:cNvSpPr/>
          <p:nvPr/>
        </p:nvSpPr>
        <p:spPr>
          <a:xfrm>
            <a:off x="6877050" y="3705820"/>
            <a:ext cx="1066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3,3 V</a:t>
            </a:r>
            <a:endParaRPr lang="en-US" sz="1200" dirty="0"/>
          </a:p>
        </p:txBody>
      </p:sp>
      <p:sp>
        <p:nvSpPr>
          <p:cNvPr id="16" name="Text 13"/>
          <p:cNvSpPr/>
          <p:nvPr/>
        </p:nvSpPr>
        <p:spPr>
          <a:xfrm>
            <a:off x="7835900" y="4042370"/>
            <a:ext cx="15113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tăng ga: sụt 0,4 s</a:t>
            </a:r>
            <a:endParaRPr lang="en-US" sz="1200" dirty="0"/>
          </a:p>
          <a:p>
            <a:pPr algn="l" indent="0" marL="0">
              <a:lnSpc>
                <a:spcPts val="1500"/>
              </a:lnSpc>
              <a:buNone/>
            </a:pPr>
            <a:r>
              <a:rPr lang="en-US" sz="1200" b="1" dirty="0">
                <a:solidFill>
                  <a:srgbClr val="2F6FA3"/>
                </a:solidFill>
                <a:latin typeface="IBM Plex Sans" pitchFamily="34" charset="0"/>
                <a:ea typeface="IBM Plex Sans" pitchFamily="34" charset="-122"/>
                <a:cs typeface="IBM Plex Sans" pitchFamily="34" charset="-120"/>
              </a:rPr>
              <a:t>→ bỏ qua</a:t>
            </a:r>
            <a:endParaRPr lang="en-US" sz="1200" dirty="0"/>
          </a:p>
        </p:txBody>
      </p:sp>
      <p:sp>
        <p:nvSpPr>
          <p:cNvPr id="17" name="Text 14"/>
          <p:cNvSpPr/>
          <p:nvPr/>
        </p:nvSpPr>
        <p:spPr>
          <a:xfrm>
            <a:off x="9417050" y="2092920"/>
            <a:ext cx="1320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thấp suốt 3 s</a:t>
            </a:r>
            <a:endParaRPr lang="en-US" sz="1200" dirty="0"/>
          </a:p>
        </p:txBody>
      </p:sp>
      <p:sp>
        <p:nvSpPr>
          <p:cNvPr id="18" name="Text 15"/>
          <p:cNvSpPr/>
          <p:nvPr/>
        </p:nvSpPr>
        <p:spPr>
          <a:xfrm>
            <a:off x="9366250" y="4461470"/>
            <a:ext cx="1257300" cy="406400"/>
          </a:xfrm>
          <a:prstGeom prst="rect">
            <a:avLst/>
          </a:prstGeom>
          <a:noFill/>
          <a:ln/>
        </p:spPr>
        <p:txBody>
          <a:bodyPr wrap="square" lIns="0" tIns="0" rIns="0" bIns="0" rtlCol="0" anchor="t">
            <a:normAutofit/>
          </a:bodyPr>
          <a:lstStyle/>
          <a:p>
            <a:pPr algn="r"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nguy hiểm → hạ cánh</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121 · Nguồn: batteryUpdate()</a:t>
            </a:r>
            <a:endParaRPr lang="en-US" sz="12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Pin nguy hiểm → drone tự hạ cánh</a:t>
            </a:r>
            <a:endParaRPr lang="en-US" sz="3000" dirty="0"/>
          </a:p>
        </p:txBody>
      </p:sp>
      <p:sp>
        <p:nvSpPr>
          <p:cNvPr id="4" name="Text 2"/>
          <p:cNvSpPr/>
          <p:nvPr/>
        </p:nvSpPr>
        <p:spPr>
          <a:xfrm>
            <a:off x="812800" y="1775420"/>
            <a:ext cx="6187430" cy="3378200"/>
          </a:xfrm>
          <a:prstGeom prst="roundRect">
            <a:avLst>
              <a:gd name="adj" fmla="val 3008"/>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(armed &amp;&amp; vbat_crit)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(use_crtp &amp;&amp; flight_mode != MODE_MANUAL)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(!(flight_mode == MODE_AUTO &amp;&amp; auto_state == AUTO_LAND))</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flightLand();                     </a:t>
            </a:r>
            <a:r>
              <a:rPr lang="en-US" sz="1300" dirty="0">
                <a:solidFill>
                  <a:srgbClr val="8FA3B8"/>
                </a:solidFill>
                <a:latin typeface="JetBrains Mono" pitchFamily="49" charset="0"/>
                <a:ea typeface="JetBrains Mono" pitchFamily="49" charset="-122"/>
                <a:cs typeface="JetBrains Mono" pitchFamily="49" charset="-120"/>
              </a:rPr>
              <a:t>// land once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 </a:t>
            </a:r>
            <a:r>
              <a:rPr lang="en-US" sz="1300" dirty="0">
                <a:solidFill>
                  <a:srgbClr val="F29E5C"/>
                </a:solidFill>
                <a:latin typeface="JetBrains Mono" pitchFamily="49" charset="0"/>
                <a:ea typeface="JetBrains Mono" pitchFamily="49" charset="-122"/>
                <a:cs typeface="JetBrains Mono" pitchFamily="49" charset="-120"/>
              </a:rPr>
              <a:t>else</a:t>
            </a: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8FA3B8"/>
                </a:solidFill>
                <a:latin typeface="JetBrains Mono" pitchFamily="49" charset="0"/>
                <a:ea typeface="JetBrains Mono" pitchFamily="49" charset="-122"/>
                <a:cs typeface="JetBrains Mono" pitchFamily="49" charset="-120"/>
              </a:rPr>
              <a:t>// RC or MANUAL pilot: warn every 2 s, do not take over</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crtpConsole("battery critical: land now");</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8FA3B8"/>
                </a:solidFill>
                <a:latin typeface="JetBrains Mono" pitchFamily="49" charset="0"/>
                <a:ea typeface="JetBrains Mono" pitchFamily="49" charset="-122"/>
                <a:cs typeface="JetBrains Mono" pitchFamily="49" charset="-120"/>
              </a:rPr>
              <a:t>// and SET_MODE is refused while armed &amp;&amp; vbat_crit</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Chế độ tự động thì </a:t>
            </a:r>
            <a:r>
              <a:rPr lang="en-US" sz="1450" b="1" dirty="0">
                <a:solidFill>
                  <a:srgbClr val="13202E"/>
                </a:solidFill>
                <a:latin typeface="IBM Plex Sans" pitchFamily="34" charset="0"/>
                <a:ea typeface="IBM Plex Sans" pitchFamily="34" charset="-122"/>
                <a:cs typeface="IBM Plex Sans" pitchFamily="34" charset="-120"/>
              </a:rPr>
              <a:t>hạ cánh</a:t>
            </a:r>
            <a:r>
              <a:rPr lang="en-US" sz="1450" dirty="0">
                <a:solidFill>
                  <a:srgbClr val="13202E"/>
                </a:solidFill>
                <a:latin typeface="IBM Plex Sans" pitchFamily="34" charset="0"/>
                <a:ea typeface="IBM Plex Sans" pitchFamily="34" charset="-122"/>
                <a:cs typeface="IBM Plex Sans" pitchFamily="34" charset="-120"/>
              </a:rPr>
              <a:t>; phi công người thì nhận </a:t>
            </a:r>
            <a:r>
              <a:rPr lang="en-US" sz="1450" b="1" dirty="0">
                <a:solidFill>
                  <a:srgbClr val="13202E"/>
                </a:solidFill>
                <a:latin typeface="IBM Plex Sans" pitchFamily="34" charset="0"/>
                <a:ea typeface="IBM Plex Sans" pitchFamily="34" charset="-122"/>
                <a:cs typeface="IBM Plex Sans" pitchFamily="34" charset="-120"/>
              </a:rPr>
              <a:t>cảnh báo</a:t>
            </a:r>
            <a:r>
              <a:rPr lang="en-US" sz="1450" dirty="0">
                <a:solidFill>
                  <a:srgbClr val="13202E"/>
                </a:solidFill>
                <a:latin typeface="IBM Plex Sans" pitchFamily="34" charset="0"/>
                <a:ea typeface="IBM Plex Sans" pitchFamily="34" charset="-122"/>
                <a:cs typeface="IBM Plex Sans" pitchFamily="34" charset="-120"/>
              </a:rPr>
              <a:t>.</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SET_MODE bị từ chối để việc ứng dụng gửi lại chế độ định kỳ không hủy việc hạ cánh.</a:t>
            </a:r>
            <a:endParaRPr lang="en-US" sz="145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122 · Nguồn: loop(), FC_CMD_SET_MODE</a:t>
            </a:r>
            <a:endParaRPr lang="en-US"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Số xấu không bao giờ tới động cơ</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Mọi giá trị từ bên ngoài đều được kiểm tra trước khi dùng.</a:t>
            </a:r>
            <a:endParaRPr lang="en-US" sz="1700" dirty="0"/>
          </a:p>
        </p:txBody>
      </p:sp>
      <p:sp>
        <p:nvSpPr>
          <p:cNvPr id="5" name="Shape 3"/>
          <p:cNvSpPr/>
          <p:nvPr/>
        </p:nvSpPr>
        <p:spPr>
          <a:xfrm>
            <a:off x="819150" y="2337991"/>
            <a:ext cx="2495550" cy="1788120"/>
          </a:xfrm>
          <a:prstGeom prst="roundRect">
            <a:avLst>
              <a:gd name="adj" fmla="val 5327"/>
            </a:avLst>
          </a:prstGeom>
          <a:solidFill>
            <a:srgbClr val="FDFCF8"/>
          </a:solidFill>
          <a:ln w="12700">
            <a:solidFill>
              <a:srgbClr val="E2DFD6"/>
            </a:solidFill>
            <a:prstDash val="solid"/>
          </a:ln>
        </p:spPr>
      </p:sp>
      <p:sp>
        <p:nvSpPr>
          <p:cNvPr id="6" name="Text 4"/>
          <p:cNvSpPr/>
          <p:nvPr/>
        </p:nvSpPr>
        <p:spPr>
          <a:xfrm>
            <a:off x="1079500" y="2572941"/>
            <a:ext cx="2034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Gói commander</a:t>
            </a:r>
            <a:endParaRPr lang="en-US" sz="1800" dirty="0"/>
          </a:p>
        </p:txBody>
      </p:sp>
      <p:sp>
        <p:nvSpPr>
          <p:cNvPr id="7" name="Text 5"/>
          <p:cNvSpPr/>
          <p:nvPr/>
        </p:nvSpPr>
        <p:spPr>
          <a:xfrm>
            <a:off x="1079500" y="2923381"/>
            <a:ext cx="20340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NaN, vô cực hoặc góc vô lý → bỏ qua.</a:t>
            </a:r>
            <a:endParaRPr lang="en-US" sz="1300" dirty="0"/>
          </a:p>
        </p:txBody>
      </p:sp>
      <p:sp>
        <p:nvSpPr>
          <p:cNvPr id="8" name="Shape 6"/>
          <p:cNvSpPr/>
          <p:nvPr/>
        </p:nvSpPr>
        <p:spPr>
          <a:xfrm>
            <a:off x="3505200" y="2337991"/>
            <a:ext cx="2495550" cy="1788120"/>
          </a:xfrm>
          <a:prstGeom prst="roundRect">
            <a:avLst>
              <a:gd name="adj" fmla="val 5327"/>
            </a:avLst>
          </a:prstGeom>
          <a:solidFill>
            <a:srgbClr val="FDFCF8"/>
          </a:solidFill>
          <a:ln w="12700">
            <a:solidFill>
              <a:srgbClr val="E2DFD6"/>
            </a:solidFill>
            <a:prstDash val="solid"/>
          </a:ln>
        </p:spPr>
      </p:sp>
      <p:sp>
        <p:nvSpPr>
          <p:cNvPr id="9" name="Text 7"/>
          <p:cNvSpPr/>
          <p:nvPr/>
        </p:nvSpPr>
        <p:spPr>
          <a:xfrm>
            <a:off x="3765550" y="2572941"/>
            <a:ext cx="2034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Ghi tham số</a:t>
            </a:r>
            <a:endParaRPr lang="en-US" sz="1800" dirty="0"/>
          </a:p>
        </p:txBody>
      </p:sp>
      <p:sp>
        <p:nvSpPr>
          <p:cNvPr id="10" name="Text 8"/>
          <p:cNvSpPr/>
          <p:nvPr/>
        </p:nvSpPr>
        <p:spPr>
          <a:xfrm>
            <a:off x="3765550" y="2923381"/>
            <a:ext cx="203409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NaN bị từ chối; còn lại kẹp vào dải TOC.</a:t>
            </a:r>
            <a:endParaRPr lang="en-US" sz="1300" dirty="0"/>
          </a:p>
        </p:txBody>
      </p:sp>
      <p:sp>
        <p:nvSpPr>
          <p:cNvPr id="11" name="Shape 9"/>
          <p:cNvSpPr/>
          <p:nvPr/>
        </p:nvSpPr>
        <p:spPr>
          <a:xfrm>
            <a:off x="6191250" y="2337991"/>
            <a:ext cx="2495550" cy="1788120"/>
          </a:xfrm>
          <a:prstGeom prst="roundRect">
            <a:avLst>
              <a:gd name="adj" fmla="val 5327"/>
            </a:avLst>
          </a:prstGeom>
          <a:solidFill>
            <a:srgbClr val="FDFCF8"/>
          </a:solidFill>
          <a:ln w="12700">
            <a:solidFill>
              <a:srgbClr val="E2DFD6"/>
            </a:solidFill>
            <a:prstDash val="solid"/>
          </a:ln>
        </p:spPr>
      </p:sp>
      <p:sp>
        <p:nvSpPr>
          <p:cNvPr id="12" name="Text 10"/>
          <p:cNvSpPr/>
          <p:nvPr/>
        </p:nvSpPr>
        <p:spPr>
          <a:xfrm>
            <a:off x="6451600" y="2572941"/>
            <a:ext cx="2034095"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Lực đẩy hover</a:t>
            </a:r>
            <a:endParaRPr lang="en-US" sz="1800" dirty="0"/>
          </a:p>
        </p:txBody>
      </p:sp>
      <p:sp>
        <p:nvSpPr>
          <p:cNvPr id="13" name="Text 11"/>
          <p:cNvSpPr/>
          <p:nvPr/>
        </p:nvSpPr>
        <p:spPr>
          <a:xfrm>
            <a:off x="6451600" y="2923381"/>
            <a:ext cx="2034095"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kẹp trong 8000 – 55000 từ SET_HOVER, TAKEOFF và flash.</a:t>
            </a:r>
            <a:endParaRPr lang="en-US" sz="1300" dirty="0"/>
          </a:p>
        </p:txBody>
      </p:sp>
      <p:sp>
        <p:nvSpPr>
          <p:cNvPr id="14" name="Shape 12"/>
          <p:cNvSpPr/>
          <p:nvPr/>
        </p:nvSpPr>
        <p:spPr>
          <a:xfrm>
            <a:off x="8877300" y="2337991"/>
            <a:ext cx="2495550" cy="1788120"/>
          </a:xfrm>
          <a:prstGeom prst="roundRect">
            <a:avLst>
              <a:gd name="adj" fmla="val 5327"/>
            </a:avLst>
          </a:prstGeom>
          <a:solidFill>
            <a:srgbClr val="FDFCF8"/>
          </a:solidFill>
          <a:ln w="12700">
            <a:solidFill>
              <a:srgbClr val="E2DFD6"/>
            </a:solidFill>
            <a:prstDash val="solid"/>
          </a:ln>
        </p:spPr>
      </p:sp>
      <p:sp>
        <p:nvSpPr>
          <p:cNvPr id="15" name="Text 13"/>
          <p:cNvSpPr/>
          <p:nvPr/>
        </p:nvSpPr>
        <p:spPr>
          <a:xfrm>
            <a:off x="9137650" y="2572941"/>
            <a:ext cx="2034095" cy="57398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Flash lúc khởi động</a:t>
            </a:r>
            <a:endParaRPr lang="en-US" sz="1800" dirty="0"/>
          </a:p>
        </p:txBody>
      </p:sp>
      <p:sp>
        <p:nvSpPr>
          <p:cNvPr id="16" name="Text 14"/>
          <p:cNvSpPr/>
          <p:nvPr/>
        </p:nvSpPr>
        <p:spPr>
          <a:xfrm>
            <a:off x="9137650" y="3197721"/>
            <a:ext cx="2034095" cy="7188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hệ số đã lưu không hữu hạn → khôi phục toàn bộ mặc định.</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123 · Nguồn: crtpHandleCommander(), paramStore(), paramSanitizeAll()</a:t>
            </a:r>
            <a:endParaRPr lang="en-US" sz="12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Những gì bị từ chối khi đang arm</a:t>
            </a:r>
            <a:endParaRPr lang="en-US" sz="3000" dirty="0"/>
          </a:p>
        </p:txBody>
      </p:sp>
      <p:sp>
        <p:nvSpPr>
          <p:cNvPr id="4" name="Shape 2"/>
          <p:cNvSpPr/>
          <p:nvPr/>
        </p:nvSpPr>
        <p:spPr>
          <a:xfrm>
            <a:off x="819150" y="1781770"/>
            <a:ext cx="3390900" cy="1567061"/>
          </a:xfrm>
          <a:prstGeom prst="roundRect">
            <a:avLst>
              <a:gd name="adj" fmla="val 6078"/>
            </a:avLst>
          </a:prstGeom>
          <a:solidFill>
            <a:srgbClr val="FDFCF8"/>
          </a:solidFill>
          <a:ln w="12700">
            <a:solidFill>
              <a:srgbClr val="E2DFD6"/>
            </a:solidFill>
            <a:prstDash val="solid"/>
          </a:ln>
        </p:spPr>
      </p:sp>
      <p:sp>
        <p:nvSpPr>
          <p:cNvPr id="5" name="Text 3"/>
          <p:cNvSpPr/>
          <p:nvPr/>
        </p:nvSpPr>
        <p:spPr>
          <a:xfrm>
            <a:off x="1079500" y="2016720"/>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SAVE</a:t>
            </a:r>
            <a:endParaRPr lang="en-US" sz="1800" dirty="0"/>
          </a:p>
        </p:txBody>
      </p:sp>
      <p:sp>
        <p:nvSpPr>
          <p:cNvPr id="6" name="Text 4"/>
          <p:cNvSpPr/>
          <p:nvPr/>
        </p:nvSpPr>
        <p:spPr>
          <a:xfrm>
            <a:off x="1079500" y="2367161"/>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Xóa flash làm cả hai nhân CPU đứng vài mili giây — lỡ một vòng điều khiển.</a:t>
            </a:r>
            <a:endParaRPr lang="en-US" sz="1400" dirty="0"/>
          </a:p>
        </p:txBody>
      </p:sp>
      <p:sp>
        <p:nvSpPr>
          <p:cNvPr id="7" name="Shape 5"/>
          <p:cNvSpPr/>
          <p:nvPr/>
        </p:nvSpPr>
        <p:spPr>
          <a:xfrm>
            <a:off x="4400550" y="1781770"/>
            <a:ext cx="3390900" cy="1567061"/>
          </a:xfrm>
          <a:prstGeom prst="roundRect">
            <a:avLst>
              <a:gd name="adj" fmla="val 6078"/>
            </a:avLst>
          </a:prstGeom>
          <a:solidFill>
            <a:srgbClr val="FDFCF8"/>
          </a:solidFill>
          <a:ln w="12700">
            <a:solidFill>
              <a:srgbClr val="E2DFD6"/>
            </a:solidFill>
            <a:prstDash val="solid"/>
          </a:ln>
        </p:spPr>
      </p:sp>
      <p:sp>
        <p:nvSpPr>
          <p:cNvPr id="8" name="Text 6"/>
          <p:cNvSpPr/>
          <p:nvPr/>
        </p:nvSpPr>
        <p:spPr>
          <a:xfrm>
            <a:off x="4660900" y="2016720"/>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LINK</a:t>
            </a:r>
            <a:endParaRPr lang="en-US" sz="1800" dirty="0"/>
          </a:p>
        </p:txBody>
      </p:sp>
      <p:sp>
        <p:nvSpPr>
          <p:cNvPr id="9" name="Text 7"/>
          <p:cNvSpPr/>
          <p:nvPr/>
        </p:nvSpPr>
        <p:spPr>
          <a:xfrm>
            <a:off x="4660900" y="236716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Ghi flash và khởi động lại. Khởi động lại trên không là rơi.</a:t>
            </a:r>
            <a:endParaRPr lang="en-US" sz="1400" dirty="0"/>
          </a:p>
        </p:txBody>
      </p:sp>
      <p:sp>
        <p:nvSpPr>
          <p:cNvPr id="10" name="Shape 8"/>
          <p:cNvSpPr/>
          <p:nvPr/>
        </p:nvSpPr>
        <p:spPr>
          <a:xfrm>
            <a:off x="7981950" y="1781770"/>
            <a:ext cx="3390900" cy="1567061"/>
          </a:xfrm>
          <a:prstGeom prst="roundRect">
            <a:avLst>
              <a:gd name="adj" fmla="val 6078"/>
            </a:avLst>
          </a:prstGeom>
          <a:solidFill>
            <a:srgbClr val="FDFCF8"/>
          </a:solidFill>
          <a:ln w="12700">
            <a:solidFill>
              <a:srgbClr val="E2DFD6"/>
            </a:solidFill>
            <a:prstDash val="solid"/>
          </a:ln>
        </p:spPr>
      </p:sp>
      <p:sp>
        <p:nvSpPr>
          <p:cNvPr id="11" name="Text 9"/>
          <p:cNvSpPr/>
          <p:nvPr/>
        </p:nvSpPr>
        <p:spPr>
          <a:xfrm>
            <a:off x="8242300" y="2016720"/>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Serial link / sta / save</a:t>
            </a:r>
            <a:endParaRPr lang="en-US" sz="1800" dirty="0"/>
          </a:p>
        </p:txBody>
      </p:sp>
      <p:sp>
        <p:nvSpPr>
          <p:cNvPr id="12" name="Text 10"/>
          <p:cNvSpPr/>
          <p:nvPr/>
        </p:nvSpPr>
        <p:spPr>
          <a:xfrm>
            <a:off x="8242300" y="2367161"/>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Console trên bàn có cùng quy tắc: “refused while armed — disarm first”.</a:t>
            </a:r>
            <a:endParaRPr lang="en-US" sz="1400" dirty="0"/>
          </a:p>
        </p:txBody>
      </p:sp>
      <p:sp>
        <p:nvSpPr>
          <p:cNvPr id="13" name="Shape 11"/>
          <p:cNvSpPr/>
          <p:nvPr/>
        </p:nvSpPr>
        <p:spPr>
          <a:xfrm>
            <a:off x="812800" y="3609181"/>
            <a:ext cx="10566400" cy="1018480"/>
          </a:xfrm>
          <a:prstGeom prst="roundRect">
            <a:avLst>
              <a:gd name="adj" fmla="val 9976"/>
            </a:avLst>
          </a:prstGeom>
          <a:solidFill>
            <a:srgbClr val="13202E"/>
          </a:solidFill>
          <a:ln/>
        </p:spPr>
      </p:sp>
      <p:sp>
        <p:nvSpPr>
          <p:cNvPr id="14" name="Text 12"/>
          <p:cNvSpPr/>
          <p:nvPr/>
        </p:nvSpPr>
        <p:spPr>
          <a:xfrm>
            <a:off x="1117600" y="383778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5" name="Text 13"/>
          <p:cNvSpPr/>
          <p:nvPr/>
        </p:nvSpPr>
        <p:spPr>
          <a:xfrm>
            <a:off x="1117600" y="411460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Chạm Save ở màn hình Tune khi đang lơ lửng → trạng thái 1 → ứng dụng báo việc lưu bị từ chối.</a:t>
            </a:r>
            <a:endParaRPr lang="en-US" sz="16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124 · Nguồn: FC_CMD_SAVE, FC_CMD_LINK, serialCommandPoll()</a:t>
            </a:r>
            <a:endParaRPr lang="en-US" sz="12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CẮT ĐỘNG CƠ, từ đầu đến cuối</a:t>
            </a:r>
            <a:endParaRPr lang="en-US" sz="3000" dirty="0"/>
          </a:p>
        </p:txBody>
      </p:sp>
      <p:sp>
        <p:nvSpPr>
          <p:cNvPr id="4" name="Shape 2"/>
          <p:cNvSpPr/>
          <p:nvPr/>
        </p:nvSpPr>
        <p:spPr>
          <a:xfrm>
            <a:off x="819150" y="1781770"/>
            <a:ext cx="1734790" cy="1277541"/>
          </a:xfrm>
          <a:prstGeom prst="roundRect">
            <a:avLst>
              <a:gd name="adj" fmla="val 7456"/>
            </a:avLst>
          </a:prstGeom>
          <a:solidFill>
            <a:srgbClr val="FDFCF8"/>
          </a:solidFill>
          <a:ln w="12700">
            <a:solidFill>
              <a:srgbClr val="E2DFD6"/>
            </a:solidFill>
            <a:prstDash val="solid"/>
          </a:ln>
        </p:spPr>
      </p:sp>
      <p:sp>
        <p:nvSpPr>
          <p:cNvPr id="5" name="Text 3"/>
          <p:cNvSpPr/>
          <p:nvPr/>
        </p:nvSpPr>
        <p:spPr>
          <a:xfrm>
            <a:off x="965200" y="1965920"/>
            <a:ext cx="14934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Chạm</a:t>
            </a:r>
            <a:endParaRPr lang="en-US" sz="1500" dirty="0"/>
          </a:p>
        </p:txBody>
      </p:sp>
      <p:sp>
        <p:nvSpPr>
          <p:cNvPr id="6" name="Text 4"/>
          <p:cNvSpPr/>
          <p:nvPr/>
        </p:nvSpPr>
        <p:spPr>
          <a:xfrm>
            <a:off x="965200" y="2258020"/>
            <a:ext cx="149349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2 lần ở Fly, 1 lần ở Mission và Tune</a:t>
            </a:r>
            <a:endParaRPr lang="en-US" sz="1200" dirty="0"/>
          </a:p>
        </p:txBody>
      </p:sp>
      <p:sp>
        <p:nvSpPr>
          <p:cNvPr id="7" name="Text 5"/>
          <p:cNvSpPr/>
          <p:nvPr/>
        </p:nvSpPr>
        <p:spPr>
          <a:xfrm>
            <a:off x="2636490" y="2207220"/>
            <a:ext cx="365760"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8" name="Shape 6"/>
          <p:cNvSpPr/>
          <p:nvPr/>
        </p:nvSpPr>
        <p:spPr>
          <a:xfrm>
            <a:off x="3023840" y="1781770"/>
            <a:ext cx="1734840" cy="1277541"/>
          </a:xfrm>
          <a:prstGeom prst="roundRect">
            <a:avLst>
              <a:gd name="adj" fmla="val 7456"/>
            </a:avLst>
          </a:prstGeom>
          <a:solidFill>
            <a:srgbClr val="FDFCF8"/>
          </a:solidFill>
          <a:ln w="12700">
            <a:solidFill>
              <a:srgbClr val="E2DFD6"/>
            </a:solidFill>
            <a:prstDash val="solid"/>
          </a:ln>
        </p:spPr>
      </p:sp>
      <p:sp>
        <p:nvSpPr>
          <p:cNvPr id="9" name="Text 7"/>
          <p:cNvSpPr/>
          <p:nvPr/>
        </p:nvSpPr>
        <p:spPr>
          <a:xfrm>
            <a:off x="3169890" y="1965920"/>
            <a:ext cx="1493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Ứng dụng gửi</a:t>
            </a:r>
            <a:endParaRPr lang="en-US" sz="1500" dirty="0"/>
          </a:p>
        </p:txBody>
      </p:sp>
      <p:sp>
        <p:nvSpPr>
          <p:cNvPr id="10" name="Text 8"/>
          <p:cNvSpPr/>
          <p:nvPr/>
        </p:nvSpPr>
        <p:spPr>
          <a:xfrm>
            <a:off x="3169890" y="2258020"/>
            <a:ext cx="14935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port 7: 0x70 0x05 (EMERGENCY)</a:t>
            </a:r>
            <a:endParaRPr lang="en-US" sz="1200" dirty="0"/>
          </a:p>
        </p:txBody>
      </p:sp>
      <p:sp>
        <p:nvSpPr>
          <p:cNvPr id="11" name="Text 9"/>
          <p:cNvSpPr/>
          <p:nvPr/>
        </p:nvSpPr>
        <p:spPr>
          <a:xfrm>
            <a:off x="4841230" y="2207220"/>
            <a:ext cx="365760"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12" name="Shape 10"/>
          <p:cNvSpPr/>
          <p:nvPr/>
        </p:nvSpPr>
        <p:spPr>
          <a:xfrm>
            <a:off x="5228580" y="1781770"/>
            <a:ext cx="1734790" cy="1277541"/>
          </a:xfrm>
          <a:prstGeom prst="roundRect">
            <a:avLst>
              <a:gd name="adj" fmla="val 7456"/>
            </a:avLst>
          </a:prstGeom>
          <a:solidFill>
            <a:srgbClr val="FDFCF8"/>
          </a:solidFill>
          <a:ln w="12700">
            <a:solidFill>
              <a:srgbClr val="E2DFD6"/>
            </a:solidFill>
            <a:prstDash val="solid"/>
          </a:ln>
        </p:spPr>
      </p:sp>
      <p:sp>
        <p:nvSpPr>
          <p:cNvPr id="13" name="Text 11"/>
          <p:cNvSpPr/>
          <p:nvPr/>
        </p:nvSpPr>
        <p:spPr>
          <a:xfrm>
            <a:off x="5374630" y="1965920"/>
            <a:ext cx="14934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Firmware</a:t>
            </a:r>
            <a:endParaRPr lang="en-US" sz="1500" dirty="0"/>
          </a:p>
        </p:txBody>
      </p:sp>
      <p:sp>
        <p:nvSpPr>
          <p:cNvPr id="14" name="Text 12"/>
          <p:cNvSpPr/>
          <p:nvPr/>
        </p:nvSpPr>
        <p:spPr>
          <a:xfrm>
            <a:off x="5374630" y="2258020"/>
            <a:ext cx="149349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flightEmergency(): disarm, motorStop, pidReset</a:t>
            </a:r>
            <a:endParaRPr lang="en-US" sz="1200" dirty="0"/>
          </a:p>
        </p:txBody>
      </p:sp>
      <p:sp>
        <p:nvSpPr>
          <p:cNvPr id="15" name="Text 13"/>
          <p:cNvSpPr/>
          <p:nvPr/>
        </p:nvSpPr>
        <p:spPr>
          <a:xfrm>
            <a:off x="7045920" y="2207220"/>
            <a:ext cx="365760"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16" name="Shape 14"/>
          <p:cNvSpPr/>
          <p:nvPr/>
        </p:nvSpPr>
        <p:spPr>
          <a:xfrm>
            <a:off x="7433270" y="1781770"/>
            <a:ext cx="1734840" cy="1277541"/>
          </a:xfrm>
          <a:prstGeom prst="roundRect">
            <a:avLst>
              <a:gd name="adj" fmla="val 7456"/>
            </a:avLst>
          </a:prstGeom>
          <a:solidFill>
            <a:srgbClr val="FDFCF8"/>
          </a:solidFill>
          <a:ln w="12700">
            <a:solidFill>
              <a:srgbClr val="E2DFD6"/>
            </a:solidFill>
            <a:prstDash val="solid"/>
          </a:ln>
        </p:spPr>
      </p:sp>
      <p:sp>
        <p:nvSpPr>
          <p:cNvPr id="17" name="Text 15"/>
          <p:cNvSpPr/>
          <p:nvPr/>
        </p:nvSpPr>
        <p:spPr>
          <a:xfrm>
            <a:off x="7579320" y="1965920"/>
            <a:ext cx="1493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Chế độ</a:t>
            </a:r>
            <a:endParaRPr lang="en-US" sz="1500" dirty="0"/>
          </a:p>
        </p:txBody>
      </p:sp>
      <p:sp>
        <p:nvSpPr>
          <p:cNvPr id="18" name="Text 16"/>
          <p:cNvSpPr/>
          <p:nvPr/>
        </p:nvSpPr>
        <p:spPr>
          <a:xfrm>
            <a:off x="7579320" y="2258020"/>
            <a:ext cx="14935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về MANUAL, AUTO nghỉ</a:t>
            </a:r>
            <a:endParaRPr lang="en-US" sz="1200" dirty="0"/>
          </a:p>
        </p:txBody>
      </p:sp>
      <p:sp>
        <p:nvSpPr>
          <p:cNvPr id="19" name="Text 17"/>
          <p:cNvSpPr/>
          <p:nvPr/>
        </p:nvSpPr>
        <p:spPr>
          <a:xfrm>
            <a:off x="9250660" y="2207220"/>
            <a:ext cx="365760" cy="45204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B5501A"/>
                </a:solidFill>
                <a:latin typeface="IBM Plex Sans" pitchFamily="34" charset="0"/>
                <a:ea typeface="IBM Plex Sans" pitchFamily="34" charset="-122"/>
                <a:cs typeface="IBM Plex Sans" pitchFamily="34" charset="-120"/>
              </a:rPr>
              <a:t>→</a:t>
            </a:r>
            <a:endParaRPr lang="en-US" sz="2400" dirty="0"/>
          </a:p>
        </p:txBody>
      </p:sp>
      <p:sp>
        <p:nvSpPr>
          <p:cNvPr id="20" name="Shape 18"/>
          <p:cNvSpPr/>
          <p:nvPr/>
        </p:nvSpPr>
        <p:spPr>
          <a:xfrm>
            <a:off x="9638010" y="1781770"/>
            <a:ext cx="1734840" cy="1277541"/>
          </a:xfrm>
          <a:prstGeom prst="roundRect">
            <a:avLst>
              <a:gd name="adj" fmla="val 7456"/>
            </a:avLst>
          </a:prstGeom>
          <a:solidFill>
            <a:srgbClr val="FDFCF8"/>
          </a:solidFill>
          <a:ln w="12700">
            <a:solidFill>
              <a:srgbClr val="E2DFD6"/>
            </a:solidFill>
            <a:prstDash val="solid"/>
          </a:ln>
        </p:spPr>
      </p:sp>
      <p:sp>
        <p:nvSpPr>
          <p:cNvPr id="21" name="Text 19"/>
          <p:cNvSpPr/>
          <p:nvPr/>
        </p:nvSpPr>
        <p:spPr>
          <a:xfrm>
            <a:off x="9784060" y="1965920"/>
            <a:ext cx="14935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E"/>
                </a:solidFill>
                <a:latin typeface="IBM Plex Sans" pitchFamily="34" charset="0"/>
                <a:ea typeface="IBM Plex Sans" pitchFamily="34" charset="-122"/>
                <a:cs typeface="IBM Plex Sans" pitchFamily="34" charset="-120"/>
              </a:rPr>
              <a:t>Phản hồi</a:t>
            </a:r>
            <a:endParaRPr lang="en-US" sz="1500" dirty="0"/>
          </a:p>
        </p:txBody>
      </p:sp>
      <p:sp>
        <p:nvSpPr>
          <p:cNvPr id="22" name="Text 20"/>
          <p:cNvSpPr/>
          <p:nvPr/>
        </p:nvSpPr>
        <p:spPr>
          <a:xfrm>
            <a:off x="9784060" y="2258020"/>
            <a:ext cx="149354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0x70 0x05 0x00 → ứng dụng báo đã dừng</a:t>
            </a:r>
            <a:endParaRPr lang="en-US" sz="1200" dirty="0"/>
          </a:p>
        </p:txBody>
      </p:sp>
      <p:sp>
        <p:nvSpPr>
          <p:cNvPr id="23" name="Text 21"/>
          <p:cNvSpPr/>
          <p:nvPr/>
        </p:nvSpPr>
        <p:spPr>
          <a:xfrm>
            <a:off x="812800" y="33196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EMERGENCY không có điều kiện. Đó là lệnh duy nhất luôn có tác dụng.</a:t>
            </a:r>
            <a:endParaRPr lang="en-US" sz="1500" dirty="0"/>
          </a:p>
        </p:txBody>
      </p:sp>
      <p:sp>
        <p:nvSpPr>
          <p:cNvPr id="24" name="Shape 22"/>
          <p:cNvSpPr/>
          <p:nvPr/>
        </p:nvSpPr>
        <p:spPr>
          <a:xfrm>
            <a:off x="812800" y="3840361"/>
            <a:ext cx="10566400" cy="1302941"/>
          </a:xfrm>
          <a:prstGeom prst="roundRect">
            <a:avLst>
              <a:gd name="adj" fmla="val 7798"/>
            </a:avLst>
          </a:prstGeom>
          <a:solidFill>
            <a:srgbClr val="13202E"/>
          </a:solidFill>
          <a:ln/>
        </p:spPr>
      </p:sp>
      <p:sp>
        <p:nvSpPr>
          <p:cNvPr id="25" name="Text 23"/>
          <p:cNvSpPr/>
          <p:nvPr/>
        </p:nvSpPr>
        <p:spPr>
          <a:xfrm>
            <a:off x="1117600" y="4068961"/>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26" name="Text 24"/>
          <p:cNvSpPr/>
          <p:nvPr/>
        </p:nvSpPr>
        <p:spPr>
          <a:xfrm>
            <a:off x="1117600" y="4345781"/>
            <a:ext cx="1025550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Drone ở HOLD trôi về phía tường → chạm hai lần CẮT ĐỘNG CƠ → cánh dừng trong một vòng 4 ms sau khi gói tới.</a:t>
            </a:r>
            <a:endParaRPr lang="en-US" sz="16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125 · Nguồn: flightEmergency(); docs/USER_GUIDE.md</a:t>
            </a:r>
            <a:endParaRPr lang="en-US" sz="12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Vì sao TAKEOFF lặp lại bị bỏ qua</a:t>
            </a:r>
            <a:endParaRPr lang="en-US" sz="3000" dirty="0"/>
          </a:p>
        </p:txBody>
      </p:sp>
      <p:sp>
        <p:nvSpPr>
          <p:cNvPr id="4" name="Text 2"/>
          <p:cNvSpPr/>
          <p:nvPr/>
        </p:nvSpPr>
        <p:spPr>
          <a:xfrm>
            <a:off x="812800" y="1775420"/>
            <a:ext cx="6187430" cy="3549650"/>
          </a:xfrm>
          <a:prstGeom prst="roundRect">
            <a:avLst>
              <a:gd name="adj" fmla="val 286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A retransmitted TAKEOFF must not restart the ramp</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(armed &amp;&amp; flight_mode == MODE_AUTO &amp;&amp;</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(auto_state == AUTO_TAKEOFF || auto_state == AUTO_HOLD))</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true</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8FA3B8"/>
                </a:solidFill>
                <a:latin typeface="JetBrains Mono" pitchFamily="49" charset="0"/>
                <a:ea typeface="JetBrains Mono" pitchFamily="49" charset="-122"/>
                <a:cs typeface="JetBrains Mono" pitchFamily="49" charset="-120"/>
              </a:rPr>
              <a:t>// already done</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Flying in another mode: never ramp from zero</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bool</a:t>
            </a:r>
            <a:r>
              <a:rPr lang="en-US" sz="1500" dirty="0">
                <a:solidFill>
                  <a:srgbClr val="E6EBF0"/>
                </a:solidFill>
                <a:latin typeface="JetBrains Mono" pitchFamily="49" charset="0"/>
                <a:ea typeface="JetBrains Mono" pitchFamily="49" charset="-122"/>
                <a:cs typeface="JetBrains Mono" pitchFamily="49" charset="-120"/>
              </a:rPr>
              <a:t> spinning = motor_rf &gt; 1000 || motor_rr &gt; 1000 || ...;</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if</a:t>
            </a:r>
            <a:r>
              <a:rPr lang="en-US" sz="1500" dirty="0">
                <a:solidFill>
                  <a:srgbClr val="E6EBF0"/>
                </a:solidFill>
                <a:latin typeface="JetBrains Mono" pitchFamily="49" charset="0"/>
                <a:ea typeface="JetBrains Mono" pitchFamily="49" charset="-122"/>
                <a:cs typeface="JetBrains Mono" pitchFamily="49" charset="-120"/>
              </a:rPr>
              <a:t> (armed &amp;&amp; spinning) </a:t>
            </a:r>
            <a:r>
              <a:rPr lang="en-US" sz="1500" dirty="0">
                <a:solidFill>
                  <a:srgbClr val="F29E5C"/>
                </a:solidFill>
                <a:latin typeface="JetBrains Mono" pitchFamily="49" charset="0"/>
                <a:ea typeface="JetBrains Mono" pitchFamily="49" charset="-122"/>
                <a:cs typeface="JetBrains Mono" pitchFamily="49" charset="-120"/>
              </a:rPr>
              <a:t>return</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false</a:t>
            </a:r>
            <a:r>
              <a:rPr lang="en-US" sz="1500" dirty="0">
                <a:solidFill>
                  <a:srgbClr val="E6EBF0"/>
                </a:solidFill>
                <a:latin typeface="JetBrains Mono" pitchFamily="49" charset="0"/>
                <a:ea typeface="JetBrains Mono" pitchFamily="49" charset="-122"/>
                <a:cs typeface="JetBrains Mono" pitchFamily="49" charset="-120"/>
              </a:rPr>
              <a:t>;</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Ứng dụng gửi lại TAKEOFF mỗi 500 ms tới khi thấy xác nhận.</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Nếu mất xác nhận, TAKEOFF thứ hai đến khi đang bay lên.</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Bắt đầu lại dốc sẽ đưa lực đẩy về 0 — và làm rơi drone.</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126 · Nguồn: flightTakeoff()</a:t>
            </a:r>
            <a:endParaRPr lang="en-US" sz="12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CHẾ ĐỘ VÀ AN TOÀN</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An toàn theo lớp</a:t>
            </a:r>
            <a:endParaRPr lang="en-US" sz="3000" dirty="0"/>
          </a:p>
        </p:txBody>
      </p:sp>
      <p:sp>
        <p:nvSpPr>
          <p:cNvPr id="4" name="Text 2"/>
          <p:cNvSpPr/>
          <p:nvPr/>
        </p:nvSpPr>
        <p:spPr>
          <a:xfrm>
            <a:off x="812800" y="1775420"/>
            <a:ext cx="5206238"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Không kiểm tra nào hoàn hảo, nên chúng được xếp chồng.</a:t>
            </a:r>
            <a:endParaRPr lang="en-US" sz="1600" dirty="0"/>
          </a:p>
        </p:txBody>
      </p:sp>
      <p:sp>
        <p:nvSpPr>
          <p:cNvPr id="5" name="Text 3"/>
          <p:cNvSpPr/>
          <p:nvPr/>
        </p:nvSpPr>
        <p:spPr>
          <a:xfrm>
            <a:off x="812800" y="2463701"/>
            <a:ext cx="5206238" cy="2743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Arm</a:t>
            </a:r>
            <a:r>
              <a:rPr lang="en-US" sz="1400" dirty="0">
                <a:solidFill>
                  <a:srgbClr val="13202E"/>
                </a:solidFill>
                <a:latin typeface="IBM Plex Sans" pitchFamily="34" charset="0"/>
                <a:ea typeface="IBM Plex Sans" pitchFamily="34" charset="-122"/>
                <a:cs typeface="IBM Plex Sans" pitchFamily="34" charset="-120"/>
              </a:rPr>
              <a:t>: pin ≥ 3,3 V, thấy ga thấp, ARM chỉ từ nghỉ.</a:t>
            </a:r>
            <a:endParaRPr lang="en-US" sz="1400" dirty="0"/>
          </a:p>
        </p:txBody>
      </p:sp>
      <p:sp>
        <p:nvSpPr>
          <p:cNvPr id="6" name="Text 4"/>
          <p:cNvSpPr/>
          <p:nvPr/>
        </p:nvSpPr>
        <p:spPr>
          <a:xfrm>
            <a:off x="812800" y="2852341"/>
            <a:ext cx="52062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Đầu vào</a:t>
            </a:r>
            <a:r>
              <a:rPr lang="en-US" sz="1400" dirty="0">
                <a:solidFill>
                  <a:srgbClr val="13202E"/>
                </a:solidFill>
                <a:latin typeface="IBM Plex Sans" pitchFamily="34" charset="0"/>
                <a:ea typeface="IBM Plex Sans" pitchFamily="34" charset="-122"/>
                <a:cs typeface="IBM Plex Sans" pitchFamily="34" charset="-120"/>
              </a:rPr>
              <a:t>: checksum, kiểm tra NaN và dải, cờ SBUS.</a:t>
            </a:r>
            <a:endParaRPr lang="en-US" sz="1400" dirty="0"/>
          </a:p>
        </p:txBody>
      </p:sp>
      <p:sp>
        <p:nvSpPr>
          <p:cNvPr id="7" name="Text 5"/>
          <p:cNvSpPr/>
          <p:nvPr/>
        </p:nvSpPr>
        <p:spPr>
          <a:xfrm>
            <a:off x="812800" y="3240881"/>
            <a:ext cx="52062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Trên không</a:t>
            </a:r>
            <a:r>
              <a:rPr lang="en-US" sz="1400" dirty="0">
                <a:solidFill>
                  <a:srgbClr val="13202E"/>
                </a:solidFill>
                <a:latin typeface="IBM Plex Sans" pitchFamily="34" charset="0"/>
                <a:ea typeface="IBM Plex Sans" pitchFamily="34" charset="-122"/>
                <a:cs typeface="IBM Plex Sans" pitchFamily="34" charset="-120"/>
              </a:rPr>
              <a:t>: failsafe 500 ms, thời gian có dấu, tự hạ cánh.</a:t>
            </a:r>
            <a:endParaRPr lang="en-US" sz="1400" dirty="0"/>
          </a:p>
        </p:txBody>
      </p:sp>
      <p:sp>
        <p:nvSpPr>
          <p:cNvPr id="8" name="Text 6"/>
          <p:cNvSpPr/>
          <p:nvPr/>
        </p:nvSpPr>
        <p:spPr>
          <a:xfrm>
            <a:off x="812800" y="3629422"/>
            <a:ext cx="5359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Giới hạn</a:t>
            </a:r>
            <a:r>
              <a:rPr lang="en-US" sz="1400" dirty="0">
                <a:solidFill>
                  <a:srgbClr val="13202E"/>
                </a:solidFill>
                <a:latin typeface="IBM Plex Sans" pitchFamily="34" charset="0"/>
                <a:ea typeface="IBM Plex Sans" pitchFamily="34" charset="-122"/>
                <a:cs typeface="IBM Plex Sans" pitchFamily="34" charset="-120"/>
              </a:rPr>
              <a:t>: nghiêng ±25°, PID ±400, ga 1800, sàn động cơ 1100.</a:t>
            </a:r>
            <a:endParaRPr lang="en-US" sz="1400" dirty="0"/>
          </a:p>
        </p:txBody>
      </p:sp>
      <p:sp>
        <p:nvSpPr>
          <p:cNvPr id="9" name="Text 7"/>
          <p:cNvSpPr/>
          <p:nvPr/>
        </p:nvSpPr>
        <p:spPr>
          <a:xfrm>
            <a:off x="812800" y="4018062"/>
            <a:ext cx="5206238" cy="2743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CẮT ĐỘNG CƠ</a:t>
            </a:r>
            <a:r>
              <a:rPr lang="en-US" sz="1400" dirty="0">
                <a:solidFill>
                  <a:srgbClr val="13202E"/>
                </a:solidFill>
                <a:latin typeface="IBM Plex Sans" pitchFamily="34" charset="0"/>
                <a:ea typeface="IBM Plex Sans" pitchFamily="34" charset="-122"/>
                <a:cs typeface="IBM Plex Sans" pitchFamily="34" charset="-120"/>
              </a:rPr>
              <a:t>: thực hiện ở mọi trạng thái.</a:t>
            </a:r>
            <a:endParaRPr lang="en-US" sz="1400" dirty="0"/>
          </a:p>
        </p:txBody>
      </p:sp>
      <p:sp>
        <p:nvSpPr>
          <p:cNvPr id="10" name="Shape 8"/>
          <p:cNvSpPr/>
          <p:nvPr/>
        </p:nvSpPr>
        <p:spPr>
          <a:xfrm>
            <a:off x="6172200" y="1775420"/>
            <a:ext cx="5207000" cy="3556000"/>
          </a:xfrm>
          <a:prstGeom prst="roundRect">
            <a:avLst>
              <a:gd name="adj" fmla="val 2857"/>
            </a:avLst>
          </a:prstGeom>
          <a:solidFill>
            <a:srgbClr val="FDFCF8"/>
          </a:solidFill>
          <a:ln/>
        </p:spPr>
      </p:sp>
      <p:pic>
        <p:nvPicPr>
          <p:cNvPr id="11" name="Image 0" descr="Hình pho mát Thụy Sĩ: năm lát, mỗi lát có lỗ; mũi tên lỗi đi qua lỗ của ba lát và bị lát thứ tư chặn lại">    </p:cNvPr>
          <p:cNvPicPr>
            <a:picLocks noChangeAspect="1"/>
          </p:cNvPicPr>
          <p:nvPr/>
        </p:nvPicPr>
        <p:blipFill>
          <a:blip r:embed="rId1"/>
          <a:srcRect l="0" r="0" t="0" b="0"/>
          <a:stretch/>
        </p:blipFill>
        <p:spPr>
          <a:xfrm>
            <a:off x="6172200" y="1775420"/>
            <a:ext cx="5207000" cy="3556000"/>
          </a:xfrm>
          <a:prstGeom prst="rect">
            <a:avLst/>
          </a:prstGeom>
        </p:spPr>
      </p:pic>
      <p:sp>
        <p:nvSpPr>
          <p:cNvPr id="12" name="Text 9"/>
          <p:cNvSpPr/>
          <p:nvPr/>
        </p:nvSpPr>
        <p:spPr>
          <a:xfrm>
            <a:off x="6337300" y="473452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Arm</a:t>
            </a:r>
            <a:endParaRPr lang="en-US" sz="1200" dirty="0"/>
          </a:p>
        </p:txBody>
      </p:sp>
      <p:sp>
        <p:nvSpPr>
          <p:cNvPr id="13" name="Text 10"/>
          <p:cNvSpPr/>
          <p:nvPr/>
        </p:nvSpPr>
        <p:spPr>
          <a:xfrm>
            <a:off x="7289800" y="473452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Đầu vào</a:t>
            </a:r>
            <a:endParaRPr lang="en-US" sz="1200" dirty="0"/>
          </a:p>
        </p:txBody>
      </p:sp>
      <p:sp>
        <p:nvSpPr>
          <p:cNvPr id="14" name="Text 11"/>
          <p:cNvSpPr/>
          <p:nvPr/>
        </p:nvSpPr>
        <p:spPr>
          <a:xfrm>
            <a:off x="8242300" y="473452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Trên không</a:t>
            </a:r>
            <a:endParaRPr lang="en-US" sz="1200" dirty="0"/>
          </a:p>
        </p:txBody>
      </p:sp>
      <p:sp>
        <p:nvSpPr>
          <p:cNvPr id="15" name="Text 12"/>
          <p:cNvSpPr/>
          <p:nvPr/>
        </p:nvSpPr>
        <p:spPr>
          <a:xfrm>
            <a:off x="9194800" y="473452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Giới hạn</a:t>
            </a:r>
            <a:endParaRPr lang="en-US" sz="1200" dirty="0"/>
          </a:p>
        </p:txBody>
      </p:sp>
      <p:sp>
        <p:nvSpPr>
          <p:cNvPr id="16" name="Text 13"/>
          <p:cNvSpPr/>
          <p:nvPr/>
        </p:nvSpPr>
        <p:spPr>
          <a:xfrm>
            <a:off x="10147300" y="4734520"/>
            <a:ext cx="965200" cy="215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CẮT</a:t>
            </a:r>
            <a:endParaRPr lang="en-US" sz="1200" dirty="0"/>
          </a:p>
        </p:txBody>
      </p:sp>
      <p:sp>
        <p:nvSpPr>
          <p:cNvPr id="17" name="Text 14"/>
          <p:cNvSpPr/>
          <p:nvPr/>
        </p:nvSpPr>
        <p:spPr>
          <a:xfrm>
            <a:off x="6235700" y="3020020"/>
            <a:ext cx="13208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một lỗi</a:t>
            </a:r>
            <a:endParaRPr lang="en-US" sz="1200" dirty="0"/>
          </a:p>
        </p:txBody>
      </p:sp>
      <p:sp>
        <p:nvSpPr>
          <p:cNvPr id="18" name="Text 15"/>
          <p:cNvSpPr/>
          <p:nvPr/>
        </p:nvSpPr>
        <p:spPr>
          <a:xfrm>
            <a:off x="9728200" y="3489920"/>
            <a:ext cx="157480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bị chặn ở</a:t>
            </a:r>
            <a:endParaRPr lang="en-US" sz="1200" dirty="0"/>
          </a:p>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lớp thứ 4</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Chế độ và an toàn · 127 · Nguồn: Esp32_drone.ino</a:t>
            </a:r>
            <a:endParaRPr lang="en-US" sz="12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CHẾ ĐỘ VÀ AN TOÀN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800"/>
          </a:xfrm>
          <a:prstGeom prst="line">
            <a:avLst/>
          </a:prstGeom>
          <a:noFill/>
          <a:ln w="38100">
            <a:solidFill>
              <a:srgbClr val="F29E5C"/>
            </a:solidFill>
            <a:prstDash val="solid"/>
          </a:ln>
        </p:spPr>
      </p:sp>
      <p:sp>
        <p:nvSpPr>
          <p:cNvPr id="5" name="Text 3"/>
          <p:cNvSpPr/>
          <p:nvPr/>
        </p:nvSpPr>
        <p:spPr>
          <a:xfrm>
            <a:off x="1028700" y="17500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MANUAL cần gói cần mà AUTO chấp nhận mọi lưu lượng?</a:t>
            </a:r>
            <a:endParaRPr lang="en-US" sz="1700" dirty="0"/>
          </a:p>
        </p:txBody>
      </p:sp>
      <p:sp>
        <p:nvSpPr>
          <p:cNvPr id="6" name="Text 4"/>
          <p:cNvSpPr/>
          <p:nvPr/>
        </p:nvSpPr>
        <p:spPr>
          <a:xfrm>
            <a:off x="1028700" y="2068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setpoint ở mỗi chế độ là gì?</a:t>
            </a:r>
            <a:endParaRPr lang="en-US" sz="1350" dirty="0"/>
          </a:p>
        </p:txBody>
      </p:sp>
      <p:sp>
        <p:nvSpPr>
          <p:cNvPr id="7" name="Shape 5"/>
          <p:cNvSpPr/>
          <p:nvPr/>
        </p:nvSpPr>
        <p:spPr>
          <a:xfrm>
            <a:off x="831850" y="2448520"/>
            <a:ext cx="0" cy="558800"/>
          </a:xfrm>
          <a:prstGeom prst="line">
            <a:avLst/>
          </a:prstGeom>
          <a:noFill/>
          <a:ln w="38100">
            <a:solidFill>
              <a:srgbClr val="F29E5C"/>
            </a:solidFill>
            <a:prstDash val="solid"/>
          </a:ln>
        </p:spPr>
      </p:sp>
      <p:sp>
        <p:nvSpPr>
          <p:cNvPr id="8" name="Text 6"/>
          <p:cNvSpPr/>
          <p:nvPr/>
        </p:nvSpPr>
        <p:spPr>
          <a:xfrm>
            <a:off x="1028700" y="24485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so sánh tuổi thời gian bằng số có dấu?</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0 − 1 là bao nhiêu với số 32 bit không dấu?</a:t>
            </a:r>
            <a:endParaRPr lang="en-US" sz="1350" dirty="0"/>
          </a:p>
        </p:txBody>
      </p:sp>
      <p:sp>
        <p:nvSpPr>
          <p:cNvPr id="10" name="Shape 8"/>
          <p:cNvSpPr/>
          <p:nvPr/>
        </p:nvSpPr>
        <p:spPr>
          <a:xfrm>
            <a:off x="831850" y="3146921"/>
            <a:ext cx="0" cy="558701"/>
          </a:xfrm>
          <a:prstGeom prst="line">
            <a:avLst/>
          </a:prstGeom>
          <a:noFill/>
          <a:ln w="38100">
            <a:solidFill>
              <a:srgbClr val="F29E5C"/>
            </a:solidFill>
            <a:prstDash val="solid"/>
          </a:ln>
        </p:spPr>
      </p:sp>
      <p:sp>
        <p:nvSpPr>
          <p:cNvPr id="11" name="Text 9"/>
          <p:cNvSpPr/>
          <p:nvPr/>
        </p:nvSpPr>
        <p:spPr>
          <a:xfrm>
            <a:off x="1028700" y="3146921"/>
            <a:ext cx="10661015" cy="30609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tự hạ cánh ở AUTO nhưng chỉ cảnh báo ở MANUAL?</a:t>
            </a:r>
            <a:endParaRPr lang="en-US" sz="1700" dirty="0"/>
          </a:p>
        </p:txBody>
      </p:sp>
      <p:sp>
        <p:nvSpPr>
          <p:cNvPr id="12" name="Text 10"/>
          <p:cNvSpPr/>
          <p:nvPr/>
        </p:nvSpPr>
        <p:spPr>
          <a:xfrm>
            <a:off x="1028700" y="3465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ai đang lái trong mỗi trường hợp?</a:t>
            </a:r>
            <a:endParaRPr lang="en-US" sz="1350" dirty="0"/>
          </a:p>
        </p:txBody>
      </p:sp>
      <p:sp>
        <p:nvSpPr>
          <p:cNvPr id="13" name="Shape 11"/>
          <p:cNvSpPr/>
          <p:nvPr/>
        </p:nvSpPr>
        <p:spPr>
          <a:xfrm>
            <a:off x="831850" y="3845322"/>
            <a:ext cx="0" cy="558800"/>
          </a:xfrm>
          <a:prstGeom prst="line">
            <a:avLst/>
          </a:prstGeom>
          <a:noFill/>
          <a:ln w="38100">
            <a:solidFill>
              <a:srgbClr val="F29E5C"/>
            </a:solidFill>
            <a:prstDash val="solid"/>
          </a:ln>
        </p:spPr>
      </p:sp>
      <p:sp>
        <p:nvSpPr>
          <p:cNvPr id="14" name="Text 12"/>
          <p:cNvSpPr/>
          <p:nvPr/>
        </p:nvSpPr>
        <p:spPr>
          <a:xfrm>
            <a:off x="1028700" y="3845322"/>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EMERGENCY là lệnh duy nhất không có điều kiện?</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bao giờ bạn muốn nó bị từ chối?</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Chế độ và an toàn · 128</a:t>
            </a:r>
            <a:endParaRPr lang="en-US" sz="12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10</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Dẫn đường</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Bay về phía điện thoại khi trên drone không có GPS — và trung thực về độ trôi.</a:t>
            </a:r>
            <a:endParaRPr lang="en-US" sz="20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Ước tính vị trí (dead reckoning): đoán vị trí từ chuyển động</a:t>
            </a:r>
            <a:endParaRPr lang="en-US" sz="3000" dirty="0"/>
          </a:p>
        </p:txBody>
      </p:sp>
      <p:sp>
        <p:nvSpPr>
          <p:cNvPr id="4" name="Text 2"/>
          <p:cNvSpPr/>
          <p:nvPr/>
        </p:nvSpPr>
        <p:spPr>
          <a:xfrm>
            <a:off x="812800" y="1775420"/>
            <a:ext cx="108833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3202E"/>
                </a:solidFill>
                <a:latin typeface="IBM Plex Sans" pitchFamily="34" charset="0"/>
                <a:ea typeface="IBM Plex Sans" pitchFamily="34" charset="-122"/>
                <a:cs typeface="IBM Plex Sans" pitchFamily="34" charset="-120"/>
              </a:rPr>
              <a:t>Điện thoại biết nó ở đâu (GPS). Drone chỉ biết nó đã tăng tốc thế nào.</a:t>
            </a:r>
            <a:endParaRPr lang="en-US" sz="1700" dirty="0"/>
          </a:p>
        </p:txBody>
      </p:sp>
      <p:sp>
        <p:nvSpPr>
          <p:cNvPr id="5" name="Shape 3"/>
          <p:cNvSpPr/>
          <p:nvPr/>
        </p:nvSpPr>
        <p:spPr>
          <a:xfrm>
            <a:off x="819150" y="2337991"/>
            <a:ext cx="3390900" cy="1567061"/>
          </a:xfrm>
          <a:prstGeom prst="roundRect">
            <a:avLst>
              <a:gd name="adj" fmla="val 6078"/>
            </a:avLst>
          </a:prstGeom>
          <a:solidFill>
            <a:srgbClr val="FDFCF8"/>
          </a:solidFill>
          <a:ln w="12700">
            <a:solidFill>
              <a:srgbClr val="E2DFD6"/>
            </a:solidFill>
            <a:prstDash val="solid"/>
          </a:ln>
        </p:spPr>
      </p:sp>
      <p:sp>
        <p:nvSpPr>
          <p:cNvPr id="6" name="Text 4"/>
          <p:cNvSpPr/>
          <p:nvPr/>
        </p:nvSpPr>
        <p:spPr>
          <a:xfrm>
            <a:off x="1079500" y="257294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Điện thoại</a:t>
            </a:r>
            <a:endParaRPr lang="en-US" sz="1800" dirty="0"/>
          </a:p>
        </p:txBody>
      </p:sp>
      <p:sp>
        <p:nvSpPr>
          <p:cNvPr id="7" name="Text 5"/>
          <p:cNvSpPr/>
          <p:nvPr/>
        </p:nvSpPr>
        <p:spPr>
          <a:xfrm>
            <a:off x="1079500" y="2923381"/>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Tính mục tiêu theo số mét về phía bắc và phía đông so với điểm cất cánh, rồi gửi đi.</a:t>
            </a:r>
            <a:endParaRPr lang="en-US" sz="1400" dirty="0"/>
          </a:p>
        </p:txBody>
      </p:sp>
      <p:sp>
        <p:nvSpPr>
          <p:cNvPr id="8" name="Shape 6"/>
          <p:cNvSpPr/>
          <p:nvPr/>
        </p:nvSpPr>
        <p:spPr>
          <a:xfrm>
            <a:off x="4400550" y="2337991"/>
            <a:ext cx="3390900" cy="1567061"/>
          </a:xfrm>
          <a:prstGeom prst="roundRect">
            <a:avLst>
              <a:gd name="adj" fmla="val 6078"/>
            </a:avLst>
          </a:prstGeom>
          <a:solidFill>
            <a:srgbClr val="FDFCF8"/>
          </a:solidFill>
          <a:ln w="12700">
            <a:solidFill>
              <a:srgbClr val="E2DFD6"/>
            </a:solidFill>
            <a:prstDash val="solid"/>
          </a:ln>
        </p:spPr>
      </p:sp>
      <p:sp>
        <p:nvSpPr>
          <p:cNvPr id="9" name="Text 7"/>
          <p:cNvSpPr/>
          <p:nvPr/>
        </p:nvSpPr>
        <p:spPr>
          <a:xfrm>
            <a:off x="4660900" y="257294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Drone</a:t>
            </a:r>
            <a:endParaRPr lang="en-US" sz="1800" dirty="0"/>
          </a:p>
        </p:txBody>
      </p:sp>
      <p:sp>
        <p:nvSpPr>
          <p:cNvPr id="10" name="Text 8"/>
          <p:cNvSpPr/>
          <p:nvPr/>
        </p:nvSpPr>
        <p:spPr>
          <a:xfrm>
            <a:off x="4660900" y="292338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Cộng dồn gia tốc của chính nó để đoán đã đi bao xa từ lúc cất cánh.</a:t>
            </a:r>
            <a:endParaRPr lang="en-US" sz="1400" dirty="0"/>
          </a:p>
        </p:txBody>
      </p:sp>
      <p:sp>
        <p:nvSpPr>
          <p:cNvPr id="11" name="Shape 9"/>
          <p:cNvSpPr/>
          <p:nvPr/>
        </p:nvSpPr>
        <p:spPr>
          <a:xfrm>
            <a:off x="7981950" y="2337991"/>
            <a:ext cx="3390900" cy="1567061"/>
          </a:xfrm>
          <a:prstGeom prst="roundRect">
            <a:avLst>
              <a:gd name="adj" fmla="val 6078"/>
            </a:avLst>
          </a:prstGeom>
          <a:solidFill>
            <a:srgbClr val="FDFCF8"/>
          </a:solidFill>
          <a:ln w="12700">
            <a:solidFill>
              <a:srgbClr val="E2DFD6"/>
            </a:solidFill>
            <a:prstDash val="solid"/>
          </a:ln>
        </p:spPr>
      </p:sp>
      <p:sp>
        <p:nvSpPr>
          <p:cNvPr id="12" name="Text 10"/>
          <p:cNvSpPr/>
          <p:nvPr/>
        </p:nvSpPr>
        <p:spPr>
          <a:xfrm>
            <a:off x="8242300" y="2572941"/>
            <a:ext cx="2956306"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02E"/>
                </a:solidFill>
                <a:latin typeface="IBM Plex Sans" pitchFamily="34" charset="0"/>
                <a:ea typeface="IBM Plex Sans" pitchFamily="34" charset="-122"/>
                <a:cs typeface="IBM Plex Sans" pitchFamily="34" charset="-120"/>
              </a:rPr>
              <a:t>Bộ điều khiển</a:t>
            </a:r>
            <a:endParaRPr lang="en-US" sz="1800" dirty="0"/>
          </a:p>
        </p:txBody>
      </p:sp>
      <p:sp>
        <p:nvSpPr>
          <p:cNvPr id="13" name="Text 11"/>
          <p:cNvSpPr/>
          <p:nvPr/>
        </p:nvSpPr>
        <p:spPr>
          <a:xfrm>
            <a:off x="8242300" y="2923381"/>
            <a:ext cx="295630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Nghiêng về phía chênh lệch giữa mục tiêu và vị trí đoán.</a:t>
            </a:r>
            <a:endParaRPr lang="en-US" sz="1400" dirty="0"/>
          </a:p>
        </p:txBody>
      </p:sp>
      <p:sp>
        <p:nvSpPr>
          <p:cNvPr id="14" name="Shape 12"/>
          <p:cNvSpPr/>
          <p:nvPr/>
        </p:nvSpPr>
        <p:spPr>
          <a:xfrm>
            <a:off x="812800" y="4165402"/>
            <a:ext cx="10566400" cy="1018480"/>
          </a:xfrm>
          <a:prstGeom prst="roundRect">
            <a:avLst>
              <a:gd name="adj" fmla="val 9976"/>
            </a:avLst>
          </a:prstGeom>
          <a:solidFill>
            <a:srgbClr val="13202E"/>
          </a:solidFill>
          <a:ln/>
        </p:spPr>
      </p:sp>
      <p:sp>
        <p:nvSpPr>
          <p:cNvPr id="15" name="Text 13"/>
          <p:cNvSpPr/>
          <p:nvPr/>
        </p:nvSpPr>
        <p:spPr>
          <a:xfrm>
            <a:off x="1117600" y="4394002"/>
            <a:ext cx="1025550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6" name="Text 14"/>
          <p:cNvSpPr/>
          <p:nvPr/>
        </p:nvSpPr>
        <p:spPr>
          <a:xfrm>
            <a:off x="1117600" y="4670822"/>
            <a:ext cx="1025550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5F0"/>
                </a:solidFill>
                <a:latin typeface="IBM Plex Sans" pitchFamily="34" charset="0"/>
                <a:ea typeface="IBM Plex Sans" pitchFamily="34" charset="-122"/>
                <a:cs typeface="IBM Plex Sans" pitchFamily="34" charset="-120"/>
              </a:rPr>
              <a:t>Đi qua căn phòng tối bằng cách đếm bước: ổn cho vài mét, lệch nhiều sau quãng dài.</a:t>
            </a:r>
            <a:endParaRPr lang="en-US" sz="16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130 · Nguồn: chú thích phần NAVIGATION</a:t>
            </a:r>
            <a:endParaRPr lang="en-US" sz="120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Gia tốc → vận tốc → vị trí</a:t>
            </a:r>
            <a:endParaRPr lang="en-US" sz="3000" dirty="0"/>
          </a:p>
        </p:txBody>
      </p:sp>
      <p:sp>
        <p:nvSpPr>
          <p:cNvPr id="4" name="Text 2"/>
          <p:cNvSpPr/>
          <p:nvPr/>
        </p:nvSpPr>
        <p:spPr>
          <a:xfrm>
            <a:off x="812800" y="1775420"/>
            <a:ext cx="5206238"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Gia tốc → vận tốc → vị trí, và độ trôi đi kèm.</a:t>
            </a:r>
            <a:endParaRPr lang="en-US" sz="1600" dirty="0"/>
          </a:p>
        </p:txBody>
      </p:sp>
      <p:sp>
        <p:nvSpPr>
          <p:cNvPr id="5" name="Text 3"/>
          <p:cNvSpPr/>
          <p:nvPr/>
        </p:nvSpPr>
        <p:spPr>
          <a:xfrm>
            <a:off x="812800" y="218936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Gia tốc kế → bỏ trọng lực → xoay → tích phân ra vận tốc → tích phân ra vị trí.</a:t>
            </a:r>
            <a:endParaRPr lang="en-US" sz="1400" dirty="0"/>
          </a:p>
        </p:txBody>
      </p:sp>
      <p:sp>
        <p:nvSpPr>
          <p:cNvPr id="6" name="Text 4"/>
          <p:cNvSpPr/>
          <p:nvPr/>
        </p:nvSpPr>
        <p:spPr>
          <a:xfrm>
            <a:off x="812800" y="282694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Mỗi lần tích phân cộng dồn sai số nhỏ: độ lệch nhỏ tăng theo </a:t>
            </a:r>
            <a:r>
              <a:rPr lang="en-US" sz="1400" b="1" dirty="0">
                <a:solidFill>
                  <a:srgbClr val="13202E"/>
                </a:solidFill>
                <a:latin typeface="IBM Plex Sans" pitchFamily="34" charset="0"/>
                <a:ea typeface="IBM Plex Sans" pitchFamily="34" charset="-122"/>
                <a:cs typeface="IBM Plex Sans" pitchFamily="34" charset="-120"/>
              </a:rPr>
              <a:t>bình phương thời gian</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7" name="Text 5"/>
          <p:cNvSpPr/>
          <p:nvPr/>
        </p:nvSpPr>
        <p:spPr>
          <a:xfrm>
            <a:off x="812800" y="3464322"/>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Ba cách sửa: rò rỉ vận tốc, đặt vận tốc 0 khi giữ yên, đặt lại khi cất cánh.</a:t>
            </a:r>
            <a:endParaRPr lang="en-US" sz="1400" dirty="0"/>
          </a:p>
        </p:txBody>
      </p:sp>
      <p:sp>
        <p:nvSpPr>
          <p:cNvPr id="8" name="Shape 6"/>
          <p:cNvSpPr/>
          <p:nvPr/>
        </p:nvSpPr>
        <p:spPr>
          <a:xfrm>
            <a:off x="812800" y="4101902"/>
            <a:ext cx="5054600" cy="1031180"/>
          </a:xfrm>
          <a:prstGeom prst="roundRect">
            <a:avLst>
              <a:gd name="adj" fmla="val 9853"/>
            </a:avLst>
          </a:prstGeom>
          <a:solidFill>
            <a:srgbClr val="13202E"/>
          </a:solidFill>
          <a:ln/>
        </p:spPr>
      </p:sp>
      <p:sp>
        <p:nvSpPr>
          <p:cNvPr id="9" name="Text 7"/>
          <p:cNvSpPr/>
          <p:nvPr/>
        </p:nvSpPr>
        <p:spPr>
          <a:xfrm>
            <a:off x="1016000" y="425430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51842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Độ lệch 0,01 m/s² → ½ × 0,01 × 60² = 18 m sau một phút nếu không rò rỉ. (Khoảng giữ yên là minh họa.)</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sai số vị trí trong 60 giây: không rò rỉ tăng tới 18 mét; có rò rỉ khoảng 1,2 mét; có đặt 0 khi giữ yên thì gần 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4" name="Text 11"/>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sai số vị trí (m)</a:t>
            </a:r>
            <a:endParaRPr lang="en-US" sz="1200" dirty="0"/>
          </a:p>
        </p:txBody>
      </p:sp>
      <p:sp>
        <p:nvSpPr>
          <p:cNvPr id="15" name="Text 12"/>
          <p:cNvSpPr/>
          <p:nvPr/>
        </p:nvSpPr>
        <p:spPr>
          <a:xfrm>
            <a:off x="8902700" y="2219920"/>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42318"/>
                </a:solidFill>
                <a:latin typeface="IBM Plex Sans" pitchFamily="34" charset="0"/>
                <a:ea typeface="IBM Plex Sans" pitchFamily="34" charset="-122"/>
                <a:cs typeface="IBM Plex Sans" pitchFamily="34" charset="-120"/>
              </a:rPr>
              <a:t>không rò rỉ: </a:t>
            </a:r>
            <a:r>
              <a:rPr lang="en-US" sz="1200" b="1" dirty="0">
                <a:solidFill>
                  <a:srgbClr val="B42318"/>
                </a:solidFill>
                <a:latin typeface="IBM Plex Sans" pitchFamily="34" charset="0"/>
                <a:ea typeface="IBM Plex Sans" pitchFamily="34" charset="-122"/>
                <a:cs typeface="IBM Plex Sans" pitchFamily="34" charset="-120"/>
              </a:rPr>
              <a:t>18 m</a:t>
            </a:r>
            <a:r>
              <a:rPr lang="en-US" sz="1200" b="1" dirty="0">
                <a:solidFill>
                  <a:srgbClr val="B42318"/>
                </a:solidFill>
                <a:latin typeface="IBM Plex Sans" pitchFamily="34" charset="0"/>
                <a:ea typeface="IBM Plex Sans" pitchFamily="34" charset="-122"/>
                <a:cs typeface="IBM Plex Sans" pitchFamily="34" charset="-120"/>
              </a:rPr>
              <a:t> sau 60 s</a:t>
            </a:r>
            <a:endParaRPr lang="en-US" sz="1200" dirty="0"/>
          </a:p>
        </p:txBody>
      </p:sp>
      <p:sp>
        <p:nvSpPr>
          <p:cNvPr id="16" name="Text 13"/>
          <p:cNvSpPr/>
          <p:nvPr/>
        </p:nvSpPr>
        <p:spPr>
          <a:xfrm>
            <a:off x="9220200" y="4290020"/>
            <a:ext cx="196215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5501A"/>
                </a:solidFill>
                <a:latin typeface="IBM Plex Sans" pitchFamily="34" charset="0"/>
                <a:ea typeface="IBM Plex Sans" pitchFamily="34" charset="-122"/>
                <a:cs typeface="IBM Plex Sans" pitchFamily="34" charset="-120"/>
              </a:rPr>
              <a:t>có rò rỉ: ≈ 1,2 m</a:t>
            </a:r>
            <a:endParaRPr lang="en-US" sz="1200" dirty="0"/>
          </a:p>
        </p:txBody>
      </p:sp>
      <p:sp>
        <p:nvSpPr>
          <p:cNvPr id="17" name="Text 14"/>
          <p:cNvSpPr/>
          <p:nvPr/>
        </p:nvSpPr>
        <p:spPr>
          <a:xfrm>
            <a:off x="6870700" y="3680420"/>
            <a:ext cx="23545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7A4D"/>
                </a:solidFill>
                <a:latin typeface="IBM Plex Sans" pitchFamily="34" charset="0"/>
                <a:ea typeface="IBM Plex Sans" pitchFamily="34" charset="-122"/>
                <a:cs typeface="IBM Plex Sans" pitchFamily="34" charset="-120"/>
              </a:rPr>
              <a:t>xanh lá, sát đáy: rò rỉ + đặt 0 khi giữ yên</a:t>
            </a:r>
            <a:endParaRPr lang="en-US" sz="12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131 · Nguồn: navUpdate()</a:t>
            </a:r>
            <a:endParaRPr lang="en-US" sz="12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8402"/>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DẪN ĐƯỜNG</a:t>
            </a:r>
            <a:endParaRPr lang="en-US" sz="1159" dirty="0"/>
          </a:p>
        </p:txBody>
      </p:sp>
      <p:sp>
        <p:nvSpPr>
          <p:cNvPr id="3" name="Text 1"/>
          <p:cNvSpPr/>
          <p:nvPr>
            <p:ph type="title"/>
          </p:nvPr>
        </p:nvSpPr>
        <p:spPr>
          <a:xfrm>
            <a:off x="812800" y="1092002"/>
            <a:ext cx="10883392" cy="424160"/>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Bỏ trọng lực</a:t>
            </a:r>
            <a:endParaRPr lang="en-US" sz="2878" dirty="0"/>
          </a:p>
        </p:txBody>
      </p:sp>
      <p:sp>
        <p:nvSpPr>
          <p:cNvPr id="4" name="Text 2"/>
          <p:cNvSpPr/>
          <p:nvPr/>
        </p:nvSpPr>
        <p:spPr>
          <a:xfrm>
            <a:off x="812800" y="1744663"/>
            <a:ext cx="6187430" cy="2978150"/>
          </a:xfrm>
          <a:prstGeom prst="roundRect">
            <a:avLst>
              <a:gd name="adj" fmla="val 3412"/>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const</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ax_b = raw_ax / NAV_ACC_LSB_PER_G * G;   </a:t>
            </a:r>
            <a:r>
              <a:rPr lang="en-US" sz="1500" dirty="0">
                <a:solidFill>
                  <a:srgbClr val="8FA3B8"/>
                </a:solidFill>
                <a:latin typeface="JetBrains Mono" pitchFamily="49" charset="0"/>
                <a:ea typeface="JetBrains Mono" pitchFamily="49" charset="-122"/>
                <a:cs typeface="JetBrains Mono" pitchFamily="49" charset="-120"/>
              </a:rPr>
              <a:t>// m/s²</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const</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ay_b = raw_ay / NAV_ACC_LSB_PER_G * G;</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gravity seen by the tilted sensor</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const</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gx_g = -G * sin(roll) * cos(pitch);</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const</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gy_g = +G * sin(pitch);</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fwd  = (ay_b - gy_g) * NAV_FWD_SIGN;</a:t>
            </a:r>
            <a:endParaRPr lang="en-US" sz="1500" dirty="0"/>
          </a:p>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left = (ax_b - gx_g) * NAV_LEFT_SIGN;</a:t>
            </a:r>
            <a:endParaRPr lang="en-US" sz="1500" dirty="0"/>
          </a:p>
        </p:txBody>
      </p:sp>
      <p:sp>
        <p:nvSpPr>
          <p:cNvPr id="5" name="Text 3"/>
          <p:cNvSpPr/>
          <p:nvPr/>
        </p:nvSpPr>
        <p:spPr>
          <a:xfrm>
            <a:off x="7254230" y="1744663"/>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 nghiêng cảm nhận một phần trọng lực trên các trục ngang, kể cả khi đứng yên.</a:t>
            </a:r>
            <a:endParaRPr lang="en-US" sz="1450" dirty="0"/>
          </a:p>
        </p:txBody>
      </p:sp>
      <p:sp>
        <p:nvSpPr>
          <p:cNvPr id="6" name="Text 4"/>
          <p:cNvSpPr/>
          <p:nvPr/>
        </p:nvSpPr>
        <p:spPr>
          <a:xfrm>
            <a:off x="7254230" y="2387203"/>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Góc nghiêng từ phần 5 cho biết bao nhiêu; trừ nó đi.</a:t>
            </a:r>
            <a:endParaRPr lang="en-US" sz="1450" dirty="0"/>
          </a:p>
        </p:txBody>
      </p:sp>
      <p:sp>
        <p:nvSpPr>
          <p:cNvPr id="7" name="Text 5"/>
          <p:cNvSpPr/>
          <p:nvPr/>
        </p:nvSpPr>
        <p:spPr>
          <a:xfrm>
            <a:off x="7254230" y="3029744"/>
            <a:ext cx="4248719" cy="283170"/>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Phần còn lại là gia tốc ngang thật.</a:t>
            </a:r>
            <a:endParaRPr lang="en-US" sz="1450" dirty="0"/>
          </a:p>
        </p:txBody>
      </p:sp>
      <p:sp>
        <p:nvSpPr>
          <p:cNvPr id="8" name="Shape 6"/>
          <p:cNvSpPr/>
          <p:nvPr/>
        </p:nvSpPr>
        <p:spPr>
          <a:xfrm>
            <a:off x="812800" y="4847828"/>
            <a:ext cx="10566400" cy="994172"/>
          </a:xfrm>
          <a:prstGeom prst="roundRect">
            <a:avLst>
              <a:gd name="adj" fmla="val 10220"/>
            </a:avLst>
          </a:prstGeom>
          <a:solidFill>
            <a:srgbClr val="13202E"/>
          </a:solidFill>
          <a:ln/>
        </p:spPr>
      </p:sp>
      <p:sp>
        <p:nvSpPr>
          <p:cNvPr id="9" name="Text 7"/>
          <p:cNvSpPr/>
          <p:nvPr/>
        </p:nvSpPr>
        <p:spPr>
          <a:xfrm>
            <a:off x="1117600" y="5076428"/>
            <a:ext cx="10255504" cy="228302"/>
          </a:xfrm>
          <a:prstGeom prst="rect">
            <a:avLst/>
          </a:prstGeom>
          <a:noFill/>
          <a:ln/>
        </p:spPr>
        <p:txBody>
          <a:bodyPr wrap="square" lIns="0" tIns="0" rIns="0" bIns="0" rtlCol="0" anchor="t">
            <a:normAutofit/>
          </a:bodyPr>
          <a:lstStyle/>
          <a:p>
            <a:pPr algn="l" indent="0" marL="0">
              <a:lnSpc>
                <a:spcPts val="1622"/>
              </a:lnSpc>
              <a:buNone/>
            </a:pPr>
            <a:r>
              <a:rPr lang="en-US" sz="1159" b="1" spc="100" kern="0" dirty="0">
                <a:solidFill>
                  <a:srgbClr val="F29E5C"/>
                </a:solidFill>
                <a:latin typeface="IBM Plex Sans" pitchFamily="34" charset="0"/>
                <a:ea typeface="IBM Plex Sans" pitchFamily="34" charset="-122"/>
                <a:cs typeface="IBM Plex Sans" pitchFamily="34" charset="-120"/>
              </a:rPr>
              <a:t>VÍ DỤ</a:t>
            </a:r>
            <a:endParaRPr lang="en-US" sz="1159" dirty="0"/>
          </a:p>
        </p:txBody>
      </p:sp>
      <p:sp>
        <p:nvSpPr>
          <p:cNvPr id="10" name="Text 8"/>
          <p:cNvSpPr/>
          <p:nvPr/>
        </p:nvSpPr>
        <p:spPr>
          <a:xfrm>
            <a:off x="1117600" y="5342830"/>
            <a:ext cx="10255504" cy="295970"/>
          </a:xfrm>
          <a:prstGeom prst="rect">
            <a:avLst/>
          </a:prstGeom>
          <a:noFill/>
          <a:ln/>
        </p:spPr>
        <p:txBody>
          <a:bodyPr wrap="square" lIns="0" tIns="0" rIns="0" bIns="0" rtlCol="0" anchor="t">
            <a:normAutofit/>
          </a:bodyPr>
          <a:lstStyle/>
          <a:p>
            <a:pPr algn="l" indent="0" marL="0">
              <a:lnSpc>
                <a:spcPts val="2170"/>
              </a:lnSpc>
              <a:buNone/>
            </a:pPr>
            <a:r>
              <a:rPr lang="en-US" sz="1550" dirty="0">
                <a:solidFill>
                  <a:srgbClr val="F6F5F0"/>
                </a:solidFill>
                <a:latin typeface="IBM Plex Sans" pitchFamily="34" charset="0"/>
                <a:ea typeface="IBM Plex Sans" pitchFamily="34" charset="-122"/>
                <a:cs typeface="IBM Plex Sans" pitchFamily="34" charset="-120"/>
              </a:rPr>
              <a:t>Chúc 5° về trước, không di chuyển: ay_b ≈ 9,81 × sin 5° = 0,85 m/s². Trừ gy_g = 0,85 → fwd = 0.</a:t>
            </a:r>
            <a:endParaRPr lang="en-US" sz="155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132 · Nguồn: navUpdate()</a:t>
            </a:r>
            <a:endParaRPr lang="en-US" sz="120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Lỗi thật: hệ số tỷ lệ gia tốc kế</a:t>
            </a:r>
            <a:endParaRPr lang="en-US" sz="3000" dirty="0"/>
          </a:p>
        </p:txBody>
      </p:sp>
      <p:sp>
        <p:nvSpPr>
          <p:cNvPr id="4" name="Text 2"/>
          <p:cNvSpPr/>
          <p:nvPr/>
        </p:nvSpPr>
        <p:spPr>
          <a:xfrm>
            <a:off x="812800" y="177542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3202E"/>
                </a:solidFill>
                <a:latin typeface="IBM Plex Sans" pitchFamily="34" charset="0"/>
                <a:ea typeface="IBM Plex Sans" pitchFamily="34" charset="-122"/>
                <a:cs typeface="IBM Plex Sans" pitchFamily="34" charset="-120"/>
              </a:rPr>
              <a:t>Hai con số, cách nhau 1.800 dòng, phải khớp nhau. Chúng đã không khớp.</a:t>
            </a:r>
            <a:endParaRPr lang="en-US" sz="1600" dirty="0"/>
          </a:p>
        </p:txBody>
      </p:sp>
      <p:sp>
        <p:nvSpPr>
          <p:cNvPr id="5" name="Shape 3"/>
          <p:cNvSpPr/>
          <p:nvPr/>
        </p:nvSpPr>
        <p:spPr>
          <a:xfrm>
            <a:off x="819150" y="2320230"/>
            <a:ext cx="5168900" cy="1983581"/>
          </a:xfrm>
          <a:prstGeom prst="roundRect">
            <a:avLst>
              <a:gd name="adj" fmla="val 4802"/>
            </a:avLst>
          </a:prstGeom>
          <a:solidFill>
            <a:srgbClr val="FDFCF8"/>
          </a:solidFill>
          <a:ln w="12700">
            <a:solidFill>
              <a:srgbClr val="E2DFD6"/>
            </a:solidFill>
            <a:prstDash val="solid"/>
          </a:ln>
        </p:spPr>
      </p:sp>
      <p:sp>
        <p:nvSpPr>
          <p:cNvPr id="6" name="Text 4"/>
          <p:cNvSpPr/>
          <p:nvPr/>
        </p:nvSpPr>
        <p:spPr>
          <a:xfrm>
            <a:off x="10795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B42318"/>
                </a:solidFill>
                <a:latin typeface="IBM Plex Sans" pitchFamily="34" charset="0"/>
                <a:ea typeface="IBM Plex Sans" pitchFamily="34" charset="-122"/>
                <a:cs typeface="IBM Plex Sans" pitchFamily="34" charset="-120"/>
              </a:rPr>
              <a:t>Trước (lỗi)</a:t>
            </a:r>
            <a:endParaRPr lang="en-US" sz="1900" dirty="0"/>
          </a:p>
        </p:txBody>
      </p:sp>
      <p:sp>
        <p:nvSpPr>
          <p:cNvPr id="7" name="Text 5"/>
          <p:cNvSpPr/>
          <p:nvPr/>
        </p:nvSpPr>
        <p:spPr>
          <a:xfrm>
            <a:off x="1079500" y="2920901"/>
            <a:ext cx="4787646" cy="2743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NAV_ACC_LSB_PER_G = 16384 (thang ±2 g)</a:t>
            </a:r>
            <a:endParaRPr lang="en-US" sz="1400" dirty="0"/>
          </a:p>
        </p:txBody>
      </p:sp>
      <p:sp>
        <p:nvSpPr>
          <p:cNvPr id="8" name="Text 6"/>
          <p:cNvSpPr/>
          <p:nvPr/>
        </p:nvSpPr>
        <p:spPr>
          <a:xfrm>
            <a:off x="1079500" y="3246041"/>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Cảm biến thực ra đặt ±8 g (4096 mỗi g)</a:t>
            </a:r>
            <a:endParaRPr lang="en-US" sz="1400" dirty="0"/>
          </a:p>
        </p:txBody>
      </p:sp>
      <p:sp>
        <p:nvSpPr>
          <p:cNvPr id="9" name="Text 7"/>
          <p:cNvSpPr/>
          <p:nvPr/>
        </p:nvSpPr>
        <p:spPr>
          <a:xfrm>
            <a:off x="1079500" y="3571081"/>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Mọi gia tốc đọc nhỏ đi 4 lần → vị trí nhỏ đi 4 lần</a:t>
            </a:r>
            <a:endParaRPr lang="en-US" sz="1400" dirty="0"/>
          </a:p>
        </p:txBody>
      </p:sp>
      <p:sp>
        <p:nvSpPr>
          <p:cNvPr id="10" name="Shape 8"/>
          <p:cNvSpPr/>
          <p:nvPr/>
        </p:nvSpPr>
        <p:spPr>
          <a:xfrm>
            <a:off x="6203950" y="2320230"/>
            <a:ext cx="5168900" cy="1983581"/>
          </a:xfrm>
          <a:prstGeom prst="roundRect">
            <a:avLst>
              <a:gd name="adj" fmla="val 4802"/>
            </a:avLst>
          </a:prstGeom>
          <a:solidFill>
            <a:srgbClr val="FDFCF8"/>
          </a:solidFill>
          <a:ln w="12700">
            <a:solidFill>
              <a:srgbClr val="E2DFD6"/>
            </a:solidFill>
            <a:prstDash val="solid"/>
          </a:ln>
        </p:spPr>
      </p:sp>
      <p:sp>
        <p:nvSpPr>
          <p:cNvPr id="11" name="Text 9"/>
          <p:cNvSpPr/>
          <p:nvPr/>
        </p:nvSpPr>
        <p:spPr>
          <a:xfrm>
            <a:off x="6464300" y="2555180"/>
            <a:ext cx="478764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F7A4D"/>
                </a:solidFill>
                <a:latin typeface="IBM Plex Sans" pitchFamily="34" charset="0"/>
                <a:ea typeface="IBM Plex Sans" pitchFamily="34" charset="-122"/>
                <a:cs typeface="IBM Plex Sans" pitchFamily="34" charset="-120"/>
              </a:rPr>
              <a:t>Sau (đã sửa)</a:t>
            </a:r>
            <a:endParaRPr lang="en-US" sz="1900" dirty="0"/>
          </a:p>
        </p:txBody>
      </p:sp>
      <p:sp>
        <p:nvSpPr>
          <p:cNvPr id="12" name="Text 10"/>
          <p:cNvSpPr/>
          <p:nvPr/>
        </p:nvSpPr>
        <p:spPr>
          <a:xfrm>
            <a:off x="6464300" y="2920901"/>
            <a:ext cx="4787646" cy="2743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NAV_ACC_LSB_PER_G = 4096</a:t>
            </a:r>
            <a:endParaRPr lang="en-US" sz="1400" dirty="0"/>
          </a:p>
        </p:txBody>
      </p:sp>
      <p:sp>
        <p:nvSpPr>
          <p:cNvPr id="13" name="Text 11"/>
          <p:cNvSpPr/>
          <p:nvPr/>
        </p:nvSpPr>
        <p:spPr>
          <a:xfrm>
            <a:off x="6464300" y="3246041"/>
            <a:ext cx="478764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Chú thích: phải khớp MPU_REG_ACCEL_CFG trong mpuInit()</a:t>
            </a:r>
            <a:endParaRPr lang="en-US" sz="1400" dirty="0"/>
          </a:p>
        </p:txBody>
      </p:sp>
      <p:sp>
        <p:nvSpPr>
          <p:cNvPr id="14" name="Text 12"/>
          <p:cNvSpPr/>
          <p:nvPr/>
        </p:nvSpPr>
        <p:spPr>
          <a:xfrm>
            <a:off x="6464300" y="3819922"/>
            <a:ext cx="478764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run.sh đọc cả hai giá trị và báo lỗi nếu lệch</a:t>
            </a:r>
            <a:endParaRPr lang="en-US" sz="14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133 · Nguồn: #define NAV_ACC_LSB_PER_G; test/run.sh</a:t>
            </a:r>
            <a:endParaRPr lang="en-US" sz="12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Bộ tích phân có rò rỉ</a:t>
            </a:r>
            <a:endParaRPr lang="en-US" sz="3000" dirty="0"/>
          </a:p>
        </p:txBody>
      </p:sp>
      <p:sp>
        <p:nvSpPr>
          <p:cNvPr id="4" name="Text 2"/>
          <p:cNvSpPr/>
          <p:nvPr/>
        </p:nvSpPr>
        <p:spPr>
          <a:xfrm>
            <a:off x="812800" y="1775420"/>
            <a:ext cx="5206238"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Bộ tích phân rò rỉ quên dần vận tốc cũ.</a:t>
            </a:r>
            <a:endParaRPr lang="en-US" sz="1600" dirty="0"/>
          </a:p>
        </p:txBody>
      </p:sp>
      <p:sp>
        <p:nvSpPr>
          <p:cNvPr id="5" name="Text 3"/>
          <p:cNvSpPr/>
          <p:nvPr/>
        </p:nvSpPr>
        <p:spPr>
          <a:xfrm>
            <a:off x="812800" y="218936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Mỗi giây, vận tốc chỉ giữ </a:t>
            </a:r>
            <a:r>
              <a:rPr lang="en-US" sz="1400" b="1" dirty="0">
                <a:solidFill>
                  <a:srgbClr val="13202E"/>
                </a:solidFill>
                <a:latin typeface="IBM Plex Sans" pitchFamily="34" charset="0"/>
                <a:ea typeface="IBM Plex Sans" pitchFamily="34" charset="-122"/>
                <a:cs typeface="IBM Plex Sans" pitchFamily="34" charset="-120"/>
              </a:rPr>
              <a:t>60%</a:t>
            </a:r>
            <a:r>
              <a:rPr lang="en-US" sz="1400" dirty="0">
                <a:solidFill>
                  <a:srgbClr val="13202E"/>
                </a:solidFill>
                <a:latin typeface="IBM Plex Sans" pitchFamily="34" charset="0"/>
                <a:ea typeface="IBM Plex Sans" pitchFamily="34" charset="-122"/>
                <a:cs typeface="IBM Plex Sans" pitchFamily="34" charset="-120"/>
              </a:rPr>
              <a:t> chính nó: độ lệch không thể cộng dồn mãi.</a:t>
            </a:r>
            <a:endParaRPr lang="en-US" sz="1400" dirty="0"/>
          </a:p>
        </p:txBody>
      </p:sp>
      <p:sp>
        <p:nvSpPr>
          <p:cNvPr id="6" name="Text 4"/>
          <p:cNvSpPr/>
          <p:nvPr/>
        </p:nvSpPr>
        <p:spPr>
          <a:xfrm>
            <a:off x="812800" y="2826941"/>
            <a:ext cx="5206238"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powf(0.60, dt)</a:t>
            </a:r>
            <a:r>
              <a:rPr lang="en-US" sz="1400" dirty="0">
                <a:solidFill>
                  <a:srgbClr val="13202E"/>
                </a:solidFill>
                <a:latin typeface="IBM Plex Sans" pitchFamily="34" charset="0"/>
                <a:ea typeface="IBM Plex Sans" pitchFamily="34" charset="-122"/>
                <a:cs typeface="IBM Plex Sans" pitchFamily="34" charset="-120"/>
              </a:rPr>
              <a:t> làm điều đó đúng theo giây bất kể tốc độ vòng (≈ 0,998 mỗi vòng).</a:t>
            </a:r>
            <a:endParaRPr lang="en-US" sz="1400" dirty="0"/>
          </a:p>
        </p:txBody>
      </p:sp>
      <p:sp>
        <p:nvSpPr>
          <p:cNvPr id="7" name="Text 5"/>
          <p:cNvSpPr/>
          <p:nvPr/>
        </p:nvSpPr>
        <p:spPr>
          <a:xfrm>
            <a:off x="812800" y="3464322"/>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Khi giữ yên, vận tốc được đặt về 0 — điều duy nhất drone biết chắc.</a:t>
            </a:r>
            <a:endParaRPr lang="en-US" sz="1400" dirty="0"/>
          </a:p>
        </p:txBody>
      </p:sp>
      <p:sp>
        <p:nvSpPr>
          <p:cNvPr id="8" name="Shape 6"/>
          <p:cNvSpPr/>
          <p:nvPr/>
        </p:nvSpPr>
        <p:spPr>
          <a:xfrm>
            <a:off x="812800" y="4101902"/>
            <a:ext cx="5054600" cy="1031180"/>
          </a:xfrm>
          <a:prstGeom prst="roundRect">
            <a:avLst>
              <a:gd name="adj" fmla="val 9853"/>
            </a:avLst>
          </a:prstGeom>
          <a:solidFill>
            <a:srgbClr val="13202E"/>
          </a:solidFill>
          <a:ln/>
        </p:spPr>
      </p:sp>
      <p:sp>
        <p:nvSpPr>
          <p:cNvPr id="9" name="Text 7"/>
          <p:cNvSpPr/>
          <p:nvPr/>
        </p:nvSpPr>
        <p:spPr>
          <a:xfrm>
            <a:off x="1016000" y="425430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51842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Cái giá: di chuyển đều kéo dài bị ước tính thấp một chút — đánh đổi đúng cho thiết bị chủ yếu lơ lửng.</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Biểu đồ: sai số vận tốc 0,5 mét/giây giảm còn 0,30, 0,18 và 0,11 sau một, hai và ba giây nhờ rò rỉ">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7670800" y="3115270"/>
            <a:ext cx="622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0,30</a:t>
            </a:r>
            <a:endParaRPr lang="en-US" sz="1200" dirty="0"/>
          </a:p>
        </p:txBody>
      </p:sp>
      <p:sp>
        <p:nvSpPr>
          <p:cNvPr id="14" name="Text 11"/>
          <p:cNvSpPr/>
          <p:nvPr/>
        </p:nvSpPr>
        <p:spPr>
          <a:xfrm>
            <a:off x="8547100" y="3661370"/>
            <a:ext cx="622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0,18</a:t>
            </a:r>
            <a:endParaRPr lang="en-US" sz="1200" dirty="0"/>
          </a:p>
        </p:txBody>
      </p:sp>
      <p:sp>
        <p:nvSpPr>
          <p:cNvPr id="15" name="Text 12"/>
          <p:cNvSpPr/>
          <p:nvPr/>
        </p:nvSpPr>
        <p:spPr>
          <a:xfrm>
            <a:off x="9423400" y="3991570"/>
            <a:ext cx="62230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3202E"/>
                </a:solidFill>
                <a:latin typeface="IBM Plex Sans" pitchFamily="34" charset="0"/>
                <a:ea typeface="IBM Plex Sans" pitchFamily="34" charset="-122"/>
                <a:cs typeface="IBM Plex Sans" pitchFamily="34" charset="-120"/>
              </a:rPr>
              <a:t>0,11</a:t>
            </a:r>
            <a:endParaRPr lang="en-US" sz="1200" dirty="0"/>
          </a:p>
        </p:txBody>
      </p:sp>
      <p:sp>
        <p:nvSpPr>
          <p:cNvPr id="16" name="Text 13"/>
          <p:cNvSpPr/>
          <p:nvPr/>
        </p:nvSpPr>
        <p:spPr>
          <a:xfrm>
            <a:off x="9420860" y="4848820"/>
            <a:ext cx="1831340" cy="215900"/>
          </a:xfrm>
          <a:prstGeom prst="rect">
            <a:avLst/>
          </a:prstGeom>
          <a:noFill/>
          <a:ln/>
        </p:spPr>
        <p:txBody>
          <a:bodyPr wrap="square" lIns="0" tIns="0" rIns="0" bIns="0" rtlCol="0" anchor="t">
            <a:normAutofit/>
          </a:bodyPr>
          <a:lstStyle/>
          <a:p>
            <a:pPr algn="r"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thời gian (s) →</a:t>
            </a:r>
            <a:endParaRPr lang="en-US" sz="1200" dirty="0"/>
          </a:p>
        </p:txBody>
      </p:sp>
      <p:sp>
        <p:nvSpPr>
          <p:cNvPr id="17" name="Text 14"/>
          <p:cNvSpPr/>
          <p:nvPr/>
        </p:nvSpPr>
        <p:spPr>
          <a:xfrm>
            <a:off x="6832600" y="1813520"/>
            <a:ext cx="26162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A5568"/>
                </a:solidFill>
                <a:latin typeface="IBM Plex Sans" pitchFamily="34" charset="0"/>
                <a:ea typeface="IBM Plex Sans" pitchFamily="34" charset="-122"/>
                <a:cs typeface="IBM Plex Sans" pitchFamily="34" charset="-120"/>
              </a:rPr>
              <a:t>sai số vận tốc (m/s)</a:t>
            </a:r>
            <a:endParaRPr lang="en-US" sz="1200" dirty="0"/>
          </a:p>
        </p:txBody>
      </p:sp>
      <p:sp>
        <p:nvSpPr>
          <p:cNvPr id="18" name="Text 15"/>
          <p:cNvSpPr/>
          <p:nvPr/>
        </p:nvSpPr>
        <p:spPr>
          <a:xfrm>
            <a:off x="8902700" y="2232620"/>
            <a:ext cx="2158365"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4A5568"/>
                </a:solidFill>
                <a:latin typeface="IBM Plex Sans" pitchFamily="34" charset="0"/>
                <a:ea typeface="IBM Plex Sans" pitchFamily="34" charset="-122"/>
                <a:cs typeface="IBM Plex Sans" pitchFamily="34" charset="-120"/>
              </a:rPr>
              <a:t>không rò rỉ: giữ 0,5</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134 · Nguồn: navUpdate(), biến holding trong loop()</a:t>
            </a:r>
            <a:endParaRPr lang="en-US" sz="12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Hệ tọa độ cất cánh và NAV_CMD_ALIGN</a:t>
            </a:r>
            <a:endParaRPr lang="en-US" sz="3000" dirty="0"/>
          </a:p>
        </p:txBody>
      </p:sp>
      <p:sp>
        <p:nvSpPr>
          <p:cNvPr id="4" name="Text 2"/>
          <p:cNvSpPr/>
          <p:nvPr/>
        </p:nvSpPr>
        <p:spPr>
          <a:xfrm>
            <a:off x="812800" y="1775420"/>
            <a:ext cx="5206238"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3202E"/>
                </a:solidFill>
                <a:latin typeface="IBM Plex Sans" pitchFamily="34" charset="0"/>
                <a:ea typeface="IBM Plex Sans" pitchFamily="34" charset="-122"/>
                <a:cs typeface="IBM Plex Sans" pitchFamily="34" charset="-120"/>
              </a:rPr>
              <a:t>Hệ cất cánh: +x là hướng mũi, +y ở bên trái mũi.</a:t>
            </a:r>
            <a:endParaRPr lang="en-US" sz="1600" dirty="0"/>
          </a:p>
        </p:txBody>
      </p:sp>
      <p:sp>
        <p:nvSpPr>
          <p:cNvPr id="5" name="Text 3"/>
          <p:cNvSpPr/>
          <p:nvPr/>
        </p:nvSpPr>
        <p:spPr>
          <a:xfrm>
            <a:off x="812800" y="218936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Drone không có la bàn: điện thoại gửi hướng mũi lúc cất cánh — </a:t>
            </a:r>
            <a:r>
              <a:rPr lang="en-US" sz="1400" b="1" dirty="0">
                <a:solidFill>
                  <a:srgbClr val="13202E"/>
                </a:solidFill>
                <a:latin typeface="IBM Plex Sans" pitchFamily="34" charset="0"/>
                <a:ea typeface="IBM Plex Sans" pitchFamily="34" charset="-122"/>
                <a:cs typeface="IBM Plex Sans" pitchFamily="34" charset="-120"/>
              </a:rPr>
              <a:t>ALIGN</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2826941"/>
            <a:ext cx="520623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E"/>
                </a:solidFill>
                <a:latin typeface="IBM Plex Sans" pitchFamily="34" charset="0"/>
                <a:ea typeface="IBM Plex Sans" pitchFamily="34" charset="-122"/>
                <a:cs typeface="IBM Plex Sans" pitchFamily="34" charset="-120"/>
              </a:rPr>
              <a:t>Mục tiêu đến dưới dạng mét về </a:t>
            </a:r>
            <a:r>
              <a:rPr lang="en-US" sz="1400" b="1" dirty="0">
                <a:solidFill>
                  <a:srgbClr val="13202E"/>
                </a:solidFill>
                <a:latin typeface="IBM Plex Sans" pitchFamily="34" charset="0"/>
                <a:ea typeface="IBM Plex Sans" pitchFamily="34" charset="-122"/>
                <a:cs typeface="IBM Plex Sans" pitchFamily="34" charset="-120"/>
              </a:rPr>
              <a:t>bắc</a:t>
            </a:r>
            <a:r>
              <a:rPr lang="en-US" sz="1400" dirty="0">
                <a:solidFill>
                  <a:srgbClr val="13202E"/>
                </a:solidFill>
                <a:latin typeface="IBM Plex Sans" pitchFamily="34" charset="0"/>
                <a:ea typeface="IBM Plex Sans" pitchFamily="34" charset="-122"/>
                <a:cs typeface="IBM Plex Sans" pitchFamily="34" charset="-120"/>
              </a:rPr>
              <a:t> và </a:t>
            </a:r>
            <a:r>
              <a:rPr lang="en-US" sz="1400" b="1" dirty="0">
                <a:solidFill>
                  <a:srgbClr val="13202E"/>
                </a:solidFill>
                <a:latin typeface="IBM Plex Sans" pitchFamily="34" charset="0"/>
                <a:ea typeface="IBM Plex Sans" pitchFamily="34" charset="-122"/>
                <a:cs typeface="IBM Plex Sans" pitchFamily="34" charset="-120"/>
              </a:rPr>
              <a:t>đông</a:t>
            </a:r>
            <a:r>
              <a:rPr lang="en-US" sz="1400" dirty="0">
                <a:solidFill>
                  <a:srgbClr val="13202E"/>
                </a:solidFill>
                <a:latin typeface="IBM Plex Sans" pitchFamily="34" charset="0"/>
                <a:ea typeface="IBM Plex Sans" pitchFamily="34" charset="-122"/>
                <a:cs typeface="IBM Plex Sans" pitchFamily="34" charset="-120"/>
              </a:rPr>
              <a:t>; hai dòng đổi chúng sang hệ cất cánh:</a:t>
            </a:r>
            <a:endParaRPr lang="en-US" sz="1400" dirty="0"/>
          </a:p>
        </p:txBody>
      </p:sp>
      <p:sp>
        <p:nvSpPr>
          <p:cNvPr id="7" name="Text 5"/>
          <p:cNvSpPr/>
          <p:nvPr/>
        </p:nvSpPr>
        <p:spPr>
          <a:xfrm>
            <a:off x="812800" y="3464322"/>
            <a:ext cx="520623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E"/>
                </a:solidFill>
                <a:latin typeface="IBM Plex Sans" pitchFamily="34" charset="0"/>
                <a:ea typeface="IBM Plex Sans" pitchFamily="34" charset="-122"/>
                <a:cs typeface="IBM Plex Sans" pitchFamily="34" charset="-120"/>
              </a:rPr>
              <a:t>x = n·cos a + e·sin a</a:t>
            </a:r>
            <a:r>
              <a:rPr lang="en-US" sz="1400" dirty="0">
                <a:solidFill>
                  <a:srgbClr val="13202E"/>
                </a:solidFill>
                <a:latin typeface="IBM Plex Sans" pitchFamily="34" charset="0"/>
                <a:ea typeface="IBM Plex Sans" pitchFamily="34" charset="-122"/>
                <a:cs typeface="IBM Plex Sans" pitchFamily="34" charset="-120"/>
              </a:rPr>
              <a:t>, </a:t>
            </a:r>
            <a:r>
              <a:rPr lang="en-US" sz="1400" b="1" dirty="0">
                <a:solidFill>
                  <a:srgbClr val="13202E"/>
                </a:solidFill>
                <a:latin typeface="IBM Plex Sans" pitchFamily="34" charset="0"/>
                <a:ea typeface="IBM Plex Sans" pitchFamily="34" charset="-122"/>
                <a:cs typeface="IBM Plex Sans" pitchFamily="34" charset="-120"/>
              </a:rPr>
              <a:t>y = n·sin a − e·cos a</a:t>
            </a:r>
            <a:r>
              <a:rPr lang="en-US" sz="1400" dirty="0">
                <a:solidFill>
                  <a:srgbClr val="13202E"/>
                </a:solidFill>
                <a:latin typeface="IBM Plex Sans" pitchFamily="34" charset="0"/>
                <a:ea typeface="IBM Plex Sans" pitchFamily="34" charset="-122"/>
                <a:cs typeface="IBM Plex Sans" pitchFamily="34" charset="-120"/>
              </a:rPr>
              <a:t>.</a:t>
            </a:r>
            <a:endParaRPr lang="en-US" sz="1400" dirty="0"/>
          </a:p>
        </p:txBody>
      </p:sp>
      <p:sp>
        <p:nvSpPr>
          <p:cNvPr id="8" name="Shape 6"/>
          <p:cNvSpPr/>
          <p:nvPr/>
        </p:nvSpPr>
        <p:spPr>
          <a:xfrm>
            <a:off x="812800" y="3852962"/>
            <a:ext cx="5054600" cy="1031180"/>
          </a:xfrm>
          <a:prstGeom prst="roundRect">
            <a:avLst>
              <a:gd name="adj" fmla="val 9853"/>
            </a:avLst>
          </a:prstGeom>
          <a:solidFill>
            <a:srgbClr val="13202E"/>
          </a:solidFill>
          <a:ln/>
        </p:spPr>
      </p:sp>
      <p:sp>
        <p:nvSpPr>
          <p:cNvPr id="9" name="Text 7"/>
          <p:cNvSpPr/>
          <p:nvPr/>
        </p:nvSpPr>
        <p:spPr>
          <a:xfrm>
            <a:off x="1016000" y="4005362"/>
            <a:ext cx="4787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9E5C"/>
                </a:solidFill>
                <a:latin typeface="IBM Plex Sans" pitchFamily="34" charset="0"/>
                <a:ea typeface="IBM Plex Sans" pitchFamily="34" charset="-122"/>
                <a:cs typeface="IBM Plex Sans" pitchFamily="34" charset="-120"/>
              </a:rPr>
              <a:t>VÍ DỤ</a:t>
            </a:r>
            <a:endParaRPr lang="en-US" sz="1200" dirty="0"/>
          </a:p>
        </p:txBody>
      </p:sp>
      <p:sp>
        <p:nvSpPr>
          <p:cNvPr id="10" name="Text 8"/>
          <p:cNvSpPr/>
          <p:nvPr/>
        </p:nvSpPr>
        <p:spPr>
          <a:xfrm>
            <a:off x="1016000" y="4269482"/>
            <a:ext cx="478764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5F0"/>
                </a:solidFill>
                <a:latin typeface="IBM Plex Sans" pitchFamily="34" charset="0"/>
                <a:ea typeface="IBM Plex Sans" pitchFamily="34" charset="-122"/>
                <a:cs typeface="IBM Plex Sans" pitchFamily="34" charset="-120"/>
              </a:rPr>
              <a:t>a = 90°, mục tiêu 10 m về bắc: x = 10·0 + 0 = 0, y = 10·1 − 0 = 10 → 10 m bên trái. ✓</a:t>
            </a:r>
            <a:endParaRPr lang="en-US" sz="1300" dirty="0"/>
          </a:p>
        </p:txBody>
      </p:sp>
      <p:sp>
        <p:nvSpPr>
          <p:cNvPr id="11" name="Shape 9"/>
          <p:cNvSpPr/>
          <p:nvPr/>
        </p:nvSpPr>
        <p:spPr>
          <a:xfrm>
            <a:off x="6172200" y="1775420"/>
            <a:ext cx="5207000" cy="3556000"/>
          </a:xfrm>
          <a:prstGeom prst="roundRect">
            <a:avLst>
              <a:gd name="adj" fmla="val 2857"/>
            </a:avLst>
          </a:prstGeom>
          <a:solidFill>
            <a:srgbClr val="FDFCF8"/>
          </a:solidFill>
          <a:ln/>
        </p:spPr>
      </p:sp>
      <p:pic>
        <p:nvPicPr>
          <p:cNvPr id="12" name="Image 0" descr="Nhìn từ trên: bắc ở trên, đông bên phải; mũi drone hướng đông nên trục +x là đông và trục +y bên trái là bắc; mục tiêu 10 mét về bắc nằm ở y bằng 10">    </p:cNvPr>
          <p:cNvPicPr>
            <a:picLocks noChangeAspect="1"/>
          </p:cNvPicPr>
          <p:nvPr/>
        </p:nvPicPr>
        <p:blipFill>
          <a:blip r:embed="rId1"/>
          <a:srcRect l="0" r="0" t="0" b="0"/>
          <a:stretch/>
        </p:blipFill>
        <p:spPr>
          <a:xfrm>
            <a:off x="6172200" y="1775420"/>
            <a:ext cx="5207000" cy="3556000"/>
          </a:xfrm>
          <a:prstGeom prst="rect">
            <a:avLst/>
          </a:prstGeom>
        </p:spPr>
      </p:pic>
      <p:sp>
        <p:nvSpPr>
          <p:cNvPr id="13" name="Text 10"/>
          <p:cNvSpPr/>
          <p:nvPr/>
        </p:nvSpPr>
        <p:spPr>
          <a:xfrm>
            <a:off x="8547100" y="2029420"/>
            <a:ext cx="431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4A5568"/>
                </a:solidFill>
                <a:latin typeface="IBM Plex Sans" pitchFamily="34" charset="0"/>
                <a:ea typeface="IBM Plex Sans" pitchFamily="34" charset="-122"/>
                <a:cs typeface="IBM Plex Sans" pitchFamily="34" charset="-120"/>
              </a:rPr>
              <a:t>B</a:t>
            </a:r>
            <a:endParaRPr lang="en-US" sz="1400" dirty="0"/>
          </a:p>
        </p:txBody>
      </p:sp>
      <p:sp>
        <p:nvSpPr>
          <p:cNvPr id="14" name="Text 11"/>
          <p:cNvSpPr/>
          <p:nvPr/>
        </p:nvSpPr>
        <p:spPr>
          <a:xfrm>
            <a:off x="11061700" y="3756620"/>
            <a:ext cx="3048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4A5568"/>
                </a:solidFill>
                <a:latin typeface="IBM Plex Sans" pitchFamily="34" charset="0"/>
                <a:ea typeface="IBM Plex Sans" pitchFamily="34" charset="-122"/>
                <a:cs typeface="IBM Plex Sans" pitchFamily="34" charset="-120"/>
              </a:rPr>
              <a:t>Đ</a:t>
            </a:r>
            <a:endParaRPr lang="en-US" sz="1400" dirty="0"/>
          </a:p>
        </p:txBody>
      </p:sp>
      <p:sp>
        <p:nvSpPr>
          <p:cNvPr id="15" name="Text 12"/>
          <p:cNvSpPr/>
          <p:nvPr/>
        </p:nvSpPr>
        <p:spPr>
          <a:xfrm>
            <a:off x="9220200" y="3959820"/>
            <a:ext cx="1701800"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B5501A"/>
                </a:solidFill>
                <a:latin typeface="IBM Plex Sans" pitchFamily="34" charset="0"/>
                <a:ea typeface="IBM Plex Sans" pitchFamily="34" charset="-122"/>
                <a:cs typeface="IBM Plex Sans" pitchFamily="34" charset="-120"/>
              </a:rPr>
              <a:t>+x = mũi</a:t>
            </a:r>
            <a:endParaRPr lang="en-US" sz="1300" dirty="0"/>
          </a:p>
        </p:txBody>
      </p:sp>
      <p:sp>
        <p:nvSpPr>
          <p:cNvPr id="16" name="Text 13"/>
          <p:cNvSpPr/>
          <p:nvPr/>
        </p:nvSpPr>
        <p:spPr>
          <a:xfrm>
            <a:off x="6819900" y="2791420"/>
            <a:ext cx="1511300" cy="438150"/>
          </a:xfrm>
          <a:prstGeom prst="rect">
            <a:avLst/>
          </a:prstGeom>
          <a:noFill/>
          <a:ln/>
        </p:spPr>
        <p:txBody>
          <a:bodyPr wrap="square" lIns="0" tIns="0" rIns="0" bIns="0" rtlCol="0" anchor="t">
            <a:normAutofit/>
          </a:bodyPr>
          <a:lstStyle/>
          <a:p>
            <a:pPr algn="r"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+y = bên trái</a:t>
            </a:r>
            <a:endParaRPr lang="en-US" sz="1300" dirty="0"/>
          </a:p>
          <a:p>
            <a:pPr algn="r" indent="0" marL="0">
              <a:lnSpc>
                <a:spcPts val="1625"/>
              </a:lnSpc>
              <a:buNone/>
            </a:pPr>
            <a:r>
              <a:rPr lang="en-US" sz="1300" b="1" dirty="0">
                <a:solidFill>
                  <a:srgbClr val="2F6FA3"/>
                </a:solidFill>
                <a:latin typeface="IBM Plex Sans" pitchFamily="34" charset="0"/>
                <a:ea typeface="IBM Plex Sans" pitchFamily="34" charset="-122"/>
                <a:cs typeface="IBM Plex Sans" pitchFamily="34" charset="-120"/>
              </a:rPr>
              <a:t>của mũi</a:t>
            </a:r>
            <a:endParaRPr lang="en-US" sz="1300" dirty="0"/>
          </a:p>
        </p:txBody>
      </p:sp>
      <p:sp>
        <p:nvSpPr>
          <p:cNvPr id="17" name="Text 14"/>
          <p:cNvSpPr/>
          <p:nvPr/>
        </p:nvSpPr>
        <p:spPr>
          <a:xfrm>
            <a:off x="8623300" y="2308820"/>
            <a:ext cx="248539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7A4D"/>
                </a:solidFill>
                <a:latin typeface="IBM Plex Sans" pitchFamily="34" charset="0"/>
                <a:ea typeface="IBM Plex Sans" pitchFamily="34" charset="-122"/>
                <a:cs typeface="IBM Plex Sans" pitchFamily="34" charset="-120"/>
              </a:rPr>
              <a:t>mục tiêu 10 m về bắc</a:t>
            </a:r>
            <a:endParaRPr lang="en-US" sz="1200" dirty="0"/>
          </a:p>
          <a:p>
            <a:pPr algn="l" indent="0" marL="0">
              <a:lnSpc>
                <a:spcPts val="1500"/>
              </a:lnSpc>
              <a:buNone/>
            </a:pPr>
            <a:r>
              <a:rPr lang="en-US" sz="1200" b="1" dirty="0">
                <a:solidFill>
                  <a:srgbClr val="1F7A4D"/>
                </a:solidFill>
                <a:latin typeface="IBM Plex Sans" pitchFamily="34" charset="0"/>
                <a:ea typeface="IBM Plex Sans" pitchFamily="34" charset="-122"/>
                <a:cs typeface="IBM Plex Sans" pitchFamily="34" charset="-120"/>
              </a:rPr>
              <a:t>→ x = 0, y = </a:t>
            </a:r>
            <a:r>
              <a:rPr lang="en-US" sz="1200" b="1" dirty="0">
                <a:solidFill>
                  <a:srgbClr val="1F7A4D"/>
                </a:solidFill>
                <a:latin typeface="IBM Plex Sans" pitchFamily="34" charset="0"/>
                <a:ea typeface="IBM Plex Sans" pitchFamily="34" charset="-122"/>
                <a:cs typeface="IBM Plex Sans" pitchFamily="34" charset="-120"/>
              </a:rPr>
              <a:t>+10</a:t>
            </a:r>
            <a:endParaRPr lang="en-US" sz="1200" dirty="0"/>
          </a:p>
        </p:txBody>
      </p:sp>
      <p:sp>
        <p:nvSpPr>
          <p:cNvPr id="18" name="Text 15"/>
          <p:cNvSpPr/>
          <p:nvPr/>
        </p:nvSpPr>
        <p:spPr>
          <a:xfrm>
            <a:off x="6426200" y="4759920"/>
            <a:ext cx="4970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3202E"/>
                </a:solidFill>
                <a:latin typeface="IBM Plex Sans" pitchFamily="34" charset="0"/>
                <a:ea typeface="IBM Plex Sans" pitchFamily="34" charset="-122"/>
                <a:cs typeface="IBM Plex Sans" pitchFamily="34" charset="-120"/>
              </a:rPr>
              <a:t>Mũi hướng đông (ALIGN báo 90°), nên phía bắc ở bên trái drone.</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135 · Nguồn: crtpHandleNav(); test/frame_test.cpp</a:t>
            </a:r>
            <a:endParaRPr lang="en-US" sz="12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Xoay theo drone: hai phép quay</a:t>
            </a:r>
            <a:endParaRPr lang="en-US" sz="3000" dirty="0"/>
          </a:p>
        </p:txBody>
      </p:sp>
      <p:sp>
        <p:nvSpPr>
          <p:cNvPr id="4" name="Text 2"/>
          <p:cNvSpPr/>
          <p:nvPr/>
        </p:nvSpPr>
        <p:spPr>
          <a:xfrm>
            <a:off x="812800" y="1775420"/>
            <a:ext cx="6187430" cy="3263900"/>
          </a:xfrm>
          <a:prstGeom prst="roundRect">
            <a:avLst>
              <a:gd name="adj" fmla="val 3113"/>
            </a:avLst>
          </a:prstGeom>
          <a:solidFill>
            <a:srgbClr val="1B2633"/>
          </a:solidFill>
          <a:ln/>
        </p:spPr>
        <p:txBody>
          <a:bodyPr wrap="square" lIns="224242" tIns="173442" rIns="53859" bIns="148042" rtlCol="0" anchor="t">
            <a:normAutofit/>
          </a:bodyPr>
          <a:lstStyle/>
          <a:p>
            <a:pPr algn="l" indent="0" marL="0">
              <a:lnSpc>
                <a:spcPts val="2250"/>
              </a:lnSpc>
              <a:buNone/>
            </a:pPr>
            <a:r>
              <a:rPr lang="en-US" sz="1500" dirty="0">
                <a:solidFill>
                  <a:srgbClr val="F29E5C"/>
                </a:solidFill>
                <a:latin typeface="JetBrains Mono" pitchFamily="49" charset="0"/>
                <a:ea typeface="JetBrains Mono" pitchFamily="49" charset="-122"/>
                <a:cs typeface="JetBrains Mono" pitchFamily="49" charset="-120"/>
              </a:rPr>
              <a:t>const</a:t>
            </a:r>
            <a:r>
              <a:rPr lang="en-US" sz="1500" dirty="0">
                <a:solidFill>
                  <a:srgbClr val="E6EBF0"/>
                </a:solidFill>
                <a:latin typeface="JetBrains Mono" pitchFamily="49" charset="0"/>
                <a:ea typeface="JetBrains Mono" pitchFamily="49" charset="-122"/>
                <a:cs typeface="JetBrains Mono" pitchFamily="49" charset="-120"/>
              </a:rPr>
              <a:t> </a:t>
            </a:r>
            <a:r>
              <a:rPr lang="en-US" sz="1500" dirty="0">
                <a:solidFill>
                  <a:srgbClr val="F29E5C"/>
                </a:solidFill>
                <a:latin typeface="JetBrains Mono" pitchFamily="49" charset="0"/>
                <a:ea typeface="JetBrains Mono" pitchFamily="49" charset="-122"/>
                <a:cs typeface="JetBrains Mono" pitchFamily="49" charset="-120"/>
              </a:rPr>
              <a:t>float</a:t>
            </a:r>
            <a:r>
              <a:rPr lang="en-US" sz="1500" dirty="0">
                <a:solidFill>
                  <a:srgbClr val="E6EBF0"/>
                </a:solidFill>
                <a:latin typeface="JetBrains Mono" pitchFamily="49" charset="0"/>
                <a:ea typeface="JetBrains Mono" pitchFamily="49" charset="-122"/>
                <a:cs typeface="JetBrains Mono" pitchFamily="49" charset="-120"/>
              </a:rPr>
              <a:t> yaw_rel = (heading_deg - heading_ref_deg)</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                      * NAV_HEADING_SIGN * DEG_TO_RAD;</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body -&gt; launch (navUpdate)</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ax_w = fwd * cy - left * sy;</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ay_w = fwd * sy + left * cy;</a:t>
            </a:r>
            <a:endParaRPr lang="en-US" sz="1500" dirty="0"/>
          </a:p>
          <a:p>
            <a:pPr algn="l" indent="0" marL="0">
              <a:lnSpc>
                <a:spcPts val="2250"/>
              </a:lnSpc>
              <a:buNone/>
            </a:pPr>
            <a:r>
              <a:rPr lang="en-US" sz="1500" dirty="0">
                <a:solidFill>
                  <a:srgbClr val="8FA3B8"/>
                </a:solidFill>
                <a:latin typeface="JetBrains Mono" pitchFamily="49" charset="0"/>
                <a:ea typeface="JetBrains Mono" pitchFamily="49" charset="-122"/>
                <a:cs typeface="JetBrains Mono" pitchFamily="49" charset="-120"/>
              </a:rPr>
              <a:t>// launch -&gt; body (navSetpoints)</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body_fwd  =  ux * cy + uy * sy;</a:t>
            </a:r>
            <a:endParaRPr lang="en-US" sz="1500" dirty="0"/>
          </a:p>
          <a:p>
            <a:pPr algn="l" indent="0" marL="0">
              <a:lnSpc>
                <a:spcPts val="2250"/>
              </a:lnSpc>
              <a:buNone/>
            </a:pPr>
            <a:r>
              <a:rPr lang="en-US" sz="1500" dirty="0">
                <a:solidFill>
                  <a:srgbClr val="E6EBF0"/>
                </a:solidFill>
                <a:latin typeface="JetBrains Mono" pitchFamily="49" charset="0"/>
                <a:ea typeface="JetBrains Mono" pitchFamily="49" charset="-122"/>
                <a:cs typeface="JetBrains Mono" pitchFamily="49" charset="-120"/>
              </a:rPr>
              <a:t>body_left = -ux * sy + uy * cy;</a:t>
            </a:r>
            <a:endParaRPr lang="en-US" sz="15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Drone có thể xoay sau khi cất cánh. Gia tốc đo trong hệ thân, còn vị trí nằm trong hệ cất cánh.</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Một phép quay đi thân → cất cánh, phép kia là nghịch đảo chính xác.</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NAV_HEADING_SIGN = −1</a:t>
            </a:r>
            <a:r>
              <a:rPr lang="en-US" sz="1450" dirty="0">
                <a:solidFill>
                  <a:srgbClr val="13202E"/>
                </a:solidFill>
                <a:latin typeface="IBM Plex Sans" pitchFamily="34" charset="0"/>
                <a:ea typeface="IBM Plex Sans" pitchFamily="34" charset="-122"/>
                <a:cs typeface="IBM Plex Sans" pitchFamily="34" charset="-120"/>
              </a:rPr>
              <a:t> làm chiều hướng của gyro khớp với hệ dương-bên-trái.</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136 · Nguồn: navUpdate(), navSetpoints(); test/yawrot_test.cpp</a:t>
            </a:r>
            <a:endParaRPr lang="en-US" sz="12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DẪN ĐƯỜNG</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navSetpoints(): nghiêng về phía mục tiêu</a:t>
            </a:r>
            <a:endParaRPr lang="en-US" sz="3000" dirty="0"/>
          </a:p>
        </p:txBody>
      </p:sp>
      <p:sp>
        <p:nvSpPr>
          <p:cNvPr id="4" name="Text 2"/>
          <p:cNvSpPr/>
          <p:nvPr/>
        </p:nvSpPr>
        <p:spPr>
          <a:xfrm>
            <a:off x="812800" y="1775420"/>
            <a:ext cx="10566400" cy="2463800"/>
          </a:xfrm>
          <a:prstGeom prst="roundRect">
            <a:avLst>
              <a:gd name="adj" fmla="val 4124"/>
            </a:avLst>
          </a:prstGeom>
          <a:solidFill>
            <a:srgbClr val="1B2633"/>
          </a:solidFill>
          <a:ln/>
        </p:spPr>
        <p:txBody>
          <a:bodyPr wrap="square" lIns="224242" tIns="173442" rIns="0" bIns="148042" rtlCol="0" anchor="t">
            <a:normAutofit/>
          </a:bodyPr>
          <a:lstStyle/>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float</a:t>
            </a:r>
            <a:r>
              <a:rPr lang="en-US" sz="1200" dirty="0">
                <a:solidFill>
                  <a:srgbClr val="E6EBF0"/>
                </a:solidFill>
                <a:latin typeface="JetBrains Mono" pitchFamily="49" charset="0"/>
                <a:ea typeface="JetBrains Mono" pitchFamily="49" charset="-122"/>
                <a:cs typeface="JetBrains Mono" pitchFamily="49" charset="-120"/>
              </a:rPr>
              <a:t> ex = tgt_x - pos_x, ey = tgt_y - pos_y;</a:t>
            </a:r>
            <a:endParaRPr lang="en-US" sz="1200" dirty="0"/>
          </a:p>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float</a:t>
            </a:r>
            <a:r>
              <a:rPr lang="en-US" sz="1200" dirty="0">
                <a:solidFill>
                  <a:srgbClr val="E6EBF0"/>
                </a:solidFill>
                <a:latin typeface="JetBrains Mono" pitchFamily="49" charset="0"/>
                <a:ea typeface="JetBrains Mono" pitchFamily="49" charset="-122"/>
                <a:cs typeface="JetBrains Mono" pitchFamily="49" charset="-120"/>
              </a:rPr>
              <a:t> dist = sqrtf(ex*ex + ey*ey);</a:t>
            </a:r>
            <a:endParaRPr lang="en-US" sz="1200" dirty="0"/>
          </a:p>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if</a:t>
            </a:r>
            <a:r>
              <a:rPr lang="en-US" sz="1200" dirty="0">
                <a:solidFill>
                  <a:srgbClr val="E6EBF0"/>
                </a:solidFill>
                <a:latin typeface="JetBrains Mono" pitchFamily="49" charset="0"/>
                <a:ea typeface="JetBrains Mono" pitchFamily="49" charset="-122"/>
                <a:cs typeface="JetBrains Mono" pitchFamily="49" charset="-120"/>
              </a:rPr>
              <a:t> (dist &lt; NAV_STOP_BAND_M || !tgt_valid) </a:t>
            </a:r>
            <a:r>
              <a:rPr lang="en-US" sz="1200" dirty="0">
                <a:solidFill>
                  <a:srgbClr val="F29E5C"/>
                </a:solidFill>
                <a:latin typeface="JetBrains Mono" pitchFamily="49" charset="0"/>
                <a:ea typeface="JetBrains Mono" pitchFamily="49" charset="-122"/>
                <a:cs typeface="JetBrains Mono" pitchFamily="49" charset="-120"/>
              </a:rPr>
              <a:t>return</a:t>
            </a:r>
            <a:r>
              <a:rPr lang="en-US" sz="1200" dirty="0">
                <a:solidFill>
                  <a:srgbClr val="E6EBF0"/>
                </a:solidFill>
                <a:latin typeface="JetBrains Mono" pitchFamily="49" charset="0"/>
                <a:ea typeface="JetBrains Mono" pitchFamily="49" charset="-122"/>
                <a:cs typeface="JetBrains Mono" pitchFamily="49" charset="-120"/>
              </a:rPr>
              <a:t>;   </a:t>
            </a:r>
            <a:r>
              <a:rPr lang="en-US" sz="1200" dirty="0">
                <a:solidFill>
                  <a:srgbClr val="8FA3B8"/>
                </a:solidFill>
                <a:latin typeface="JetBrains Mono" pitchFamily="49" charset="0"/>
                <a:ea typeface="JetBrains Mono" pitchFamily="49" charset="-122"/>
                <a:cs typeface="JetBrains Mono" pitchFamily="49" charset="-120"/>
              </a:rPr>
              <a:t>// 0.6 m</a:t>
            </a:r>
            <a:endParaRPr lang="en-US" sz="1200" dirty="0"/>
          </a:p>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float</a:t>
            </a:r>
            <a:r>
              <a:rPr lang="en-US" sz="1200" dirty="0">
                <a:solidFill>
                  <a:srgbClr val="E6EBF0"/>
                </a:solidFill>
                <a:latin typeface="JetBrains Mono" pitchFamily="49" charset="0"/>
                <a:ea typeface="JetBrains Mono" pitchFamily="49" charset="-122"/>
                <a:cs typeface="JetBrains Mono" pitchFamily="49" charset="-120"/>
              </a:rPr>
              <a:t> mag = constrain(dist * nav_kp, 0.0f, NAV_MAX_TILT_DEG);</a:t>
            </a:r>
            <a:endParaRPr lang="en-US" sz="1200" dirty="0"/>
          </a:p>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float</a:t>
            </a:r>
            <a:r>
              <a:rPr lang="en-US" sz="1200" dirty="0">
                <a:solidFill>
                  <a:srgbClr val="E6EBF0"/>
                </a:solidFill>
                <a:latin typeface="JetBrains Mono" pitchFamily="49" charset="0"/>
                <a:ea typeface="JetBrains Mono" pitchFamily="49" charset="-122"/>
                <a:cs typeface="JetBrains Mono" pitchFamily="49" charset="-120"/>
              </a:rPr>
              <a:t> ux = ex / dist * mag;      </a:t>
            </a:r>
            <a:r>
              <a:rPr lang="en-US" sz="1200" dirty="0">
                <a:solidFill>
                  <a:srgbClr val="8FA3B8"/>
                </a:solidFill>
                <a:latin typeface="JetBrains Mono" pitchFamily="49" charset="0"/>
                <a:ea typeface="JetBrains Mono" pitchFamily="49" charset="-122"/>
                <a:cs typeface="JetBrains Mono" pitchFamily="49" charset="-120"/>
              </a:rPr>
              <a:t>// toward the target</a:t>
            </a:r>
            <a:endParaRPr lang="en-US" sz="1200" dirty="0"/>
          </a:p>
          <a:p>
            <a:pPr algn="l" indent="0" marL="0">
              <a:lnSpc>
                <a:spcPts val="1800"/>
              </a:lnSpc>
              <a:buNone/>
            </a:pPr>
            <a:r>
              <a:rPr lang="en-US" sz="1200" dirty="0">
                <a:solidFill>
                  <a:srgbClr val="F29E5C"/>
                </a:solidFill>
                <a:latin typeface="JetBrains Mono" pitchFamily="49" charset="0"/>
                <a:ea typeface="JetBrains Mono" pitchFamily="49" charset="-122"/>
                <a:cs typeface="JetBrains Mono" pitchFamily="49" charset="-120"/>
              </a:rPr>
              <a:t>float</a:t>
            </a:r>
            <a:r>
              <a:rPr lang="en-US" sz="1200" dirty="0">
                <a:solidFill>
                  <a:srgbClr val="E6EBF0"/>
                </a:solidFill>
                <a:latin typeface="JetBrains Mono" pitchFamily="49" charset="0"/>
                <a:ea typeface="JetBrains Mono" pitchFamily="49" charset="-122"/>
                <a:cs typeface="JetBrains Mono" pitchFamily="49" charset="-120"/>
              </a:rPr>
              <a:t> uy = ey / dist * mag;</a:t>
            </a:r>
            <a:endParaRPr lang="en-US" sz="1200" dirty="0"/>
          </a:p>
          <a:p>
            <a:pPr algn="l" indent="0" marL="0">
              <a:lnSpc>
                <a:spcPts val="1800"/>
              </a:lnSpc>
              <a:buNone/>
            </a:pPr>
            <a:r>
              <a:rPr lang="en-US" sz="1200" dirty="0">
                <a:solidFill>
                  <a:srgbClr val="8FA3B8"/>
                </a:solidFill>
                <a:latin typeface="JetBrains Mono" pitchFamily="49" charset="0"/>
                <a:ea typeface="JetBrains Mono" pitchFamily="49" charset="-122"/>
                <a:cs typeface="JetBrains Mono" pitchFamily="49" charset="-120"/>
              </a:rPr>
              <a:t>// rotate into the body frame, then:</a:t>
            </a:r>
            <a:endParaRPr lang="en-US" sz="1200" dirty="0"/>
          </a:p>
          <a:p>
            <a:pPr algn="l" indent="0" marL="0">
              <a:lnSpc>
                <a:spcPts val="1800"/>
              </a:lnSpc>
              <a:buNone/>
            </a:pPr>
            <a:r>
              <a:rPr lang="en-US" sz="1200" dirty="0">
                <a:solidFill>
                  <a:srgbClr val="E6EBF0"/>
                </a:solidFill>
                <a:latin typeface="JetBrains Mono" pitchFamily="49" charset="0"/>
                <a:ea typeface="JetBrains Mono" pitchFamily="49" charset="-122"/>
                <a:cs typeface="JetBrains Mono" pitchFamily="49" charset="-120"/>
              </a:rPr>
              <a:t>sp_pitch_deg = constrain(body_fwd,  -MAX_TILT_DEG, MAX_TILT_DEG);</a:t>
            </a:r>
            <a:endParaRPr lang="en-US" sz="1200" dirty="0"/>
          </a:p>
          <a:p>
            <a:pPr algn="l" indent="0" marL="0">
              <a:lnSpc>
                <a:spcPts val="1800"/>
              </a:lnSpc>
              <a:buNone/>
            </a:pPr>
            <a:r>
              <a:rPr lang="en-US" sz="1200" dirty="0">
                <a:solidFill>
                  <a:srgbClr val="E6EBF0"/>
                </a:solidFill>
                <a:latin typeface="JetBrains Mono" pitchFamily="49" charset="0"/>
                <a:ea typeface="JetBrains Mono" pitchFamily="49" charset="-122"/>
                <a:cs typeface="JetBrains Mono" pitchFamily="49" charset="-120"/>
              </a:rPr>
              <a:t>sp_roll_deg  = constrain(body_left, -MAX_TILT_DEG, MAX_TILT_DEG);</a:t>
            </a:r>
            <a:endParaRPr lang="en-US" sz="1200" dirty="0"/>
          </a:p>
        </p:txBody>
      </p:sp>
      <p:sp>
        <p:nvSpPr>
          <p:cNvPr id="5" name="Text 3"/>
          <p:cNvSpPr/>
          <p:nvPr/>
        </p:nvSpPr>
        <p:spPr>
          <a:xfrm>
            <a:off x="812800" y="449322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Bộ điều khiển P đơn giản: 1,2° nghiêng mỗi mét (nav_kp), tối đa </a:t>
            </a:r>
            <a:r>
              <a:rPr lang="en-US" sz="1500" b="1" dirty="0">
                <a:solidFill>
                  <a:srgbClr val="4A5568"/>
                </a:solidFill>
                <a:latin typeface="IBM Plex Sans" pitchFamily="34" charset="0"/>
                <a:ea typeface="IBM Plex Sans" pitchFamily="34" charset="-122"/>
                <a:cs typeface="IBM Plex Sans" pitchFamily="34" charset="-120"/>
              </a:rPr>
              <a:t>12°</a:t>
            </a:r>
            <a:r>
              <a:rPr lang="en-US" sz="1500" dirty="0">
                <a:solidFill>
                  <a:srgbClr val="4A5568"/>
                </a:solidFill>
                <a:latin typeface="IBM Plex Sans" pitchFamily="34" charset="0"/>
                <a:ea typeface="IBM Plex Sans" pitchFamily="34" charset="-122"/>
                <a:cs typeface="IBM Plex Sans" pitchFamily="34" charset="-120"/>
              </a:rPr>
              <a:t>. Trong </a:t>
            </a:r>
            <a:r>
              <a:rPr lang="en-US" sz="1500" b="1" dirty="0">
                <a:solidFill>
                  <a:srgbClr val="4A5568"/>
                </a:solidFill>
                <a:latin typeface="IBM Plex Sans" pitchFamily="34" charset="0"/>
                <a:ea typeface="IBM Plex Sans" pitchFamily="34" charset="-122"/>
                <a:cs typeface="IBM Plex Sans" pitchFamily="34" charset="-120"/>
              </a:rPr>
              <a:t>0,6 m</a:t>
            </a:r>
            <a:r>
              <a:rPr lang="en-US" sz="1500" dirty="0">
                <a:solidFill>
                  <a:srgbClr val="4A5568"/>
                </a:solidFill>
                <a:latin typeface="IBM Plex Sans" pitchFamily="34" charset="0"/>
                <a:ea typeface="IBM Plex Sans" pitchFamily="34" charset="-122"/>
                <a:cs typeface="IBM Plex Sans" pitchFamily="34" charset="-120"/>
              </a:rPr>
              <a:t>, hoặc không có mục tiêu: giữ thăng bằng. RTH = mục tiêu (0, 0).</a:t>
            </a:r>
            <a:endParaRPr lang="en-US" sz="1500" dirty="0"/>
          </a:p>
        </p:txBody>
      </p:sp>
      <p:sp>
        <p:nvSpPr>
          <p:cNvPr id="6" name="Text 4"/>
          <p:cNvSpPr/>
          <p:nvPr/>
        </p:nvSpPr>
        <p:spPr>
          <a:xfrm>
            <a:off x="812800" y="52806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Ví dụ: mục tiêu 5 m phía trước → 5 × 1,2 = 6° chúc mũi. 15 m → 18 → giới hạn còn 12°.</a:t>
            </a:r>
            <a:endParaRPr lang="en-US" sz="1500" dirty="0"/>
          </a:p>
        </p:txBody>
      </p:sp>
      <p:sp>
        <p:nvSpPr>
          <p:cNvPr id="7"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Dẫn đường · 137 · Nguồn: navSetpoints(); #define NAV_*</a:t>
            </a:r>
            <a:endParaRPr lang="en-US" sz="12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DẪN ĐƯỜNG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Kiểm tra hiểu biết</a:t>
            </a:r>
            <a:endParaRPr lang="en-US" sz="3000" dirty="0"/>
          </a:p>
        </p:txBody>
      </p:sp>
      <p:sp>
        <p:nvSpPr>
          <p:cNvPr id="4" name="Shape 2"/>
          <p:cNvSpPr/>
          <p:nvPr/>
        </p:nvSpPr>
        <p:spPr>
          <a:xfrm>
            <a:off x="831850" y="1750020"/>
            <a:ext cx="0" cy="558800"/>
          </a:xfrm>
          <a:prstGeom prst="line">
            <a:avLst/>
          </a:prstGeom>
          <a:noFill/>
          <a:ln w="38100">
            <a:solidFill>
              <a:srgbClr val="F29E5C"/>
            </a:solidFill>
            <a:prstDash val="solid"/>
          </a:ln>
        </p:spPr>
      </p:sp>
      <p:sp>
        <p:nvSpPr>
          <p:cNvPr id="5" name="Text 3"/>
          <p:cNvSpPr/>
          <p:nvPr/>
        </p:nvSpPr>
        <p:spPr>
          <a:xfrm>
            <a:off x="1028700" y="17500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sai số vị trí tăng nhanh hơn sai số vận tốc?</a:t>
            </a:r>
            <a:endParaRPr lang="en-US" sz="1700" dirty="0"/>
          </a:p>
        </p:txBody>
      </p:sp>
      <p:sp>
        <p:nvSpPr>
          <p:cNvPr id="6" name="Text 4"/>
          <p:cNvSpPr/>
          <p:nvPr/>
        </p:nvSpPr>
        <p:spPr>
          <a:xfrm>
            <a:off x="1028700" y="2068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độ lệch bị tích phân mấy lần?</a:t>
            </a:r>
            <a:endParaRPr lang="en-US" sz="1350" dirty="0"/>
          </a:p>
        </p:txBody>
      </p:sp>
      <p:sp>
        <p:nvSpPr>
          <p:cNvPr id="7" name="Shape 5"/>
          <p:cNvSpPr/>
          <p:nvPr/>
        </p:nvSpPr>
        <p:spPr>
          <a:xfrm>
            <a:off x="831850" y="2448520"/>
            <a:ext cx="0" cy="558800"/>
          </a:xfrm>
          <a:prstGeom prst="line">
            <a:avLst/>
          </a:prstGeom>
          <a:noFill/>
          <a:ln w="38100">
            <a:solidFill>
              <a:srgbClr val="F29E5C"/>
            </a:solidFill>
            <a:prstDash val="solid"/>
          </a:ln>
        </p:spPr>
      </p:sp>
      <p:sp>
        <p:nvSpPr>
          <p:cNvPr id="8" name="Text 6"/>
          <p:cNvSpPr/>
          <p:nvPr/>
        </p:nvSpPr>
        <p:spPr>
          <a:xfrm>
            <a:off x="1028700" y="24485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đặt vận tốc về 0 khi giữ yên?</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lúc đó drone biết chắc điều gì?</a:t>
            </a:r>
            <a:endParaRPr lang="en-US" sz="1350" dirty="0"/>
          </a:p>
        </p:txBody>
      </p:sp>
      <p:sp>
        <p:nvSpPr>
          <p:cNvPr id="10" name="Shape 8"/>
          <p:cNvSpPr/>
          <p:nvPr/>
        </p:nvSpPr>
        <p:spPr>
          <a:xfrm>
            <a:off x="831850" y="3146921"/>
            <a:ext cx="0" cy="558701"/>
          </a:xfrm>
          <a:prstGeom prst="line">
            <a:avLst/>
          </a:prstGeom>
          <a:noFill/>
          <a:ln w="38100">
            <a:solidFill>
              <a:srgbClr val="F29E5C"/>
            </a:solidFill>
            <a:prstDash val="solid"/>
          </a:ln>
        </p:spPr>
      </p:sp>
      <p:sp>
        <p:nvSpPr>
          <p:cNvPr id="11" name="Text 9"/>
          <p:cNvSpPr/>
          <p:nvPr/>
        </p:nvSpPr>
        <p:spPr>
          <a:xfrm>
            <a:off x="1028700" y="3146921"/>
            <a:ext cx="10661015" cy="30609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điện thoại gửi ALIGN lúc cất cánh?</a:t>
            </a:r>
            <a:endParaRPr lang="en-US" sz="1700" dirty="0"/>
          </a:p>
        </p:txBody>
      </p:sp>
      <p:sp>
        <p:nvSpPr>
          <p:cNvPr id="12" name="Text 10"/>
          <p:cNvSpPr/>
          <p:nvPr/>
        </p:nvSpPr>
        <p:spPr>
          <a:xfrm>
            <a:off x="1028700" y="3465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drone thiếu cảm biến nào?</a:t>
            </a:r>
            <a:endParaRPr lang="en-US" sz="1350" dirty="0"/>
          </a:p>
        </p:txBody>
      </p:sp>
      <p:sp>
        <p:nvSpPr>
          <p:cNvPr id="13" name="Shape 11"/>
          <p:cNvSpPr/>
          <p:nvPr/>
        </p:nvSpPr>
        <p:spPr>
          <a:xfrm>
            <a:off x="831850" y="3845322"/>
            <a:ext cx="0" cy="558800"/>
          </a:xfrm>
          <a:prstGeom prst="line">
            <a:avLst/>
          </a:prstGeom>
          <a:noFill/>
          <a:ln w="38100">
            <a:solidFill>
              <a:srgbClr val="F29E5C"/>
            </a:solidFill>
            <a:prstDash val="solid"/>
          </a:ln>
        </p:spPr>
      </p:sp>
      <p:sp>
        <p:nvSpPr>
          <p:cNvPr id="14" name="Text 12"/>
          <p:cNvSpPr/>
          <p:nvPr/>
        </p:nvSpPr>
        <p:spPr>
          <a:xfrm>
            <a:off x="1028700" y="3845322"/>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góc nghiêng dẫn đường nhỏ hơn khi lái tay?</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drone chắc chắn về vị trí cỡ nào?</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Dẫn đường · 138</a:t>
            </a:r>
            <a:endParaRPr lang="en-US" sz="12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221109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dirty="0">
                <a:solidFill>
                  <a:srgbClr val="F29E5C"/>
                </a:solidFill>
                <a:latin typeface="IBM Plex Sans" pitchFamily="34" charset="0"/>
                <a:ea typeface="IBM Plex Sans" pitchFamily="34" charset="-122"/>
                <a:cs typeface="IBM Plex Sans" pitchFamily="34" charset="-120"/>
              </a:rPr>
              <a:t>11</a:t>
            </a:r>
            <a:endParaRPr lang="en-US" sz="8000" dirty="0"/>
          </a:p>
        </p:txBody>
      </p:sp>
      <p:sp>
        <p:nvSpPr>
          <p:cNvPr id="3" name="Text 1"/>
          <p:cNvSpPr/>
          <p:nvPr>
            <p:ph type="title"/>
          </p:nvPr>
        </p:nvSpPr>
        <p:spPr>
          <a:xfrm>
            <a:off x="812800" y="343029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Kiểm thử và quy trình làm việc</a:t>
            </a:r>
            <a:endParaRPr lang="en-US" sz="4800" dirty="0"/>
          </a:p>
        </p:txBody>
      </p:sp>
      <p:sp>
        <p:nvSpPr>
          <p:cNvPr id="4" name="Text 2"/>
          <p:cNvSpPr/>
          <p:nvPr/>
        </p:nvSpPr>
        <p:spPr>
          <a:xfrm>
            <a:off x="812800" y="4304010"/>
            <a:ext cx="10883392" cy="3683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4"/>
                </a:solidFill>
                <a:latin typeface="IBM Plex Sans" pitchFamily="34" charset="0"/>
                <a:ea typeface="IBM Plex Sans" pitchFamily="34" charset="-122"/>
                <a:cs typeface="IBM Plex Sans" pitchFamily="34" charset="-120"/>
              </a:rPr>
              <a:t>Chứng minh phần toán khó trên máy tính, rồi build, nạp và đọc dữ liệu drone.</a:t>
            </a:r>
            <a:endParaRPr lang="en-US" sz="20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KIỂM THỬ</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Năm chương trình kiểm thử chạy trên máy tính</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476500"/>
        </p:xfrm>
        <a:graphic>
          <a:graphicData uri="http://schemas.openxmlformats.org/drawingml/2006/table">
            <a:tbl>
              <a:tblPr/>
              <a:tblGrid>
                <a:gridCol w="2532888"/>
                <a:gridCol w="8020812"/>
              </a:tblGrid>
              <a:tr h="412750">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Bài kiểm thử</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Chứng minh điều gì</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frame_test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mục tiêu từ điện thoại nằm đúng hệ mà ước tính vị trí dùng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yawrot_test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phép quay thân ↔ cất cánh quay đúng chiều, với dấu của sketch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logcfg_test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cài đặt khối log vẫn đúng khi bị gửi lại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level_test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tự cân bằng kéo về mục tiêu và không bao giờ lật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sbus_test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khung mất và failsafe bị loại; khung tốt được nhận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5186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Chạy tất cả bằng: </a:t>
            </a:r>
            <a:r>
              <a:rPr lang="en-US" sz="1500" b="1" dirty="0">
                <a:solidFill>
                  <a:srgbClr val="4A5568"/>
                </a:solidFill>
                <a:latin typeface="IBM Plex Sans" pitchFamily="34" charset="0"/>
                <a:ea typeface="IBM Plex Sans" pitchFamily="34" charset="-122"/>
                <a:cs typeface="IBM Plex Sans" pitchFamily="34" charset="-120"/>
              </a:rPr>
              <a:t>sh Esp32_drone/test/run.sh</a:t>
            </a:r>
            <a:r>
              <a:rPr lang="en-US" sz="1500" dirty="0">
                <a:solidFill>
                  <a:srgbClr val="4A5568"/>
                </a:solidFill>
                <a:latin typeface="IBM Plex Sans" pitchFamily="34" charset="0"/>
                <a:ea typeface="IBM Plex Sans" pitchFamily="34" charset="-122"/>
                <a:cs typeface="IBM Plex Sans" pitchFamily="34" charset="-120"/>
              </a:rPr>
              <a:t> — khoảng 100 dòng “ok” khi mọi thứ đạt.</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140 · Nguồn: Esp32_drone/test/</a:t>
            </a:r>
            <a:endParaRPr lang="en-US" sz="12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KIỂM THỬ</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Các kiểm tra trong run.sh: bài kiểm thử không thể lỗi thời</a:t>
            </a:r>
            <a:endParaRPr lang="en-US" sz="3000" dirty="0"/>
          </a:p>
        </p:txBody>
      </p:sp>
      <p:sp>
        <p:nvSpPr>
          <p:cNvPr id="4" name="Text 2"/>
          <p:cNvSpPr/>
          <p:nvPr/>
        </p:nvSpPr>
        <p:spPr>
          <a:xfrm>
            <a:off x="812800" y="1775420"/>
            <a:ext cx="6187430" cy="3130550"/>
          </a:xfrm>
          <a:prstGeom prst="roundRect">
            <a:avLst>
              <a:gd name="adj" fmla="val 3245"/>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check()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 grep -qF "$1" "$sketch"; then</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echo "STALE TEST: '$1' is no longer in Esp32_drone.ino"</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exit 1</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fi</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check 'roll_setpoint  = sp_roll_rate  - roll_level_adjust;'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check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(f[23] &amp; 0x08)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false</a:t>
            </a: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check 'tgt_y = n * sa - e * ca;'</a:t>
            </a:r>
            <a:endParaRPr lang="en-US" sz="1300" dirty="0"/>
          </a:p>
        </p:txBody>
      </p:sp>
      <p:sp>
        <p:nvSpPr>
          <p:cNvPr id="5" name="Text 3"/>
          <p:cNvSpPr/>
          <p:nvPr/>
        </p:nvSpPr>
        <p:spPr>
          <a:xfrm>
            <a:off x="7254230" y="1775420"/>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Bài kiểm thử chép công thức từ sketch, vì sketch không biên dịch được trên máy tính.</a:t>
            </a:r>
            <a:endParaRPr lang="en-US" sz="1450" dirty="0"/>
          </a:p>
        </p:txBody>
      </p:sp>
      <p:sp>
        <p:nvSpPr>
          <p:cNvPr id="6" name="Text 4"/>
          <p:cNvSpPr/>
          <p:nvPr/>
        </p:nvSpPr>
        <p:spPr>
          <a:xfrm>
            <a:off x="7254230" y="2417961"/>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Bản chép có thể lỗi thời âm thầm. </a:t>
            </a:r>
            <a:r>
              <a:rPr lang="en-US" sz="1450" b="1" dirty="0">
                <a:solidFill>
                  <a:srgbClr val="13202E"/>
                </a:solidFill>
                <a:latin typeface="IBM Plex Sans" pitchFamily="34" charset="0"/>
                <a:ea typeface="IBM Plex Sans" pitchFamily="34" charset="-122"/>
                <a:cs typeface="IBM Plex Sans" pitchFamily="34" charset="-120"/>
              </a:rPr>
              <a:t>check</a:t>
            </a:r>
            <a:r>
              <a:rPr lang="en-US" sz="1450" dirty="0">
                <a:solidFill>
                  <a:srgbClr val="13202E"/>
                </a:solidFill>
                <a:latin typeface="IBM Plex Sans" pitchFamily="34" charset="0"/>
                <a:ea typeface="IBM Plex Sans" pitchFamily="34" charset="-122"/>
                <a:cs typeface="IBM Plex Sans" pitchFamily="34" charset="-120"/>
              </a:rPr>
              <a:t> báo lỗi to nếu đúng dòng đó bị đổi.</a:t>
            </a:r>
            <a:endParaRPr lang="en-US" sz="1450" dirty="0"/>
          </a:p>
        </p:txBody>
      </p:sp>
      <p:sp>
        <p:nvSpPr>
          <p:cNvPr id="7" name="Text 5"/>
          <p:cNvSpPr/>
          <p:nvPr/>
        </p:nvSpPr>
        <p:spPr>
          <a:xfrm>
            <a:off x="7254230" y="306050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Kiểm tra thêm: giới hạn chế độ, thang gia tốc kế, NAV_HEADING_SIGN.</a:t>
            </a:r>
            <a:endParaRPr lang="en-US" sz="145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141 · Nguồn: Esp32_drone/test/run.sh</a:t>
            </a:r>
            <a:endParaRPr lang="en-US" sz="12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08756"/>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B5501A"/>
                </a:solidFill>
                <a:latin typeface="IBM Plex Sans" pitchFamily="34" charset="0"/>
                <a:ea typeface="IBM Plex Sans" pitchFamily="34" charset="-122"/>
                <a:cs typeface="IBM Plex Sans" pitchFamily="34" charset="-120"/>
              </a:rPr>
              <a:t>KIỂM THỬ</a:t>
            </a:r>
            <a:endParaRPr lang="en-US" sz="1050" dirty="0"/>
          </a:p>
        </p:txBody>
      </p:sp>
      <p:sp>
        <p:nvSpPr>
          <p:cNvPr id="3" name="Text 1"/>
          <p:cNvSpPr/>
          <p:nvPr>
            <p:ph type="title"/>
          </p:nvPr>
        </p:nvSpPr>
        <p:spPr>
          <a:xfrm>
            <a:off x="812800" y="1072356"/>
            <a:ext cx="10883392" cy="385465"/>
          </a:xfrm>
          <a:prstGeom prst="rect">
            <a:avLst/>
          </a:prstGeom>
          <a:noFill/>
          <a:ln/>
        </p:spPr>
        <p:txBody>
          <a:bodyPr wrap="square" lIns="0" tIns="0" rIns="0" bIns="0" rtlCol="0" anchor="t">
            <a:normAutofit/>
          </a:bodyPr>
          <a:lstStyle/>
          <a:p>
            <a:pPr algn="l" indent="0" marL="0">
              <a:lnSpc>
                <a:spcPts val="2867"/>
              </a:lnSpc>
              <a:buNone/>
            </a:pPr>
            <a:r>
              <a:rPr lang="en-US" sz="2606" b="1" i="0" dirty="0">
                <a:solidFill>
                  <a:srgbClr val="13202E"/>
                </a:solidFill>
                <a:latin typeface="IBM Plex Sans" pitchFamily="34" charset="0"/>
                <a:ea typeface="IBM Plex Sans" pitchFamily="34" charset="-122"/>
                <a:cs typeface="IBM Plex Sans" pitchFamily="34" charset="-120"/>
              </a:rPr>
              <a:t>Bên trong level_test: một mô phỏng nhỏ</a:t>
            </a:r>
            <a:endParaRPr lang="en-US" sz="2606" dirty="0"/>
          </a:p>
        </p:txBody>
      </p:sp>
      <p:sp>
        <p:nvSpPr>
          <p:cNvPr id="4" name="Text 2"/>
          <p:cNvSpPr/>
          <p:nvPr/>
        </p:nvSpPr>
        <p:spPr>
          <a:xfrm>
            <a:off x="812800" y="1686322"/>
            <a:ext cx="6187430" cy="3378200"/>
          </a:xfrm>
          <a:prstGeom prst="roundRect">
            <a:avLst>
              <a:gd name="adj" fmla="val 3008"/>
            </a:avLst>
          </a:prstGeom>
          <a:solidFill>
            <a:srgbClr val="1B2633"/>
          </a:solidFill>
          <a:ln/>
        </p:spPr>
        <p:txBody>
          <a:bodyPr wrap="square" lIns="224242" tIns="173442" rIns="53859" bIns="148042" rtlCol="0" anchor="t">
            <a:normAutofit/>
          </a:bodyPr>
          <a:lstStyle/>
          <a:p>
            <a:pPr algn="l" indent="0" marL="0">
              <a:lnSpc>
                <a:spcPts val="1950"/>
              </a:lnSpc>
              <a:buNone/>
            </a:pPr>
            <a:r>
              <a:rPr lang="en-US" sz="1300" dirty="0">
                <a:solidFill>
                  <a:srgbClr val="F29E5C"/>
                </a:solidFill>
                <a:latin typeface="JetBrains Mono" pitchFamily="49" charset="0"/>
                <a:ea typeface="JetBrains Mono" pitchFamily="49" charset="-122"/>
                <a:cs typeface="JetBrains Mono" pitchFamily="49" charset="-120"/>
              </a:rPr>
              <a:t>static</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simulate(</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angle0,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sp_deg,</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sign,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seconds)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angle = angle0;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for</a:t>
            </a: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int</a:t>
            </a:r>
            <a:r>
              <a:rPr lang="en-US" sz="1300" dirty="0">
                <a:solidFill>
                  <a:srgbClr val="E6EBF0"/>
                </a:solidFill>
                <a:latin typeface="JetBrains Mono" pitchFamily="49" charset="0"/>
                <a:ea typeface="JetBrains Mono" pitchFamily="49" charset="-122"/>
                <a:cs typeface="JetBrains Mono" pitchFamily="49" charset="-120"/>
              </a:rPr>
              <a:t> i = 0; i &lt; (</a:t>
            </a:r>
            <a:r>
              <a:rPr lang="en-US" sz="1300" dirty="0">
                <a:solidFill>
                  <a:srgbClr val="F29E5C"/>
                </a:solidFill>
                <a:latin typeface="JetBrains Mono" pitchFamily="49" charset="0"/>
                <a:ea typeface="JetBrains Mono" pitchFamily="49" charset="-122"/>
                <a:cs typeface="JetBrains Mono" pitchFamily="49" charset="-120"/>
              </a:rPr>
              <a:t>int</a:t>
            </a:r>
            <a:r>
              <a:rPr lang="en-US" sz="1300" dirty="0">
                <a:solidFill>
                  <a:srgbClr val="E6EBF0"/>
                </a:solidFill>
                <a:latin typeface="JetBrains Mono" pitchFamily="49" charset="0"/>
                <a:ea typeface="JetBrains Mono" pitchFamily="49" charset="-122"/>
                <a:cs typeface="JetBrains Mono" pitchFamily="49" charset="-120"/>
              </a:rPr>
              <a:t>)(seconds / 0.004f); i++)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err = angle - sp_deg;</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adj = clampf(err * 15.0f, -200, 200);</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float</a:t>
            </a:r>
            <a:r>
              <a:rPr lang="en-US" sz="1300" dirty="0">
                <a:solidFill>
                  <a:srgbClr val="E6EBF0"/>
                </a:solidFill>
                <a:latin typeface="JetBrains Mono" pitchFamily="49" charset="0"/>
                <a:ea typeface="JetBrains Mono" pitchFamily="49" charset="-122"/>
                <a:cs typeface="JetBrains Mono" pitchFamily="49" charset="-120"/>
              </a:rPr>
              <a:t> gyro = 0.0f + sign * adj;  </a:t>
            </a:r>
            <a:r>
              <a:rPr lang="en-US" sz="1300" dirty="0">
                <a:solidFill>
                  <a:srgbClr val="8FA3B8"/>
                </a:solidFill>
                <a:latin typeface="JetBrains Mono" pitchFamily="49" charset="0"/>
                <a:ea typeface="JetBrains Mono" pitchFamily="49" charset="-122"/>
                <a:cs typeface="JetBrains Mono" pitchFamily="49" charset="-120"/>
              </a:rPr>
              <a:t>// perfect rate loop</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angle += gyro * 0.004f;</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if</a:t>
            </a:r>
            <a:r>
              <a:rPr lang="en-US" sz="1300" dirty="0">
                <a:solidFill>
                  <a:srgbClr val="E6EBF0"/>
                </a:solidFill>
                <a:latin typeface="JetBrains Mono" pitchFamily="49" charset="0"/>
                <a:ea typeface="JetBrains Mono" pitchFamily="49" charset="-122"/>
                <a:cs typeface="JetBrains Mono" pitchFamily="49" charset="-120"/>
              </a:rPr>
              <a:t> (fabsf(angle) &gt; 180.0f)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angle;   </a:t>
            </a:r>
            <a:r>
              <a:rPr lang="en-US" sz="1300" dirty="0">
                <a:solidFill>
                  <a:srgbClr val="8FA3B8"/>
                </a:solidFill>
                <a:latin typeface="JetBrains Mono" pitchFamily="49" charset="0"/>
                <a:ea typeface="JetBrains Mono" pitchFamily="49" charset="-122"/>
                <a:cs typeface="JetBrains Mono" pitchFamily="49" charset="-120"/>
              </a:rPr>
              <a:t>// flipped</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  </a:t>
            </a:r>
            <a:r>
              <a:rPr lang="en-US" sz="1300" dirty="0">
                <a:solidFill>
                  <a:srgbClr val="F29E5C"/>
                </a:solidFill>
                <a:latin typeface="JetBrains Mono" pitchFamily="49" charset="0"/>
                <a:ea typeface="JetBrains Mono" pitchFamily="49" charset="-122"/>
                <a:cs typeface="JetBrains Mono" pitchFamily="49" charset="-120"/>
              </a:rPr>
              <a:t>return</a:t>
            </a:r>
            <a:r>
              <a:rPr lang="en-US" sz="1300" dirty="0">
                <a:solidFill>
                  <a:srgbClr val="E6EBF0"/>
                </a:solidFill>
                <a:latin typeface="JetBrains Mono" pitchFamily="49" charset="0"/>
                <a:ea typeface="JetBrains Mono" pitchFamily="49" charset="-122"/>
                <a:cs typeface="JetBrains Mono" pitchFamily="49" charset="-120"/>
              </a:rPr>
              <a:t> angle;</a:t>
            </a:r>
            <a:endParaRPr lang="en-US" sz="1300" dirty="0"/>
          </a:p>
          <a:p>
            <a:pPr algn="l" indent="0" marL="0">
              <a:lnSpc>
                <a:spcPts val="1950"/>
              </a:lnSpc>
              <a:buNone/>
            </a:pPr>
            <a:r>
              <a:rPr lang="en-US" sz="1300" dirty="0">
                <a:solidFill>
                  <a:srgbClr val="E6EBF0"/>
                </a:solidFill>
                <a:latin typeface="JetBrains Mono" pitchFamily="49" charset="0"/>
                <a:ea typeface="JetBrains Mono" pitchFamily="49" charset="-122"/>
                <a:cs typeface="JetBrains Mono" pitchFamily="49" charset="-120"/>
              </a:rPr>
              <a:t>}</a:t>
            </a:r>
            <a:endParaRPr lang="en-US" sz="1300" dirty="0"/>
          </a:p>
        </p:txBody>
      </p:sp>
      <p:sp>
        <p:nvSpPr>
          <p:cNvPr id="5" name="Text 3"/>
          <p:cNvSpPr/>
          <p:nvPr/>
        </p:nvSpPr>
        <p:spPr>
          <a:xfrm>
            <a:off x="7254230" y="1686322"/>
            <a:ext cx="4248719" cy="540941"/>
          </a:xfrm>
          <a:prstGeom prst="rect">
            <a:avLst/>
          </a:prstGeom>
          <a:noFill/>
          <a:ln/>
        </p:spPr>
        <p:txBody>
          <a:bodyPr wrap="square" lIns="0" tIns="0" rIns="0" bIns="0" rtlCol="0" anchor="t">
            <a:normAutofit/>
          </a:bodyPr>
          <a:lstStyle/>
          <a:p>
            <a:pPr algn="l" indent="0" marL="0">
              <a:lnSpc>
                <a:spcPts val="2030"/>
              </a:lnSpc>
              <a:buNone/>
            </a:pPr>
            <a:r>
              <a:rPr lang="en-US" sz="1450" dirty="0">
                <a:solidFill>
                  <a:srgbClr val="13202E"/>
                </a:solidFill>
                <a:latin typeface="IBM Plex Sans" pitchFamily="34" charset="0"/>
                <a:ea typeface="IBM Plex Sans" pitchFamily="34" charset="-122"/>
                <a:cs typeface="IBM Plex Sans" pitchFamily="34" charset="-120"/>
              </a:rPr>
              <a:t>Mô phỏng một trục ở 250 Hz với vòng tốc độ hoàn hảo.</a:t>
            </a:r>
            <a:endParaRPr lang="en-US" sz="1450" dirty="0"/>
          </a:p>
        </p:txBody>
      </p:sp>
      <p:sp>
        <p:nvSpPr>
          <p:cNvPr id="6" name="Text 4"/>
          <p:cNvSpPr/>
          <p:nvPr/>
        </p:nvSpPr>
        <p:spPr>
          <a:xfrm>
            <a:off x="7254230" y="2328863"/>
            <a:ext cx="4937770"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sign −1</a:t>
            </a:r>
            <a:r>
              <a:rPr lang="en-US" sz="1450" dirty="0">
                <a:solidFill>
                  <a:srgbClr val="13202E"/>
                </a:solidFill>
                <a:latin typeface="IBM Plex Sans" pitchFamily="34" charset="0"/>
                <a:ea typeface="IBM Plex Sans" pitchFamily="34" charset="-122"/>
                <a:cs typeface="IBM Plex Sans" pitchFamily="34" charset="-120"/>
              </a:rPr>
              <a:t> = firmware hiện tại → góc co về mục tiêu.</a:t>
            </a:r>
            <a:endParaRPr lang="en-US" sz="1450" dirty="0"/>
          </a:p>
        </p:txBody>
      </p:sp>
      <p:sp>
        <p:nvSpPr>
          <p:cNvPr id="7" name="Text 5"/>
          <p:cNvSpPr/>
          <p:nvPr/>
        </p:nvSpPr>
        <p:spPr>
          <a:xfrm>
            <a:off x="7254230" y="2713633"/>
            <a:ext cx="4248719" cy="283170"/>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3202E"/>
                </a:solidFill>
                <a:latin typeface="IBM Plex Sans" pitchFamily="34" charset="0"/>
                <a:ea typeface="IBM Plex Sans" pitchFamily="34" charset="-122"/>
                <a:cs typeface="IBM Plex Sans" pitchFamily="34" charset="-120"/>
              </a:rPr>
              <a:t>sign +1</a:t>
            </a:r>
            <a:r>
              <a:rPr lang="en-US" sz="1450" dirty="0">
                <a:solidFill>
                  <a:srgbClr val="13202E"/>
                </a:solidFill>
                <a:latin typeface="IBM Plex Sans" pitchFamily="34" charset="0"/>
                <a:ea typeface="IBM Plex Sans" pitchFamily="34" charset="-122"/>
                <a:cs typeface="IBM Plex Sans" pitchFamily="34" charset="-120"/>
              </a:rPr>
              <a:t> = lỗi cũ → góc tăng và lật.</a:t>
            </a:r>
            <a:endParaRPr lang="en-US" sz="1450" dirty="0"/>
          </a:p>
        </p:txBody>
      </p:sp>
      <p:sp>
        <p:nvSpPr>
          <p:cNvPr id="8" name="Shape 6"/>
          <p:cNvSpPr/>
          <p:nvPr/>
        </p:nvSpPr>
        <p:spPr>
          <a:xfrm>
            <a:off x="812800" y="4894064"/>
            <a:ext cx="10566400" cy="947936"/>
          </a:xfrm>
          <a:prstGeom prst="roundRect">
            <a:avLst>
              <a:gd name="adj" fmla="val 10718"/>
            </a:avLst>
          </a:prstGeom>
          <a:solidFill>
            <a:srgbClr val="13202E"/>
          </a:solidFill>
          <a:ln/>
        </p:spPr>
      </p:sp>
      <p:sp>
        <p:nvSpPr>
          <p:cNvPr id="9" name="Text 7"/>
          <p:cNvSpPr/>
          <p:nvPr/>
        </p:nvSpPr>
        <p:spPr>
          <a:xfrm>
            <a:off x="1117600" y="5122664"/>
            <a:ext cx="10255504" cy="208558"/>
          </a:xfrm>
          <a:prstGeom prst="rect">
            <a:avLst/>
          </a:prstGeom>
          <a:noFill/>
          <a:ln/>
        </p:spPr>
        <p:txBody>
          <a:bodyPr wrap="square" lIns="0" tIns="0" rIns="0" bIns="0" rtlCol="0" anchor="t">
            <a:normAutofit/>
          </a:bodyPr>
          <a:lstStyle/>
          <a:p>
            <a:pPr algn="l" indent="0" marL="0">
              <a:lnSpc>
                <a:spcPts val="1470"/>
              </a:lnSpc>
              <a:buNone/>
            </a:pPr>
            <a:r>
              <a:rPr lang="en-US" sz="1050" b="1" spc="100" kern="0" dirty="0">
                <a:solidFill>
                  <a:srgbClr val="F29E5C"/>
                </a:solidFill>
                <a:latin typeface="IBM Plex Sans" pitchFamily="34" charset="0"/>
                <a:ea typeface="IBM Plex Sans" pitchFamily="34" charset="-122"/>
                <a:cs typeface="IBM Plex Sans" pitchFamily="34" charset="-120"/>
              </a:rPr>
              <a:t>VÍ DỤ</a:t>
            </a:r>
            <a:endParaRPr lang="en-US" sz="1050" dirty="0"/>
          </a:p>
        </p:txBody>
      </p:sp>
      <p:sp>
        <p:nvSpPr>
          <p:cNvPr id="10" name="Text 8"/>
          <p:cNvSpPr/>
          <p:nvPr/>
        </p:nvSpPr>
        <p:spPr>
          <a:xfrm>
            <a:off x="1117600" y="5369322"/>
            <a:ext cx="10255504" cy="269478"/>
          </a:xfrm>
          <a:prstGeom prst="rect">
            <a:avLst/>
          </a:prstGeom>
          <a:noFill/>
          <a:ln/>
        </p:spPr>
        <p:txBody>
          <a:bodyPr wrap="square" lIns="0" tIns="0" rIns="0" bIns="0" rtlCol="0" anchor="t">
            <a:normAutofit/>
          </a:bodyPr>
          <a:lstStyle/>
          <a:p>
            <a:pPr algn="l" indent="0" marL="0">
              <a:lnSpc>
                <a:spcPts val="1918"/>
              </a:lnSpc>
              <a:buNone/>
            </a:pPr>
            <a:r>
              <a:rPr lang="en-US" sz="1370" dirty="0">
                <a:solidFill>
                  <a:srgbClr val="F6F5F0"/>
                </a:solidFill>
                <a:latin typeface="IBM Plex Sans" pitchFamily="34" charset="0"/>
                <a:ea typeface="IBM Plex Sans" pitchFamily="34" charset="-122"/>
                <a:cs typeface="IBM Plex Sans" pitchFamily="34" charset="-120"/>
              </a:rPr>
              <a:t>Bắt đầu ở +10°, mục tiêu 0°: sau 1 s với sign −1 → khoảng 0°. Với sign +1 → vượt 180°, lật.</a:t>
            </a:r>
            <a:endParaRPr lang="en-US" sz="137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142 · Nguồn: Esp32_drone/test/level_test.cpp</a:t>
            </a:r>
            <a:endParaRPr lang="en-US" sz="120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KIỂM THỬ</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sbus_test kiểm tra những gì</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981325"/>
        </p:xfrm>
        <a:graphic>
          <a:graphicData uri="http://schemas.openxmlformats.org/drawingml/2006/table">
            <a:tbl>
              <a:tblPr/>
              <a:tblGrid>
                <a:gridCol w="4221480"/>
                <a:gridCol w="2110740"/>
                <a:gridCol w="1899666"/>
                <a:gridCol w="2321814"/>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Trường hợp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Byte cờ 23</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Byte cuối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Mong đợi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khung bình thường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nhận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bật bit kênh số 17/18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0x03</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nhận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byte cuối SBUS2</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0x14</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nhận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máy thu failsafe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loại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mất khung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0x04</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loại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byte cuối lệch / đầu khung sai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0x55 / —</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loại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kiểm tra byte 24 cũ (đối chứng âm)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0x08</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0x00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nhận sai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143 · Nguồn: Esp32_drone/test/sbus_test.cpp</a:t>
            </a:r>
            <a:endParaRPr lang="en-US" sz="12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790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KIỂM THỬ</a:t>
            </a:r>
            <a:endParaRPr lang="en-US" sz="1159" dirty="0"/>
          </a:p>
        </p:txBody>
      </p:sp>
      <p:sp>
        <p:nvSpPr>
          <p:cNvPr id="3" name="Text 1"/>
          <p:cNvSpPr/>
          <p:nvPr>
            <p:ph type="title"/>
          </p:nvPr>
        </p:nvSpPr>
        <p:spPr>
          <a:xfrm>
            <a:off x="812800" y="1091505"/>
            <a:ext cx="10883392" cy="423366"/>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Tự thêm một bài kiểm thử</a:t>
            </a:r>
            <a:endParaRPr lang="en-US" sz="2878" dirty="0"/>
          </a:p>
        </p:txBody>
      </p:sp>
      <p:sp>
        <p:nvSpPr>
          <p:cNvPr id="4" name="Shape 2"/>
          <p:cNvSpPr/>
          <p:nvPr/>
        </p:nvSpPr>
        <p:spPr>
          <a:xfrm>
            <a:off x="819150" y="1749822"/>
            <a:ext cx="10553700" cy="715566"/>
          </a:xfrm>
          <a:prstGeom prst="roundRect">
            <a:avLst>
              <a:gd name="adj" fmla="val 13311"/>
            </a:avLst>
          </a:prstGeom>
          <a:solidFill>
            <a:srgbClr val="FDFCF8"/>
          </a:solidFill>
          <a:ln w="12700">
            <a:solidFill>
              <a:srgbClr val="E2DFD6"/>
            </a:solidFill>
            <a:prstDash val="solid"/>
          </a:ln>
        </p:spPr>
      </p:sp>
      <p:sp>
        <p:nvSpPr>
          <p:cNvPr id="5" name="Text 3"/>
          <p:cNvSpPr/>
          <p:nvPr/>
        </p:nvSpPr>
        <p:spPr>
          <a:xfrm>
            <a:off x="1054100" y="1876425"/>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6" name="Text 4"/>
          <p:cNvSpPr/>
          <p:nvPr/>
        </p:nvSpPr>
        <p:spPr>
          <a:xfrm>
            <a:off x="1638300" y="1979017"/>
            <a:ext cx="944397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Chọn một công thức hay quy tắc sắp đổi, và chép các dòng đó vào một file .cpp kiểm thử mới.</a:t>
            </a:r>
            <a:endParaRPr lang="en-US" sz="1500" dirty="0"/>
          </a:p>
        </p:txBody>
      </p:sp>
      <p:sp>
        <p:nvSpPr>
          <p:cNvPr id="7" name="Shape 5"/>
          <p:cNvSpPr/>
          <p:nvPr/>
        </p:nvSpPr>
        <p:spPr>
          <a:xfrm>
            <a:off x="819150" y="2592388"/>
            <a:ext cx="10553700" cy="715566"/>
          </a:xfrm>
          <a:prstGeom prst="roundRect">
            <a:avLst>
              <a:gd name="adj" fmla="val 13311"/>
            </a:avLst>
          </a:prstGeom>
          <a:solidFill>
            <a:srgbClr val="FDFCF8"/>
          </a:solidFill>
          <a:ln w="12700">
            <a:solidFill>
              <a:srgbClr val="E2DFD6"/>
            </a:solidFill>
            <a:prstDash val="solid"/>
          </a:ln>
        </p:spPr>
      </p:sp>
      <p:sp>
        <p:nvSpPr>
          <p:cNvPr id="8" name="Text 6"/>
          <p:cNvSpPr/>
          <p:nvPr/>
        </p:nvSpPr>
        <p:spPr>
          <a:xfrm>
            <a:off x="1054100" y="271899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9" name="Text 7"/>
          <p:cNvSpPr/>
          <p:nvPr/>
        </p:nvSpPr>
        <p:spPr>
          <a:xfrm>
            <a:off x="1638300" y="2821583"/>
            <a:ext cx="938998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Viết các trường hợp có đáp án biết trước, tính tay: một trường hợp tốt và một trường hợp xấu.</a:t>
            </a:r>
            <a:endParaRPr lang="en-US" sz="1500" dirty="0"/>
          </a:p>
        </p:txBody>
      </p:sp>
      <p:sp>
        <p:nvSpPr>
          <p:cNvPr id="10" name="Shape 8"/>
          <p:cNvSpPr/>
          <p:nvPr/>
        </p:nvSpPr>
        <p:spPr>
          <a:xfrm>
            <a:off x="819150" y="3434953"/>
            <a:ext cx="10553700" cy="715566"/>
          </a:xfrm>
          <a:prstGeom prst="roundRect">
            <a:avLst>
              <a:gd name="adj" fmla="val 13311"/>
            </a:avLst>
          </a:prstGeom>
          <a:solidFill>
            <a:srgbClr val="FDFCF8"/>
          </a:solidFill>
          <a:ln w="12700">
            <a:solidFill>
              <a:srgbClr val="E2DFD6"/>
            </a:solidFill>
            <a:prstDash val="solid"/>
          </a:ln>
        </p:spPr>
      </p:sp>
      <p:sp>
        <p:nvSpPr>
          <p:cNvPr id="11" name="Text 9"/>
          <p:cNvSpPr/>
          <p:nvPr/>
        </p:nvSpPr>
        <p:spPr>
          <a:xfrm>
            <a:off x="1054100" y="3561556"/>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2" name="Text 10"/>
          <p:cNvSpPr/>
          <p:nvPr/>
        </p:nvSpPr>
        <p:spPr>
          <a:xfrm>
            <a:off x="1638300" y="3664148"/>
            <a:ext cx="734181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Giữ phiên bản cũ làm </a:t>
            </a:r>
            <a:r>
              <a:rPr lang="en-US" sz="1500" b="1" dirty="0">
                <a:solidFill>
                  <a:srgbClr val="13202E"/>
                </a:solidFill>
                <a:latin typeface="IBM Plex Sans" pitchFamily="34" charset="0"/>
                <a:ea typeface="IBM Plex Sans" pitchFamily="34" charset="-122"/>
                <a:cs typeface="IBM Plex Sans" pitchFamily="34" charset="-120"/>
              </a:rPr>
              <a:t>đối chứng âm</a:t>
            </a:r>
            <a:r>
              <a:rPr lang="en-US" sz="1500" dirty="0">
                <a:solidFill>
                  <a:srgbClr val="13202E"/>
                </a:solidFill>
                <a:latin typeface="IBM Plex Sans" pitchFamily="34" charset="0"/>
                <a:ea typeface="IBM Plex Sans" pitchFamily="34" charset="-122"/>
                <a:cs typeface="IBM Plex Sans" pitchFamily="34" charset="-120"/>
              </a:rPr>
              <a:t> để thấy bài kiểm thử có thể thất bại.</a:t>
            </a:r>
            <a:endParaRPr lang="en-US" sz="1500" dirty="0"/>
          </a:p>
        </p:txBody>
      </p:sp>
      <p:sp>
        <p:nvSpPr>
          <p:cNvPr id="13" name="Shape 11"/>
          <p:cNvSpPr/>
          <p:nvPr/>
        </p:nvSpPr>
        <p:spPr>
          <a:xfrm>
            <a:off x="819150" y="4277519"/>
            <a:ext cx="10553700" cy="715566"/>
          </a:xfrm>
          <a:prstGeom prst="roundRect">
            <a:avLst>
              <a:gd name="adj" fmla="val 13311"/>
            </a:avLst>
          </a:prstGeom>
          <a:solidFill>
            <a:srgbClr val="FDFCF8"/>
          </a:solidFill>
          <a:ln w="12700">
            <a:solidFill>
              <a:srgbClr val="E2DFD6"/>
            </a:solidFill>
            <a:prstDash val="solid"/>
          </a:ln>
        </p:spPr>
      </p:sp>
      <p:sp>
        <p:nvSpPr>
          <p:cNvPr id="14" name="Text 12"/>
          <p:cNvSpPr/>
          <p:nvPr/>
        </p:nvSpPr>
        <p:spPr>
          <a:xfrm>
            <a:off x="1054100" y="4404122"/>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4</a:t>
            </a:r>
            <a:endParaRPr lang="en-US" sz="2600" dirty="0"/>
          </a:p>
        </p:txBody>
      </p:sp>
      <p:sp>
        <p:nvSpPr>
          <p:cNvPr id="15" name="Text 13"/>
          <p:cNvSpPr/>
          <p:nvPr/>
        </p:nvSpPr>
        <p:spPr>
          <a:xfrm>
            <a:off x="1638300" y="4506714"/>
            <a:ext cx="8468082"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Thêm dòng </a:t>
            </a:r>
            <a:r>
              <a:rPr lang="en-US" sz="1500" b="1" dirty="0">
                <a:solidFill>
                  <a:srgbClr val="13202E"/>
                </a:solidFill>
                <a:latin typeface="IBM Plex Sans" pitchFamily="34" charset="0"/>
                <a:ea typeface="IBM Plex Sans" pitchFamily="34" charset="-122"/>
                <a:cs typeface="IBM Plex Sans" pitchFamily="34" charset="-120"/>
              </a:rPr>
              <a:t>check '…'</a:t>
            </a:r>
            <a:r>
              <a:rPr lang="en-US" sz="1500" dirty="0">
                <a:solidFill>
                  <a:srgbClr val="13202E"/>
                </a:solidFill>
                <a:latin typeface="IBM Plex Sans" pitchFamily="34" charset="0"/>
                <a:ea typeface="IBM Plex Sans" pitchFamily="34" charset="-122"/>
                <a:cs typeface="IBM Plex Sans" pitchFamily="34" charset="-120"/>
              </a:rPr>
              <a:t> vào run.sh cho mỗi dòng đã chép, và một bước build-và-chạy.</a:t>
            </a:r>
            <a:endParaRPr lang="en-US" sz="1500" dirty="0"/>
          </a:p>
        </p:txBody>
      </p:sp>
      <p:sp>
        <p:nvSpPr>
          <p:cNvPr id="16" name="Shape 14"/>
          <p:cNvSpPr/>
          <p:nvPr/>
        </p:nvSpPr>
        <p:spPr>
          <a:xfrm>
            <a:off x="819150" y="5120084"/>
            <a:ext cx="10553700" cy="715566"/>
          </a:xfrm>
          <a:prstGeom prst="roundRect">
            <a:avLst>
              <a:gd name="adj" fmla="val 13311"/>
            </a:avLst>
          </a:prstGeom>
          <a:solidFill>
            <a:srgbClr val="FDFCF8"/>
          </a:solidFill>
          <a:ln w="12700">
            <a:solidFill>
              <a:srgbClr val="E2DFD6"/>
            </a:solidFill>
            <a:prstDash val="solid"/>
          </a:ln>
        </p:spPr>
      </p:sp>
      <p:sp>
        <p:nvSpPr>
          <p:cNvPr id="17" name="Text 15"/>
          <p:cNvSpPr/>
          <p:nvPr/>
        </p:nvSpPr>
        <p:spPr>
          <a:xfrm>
            <a:off x="1054100" y="5246688"/>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5</a:t>
            </a:r>
            <a:endParaRPr lang="en-US" sz="2600" dirty="0"/>
          </a:p>
        </p:txBody>
      </p:sp>
      <p:sp>
        <p:nvSpPr>
          <p:cNvPr id="18" name="Text 16"/>
          <p:cNvSpPr/>
          <p:nvPr/>
        </p:nvSpPr>
        <p:spPr>
          <a:xfrm>
            <a:off x="1638300" y="5349280"/>
            <a:ext cx="4366141"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Chạy </a:t>
            </a:r>
            <a:r>
              <a:rPr lang="en-US" sz="1500" b="1" dirty="0">
                <a:solidFill>
                  <a:srgbClr val="13202E"/>
                </a:solidFill>
                <a:latin typeface="IBM Plex Sans" pitchFamily="34" charset="0"/>
                <a:ea typeface="IBM Plex Sans" pitchFamily="34" charset="-122"/>
                <a:cs typeface="IBM Plex Sans" pitchFamily="34" charset="-120"/>
              </a:rPr>
              <a:t>sh run.sh</a:t>
            </a:r>
            <a:r>
              <a:rPr lang="en-US" sz="1500" dirty="0">
                <a:solidFill>
                  <a:srgbClr val="13202E"/>
                </a:solidFill>
                <a:latin typeface="IBM Plex Sans" pitchFamily="34" charset="0"/>
                <a:ea typeface="IBM Plex Sans" pitchFamily="34" charset="-122"/>
                <a:cs typeface="IBM Plex Sans" pitchFamily="34" charset="-120"/>
              </a:rPr>
              <a:t>, rồi sửa sketch, rồi chạy lại.</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144 · Nguồn: mẫu trong Esp32_drone/test/run.sh</a:t>
            </a:r>
            <a:endParaRPr lang="en-US" sz="12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KIỂM THỬ</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Cổng serial trên bàn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063750"/>
        </p:xfrm>
        <a:graphic>
          <a:graphicData uri="http://schemas.openxmlformats.org/drawingml/2006/table">
            <a:tbl>
              <a:tblPr/>
              <a:tblGrid>
                <a:gridCol w="3166110"/>
                <a:gridCol w="7387590"/>
              </a:tblGrid>
              <a:tr h="412750">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Lệnh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2100"/>
                        </a:lnSpc>
                        <a:buNone/>
                      </a:pPr>
                      <a:r>
                        <a:rPr lang="en-US" sz="1500" b="1" dirty="0">
                          <a:solidFill>
                            <a:srgbClr val="13202E"/>
                          </a:solidFill>
                          <a:latin typeface="IBM Plex Sans" pitchFamily="34" charset="0"/>
                          <a:ea typeface="IBM Plex Sans" pitchFamily="34" charset="-122"/>
                          <a:cs typeface="IBM Plex Sans" pitchFamily="34" charset="-120"/>
                        </a:rPr>
                        <a:t>Làm gì</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status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kết nối, chế độ, trạng thái auto, armed, lực đẩy hover, hướng, pin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save / load / defaults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hệ số PID + cài đặt bay trong flash</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link 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đổi cấu hình kết nối 0–5, rồi khởi động lại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sta ssid pass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2100"/>
                        </a:lnSpc>
                        <a:buNone/>
                      </a:pPr>
                      <a:r>
                        <a:rPr lang="en-US" sz="1500" dirty="0">
                          <a:solidFill>
                            <a:srgbClr val="13202E"/>
                          </a:solidFill>
                          <a:latin typeface="IBM Plex Sans" pitchFamily="34" charset="0"/>
                          <a:ea typeface="IBM Plex Sans" pitchFamily="34" charset="-122"/>
                          <a:cs typeface="IBM Plex Sans" pitchFamily="34" charset="-120"/>
                        </a:rPr>
                        <a:t>lưu thông tin Wi-Fi station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410587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Telemetry, mỗi giây một dòng: </a:t>
            </a:r>
            <a:r>
              <a:rPr lang="en-US" sz="1500" b="1" dirty="0">
                <a:solidFill>
                  <a:srgbClr val="4A5568"/>
                </a:solidFill>
                <a:latin typeface="IBM Plex Sans" pitchFamily="34" charset="0"/>
                <a:ea typeface="IBM Plex Sans" pitchFamily="34" charset="-122"/>
                <a:cs typeface="IBM Plex Sans" pitchFamily="34" charset="-120"/>
              </a:rPr>
              <a:t>disarm | VBAT:3.92V | RC r:1500 p:1500 t:1000 y:1500 | ang p:+0.4 r:-0.2 | mot RF:1000 …</a:t>
            </a:r>
            <a:endParaRPr lang="en-US" sz="15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145 · Nguồn: serialCommandPoll(), telemetry()</a:t>
            </a:r>
            <a:endParaRPr lang="en-US" sz="12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790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KIỂM THỬ</a:t>
            </a:r>
            <a:endParaRPr lang="en-US" sz="1159" dirty="0"/>
          </a:p>
        </p:txBody>
      </p:sp>
      <p:sp>
        <p:nvSpPr>
          <p:cNvPr id="3" name="Text 1"/>
          <p:cNvSpPr/>
          <p:nvPr>
            <p:ph type="title"/>
          </p:nvPr>
        </p:nvSpPr>
        <p:spPr>
          <a:xfrm>
            <a:off x="812800" y="1091505"/>
            <a:ext cx="10883392" cy="423366"/>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Build và nạp firmware</a:t>
            </a:r>
            <a:endParaRPr lang="en-US" sz="2878" dirty="0"/>
          </a:p>
        </p:txBody>
      </p:sp>
      <p:sp>
        <p:nvSpPr>
          <p:cNvPr id="4" name="Shape 2"/>
          <p:cNvSpPr/>
          <p:nvPr/>
        </p:nvSpPr>
        <p:spPr>
          <a:xfrm>
            <a:off x="819150" y="1749822"/>
            <a:ext cx="10553700" cy="715566"/>
          </a:xfrm>
          <a:prstGeom prst="roundRect">
            <a:avLst>
              <a:gd name="adj" fmla="val 13311"/>
            </a:avLst>
          </a:prstGeom>
          <a:solidFill>
            <a:srgbClr val="FDFCF8"/>
          </a:solidFill>
          <a:ln w="12700">
            <a:solidFill>
              <a:srgbClr val="E2DFD6"/>
            </a:solidFill>
            <a:prstDash val="solid"/>
          </a:ln>
        </p:spPr>
      </p:sp>
      <p:sp>
        <p:nvSpPr>
          <p:cNvPr id="5" name="Text 3"/>
          <p:cNvSpPr/>
          <p:nvPr/>
        </p:nvSpPr>
        <p:spPr>
          <a:xfrm>
            <a:off x="1054100" y="1876425"/>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6" name="Text 4"/>
          <p:cNvSpPr/>
          <p:nvPr/>
        </p:nvSpPr>
        <p:spPr>
          <a:xfrm>
            <a:off x="1638300" y="1979017"/>
            <a:ext cx="758600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Cài gói board </a:t>
            </a:r>
            <a:r>
              <a:rPr lang="en-US" sz="1500" b="1" dirty="0">
                <a:solidFill>
                  <a:srgbClr val="13202E"/>
                </a:solidFill>
                <a:latin typeface="IBM Plex Sans" pitchFamily="34" charset="0"/>
                <a:ea typeface="IBM Plex Sans" pitchFamily="34" charset="-122"/>
                <a:cs typeface="IBM Plex Sans" pitchFamily="34" charset="-120"/>
              </a:rPr>
              <a:t>esp32 by Espressif</a:t>
            </a:r>
            <a:r>
              <a:rPr lang="en-US" sz="1500" dirty="0">
                <a:solidFill>
                  <a:srgbClr val="13202E"/>
                </a:solidFill>
                <a:latin typeface="IBM Plex Sans" pitchFamily="34" charset="0"/>
                <a:ea typeface="IBM Plex Sans" pitchFamily="34" charset="-122"/>
                <a:cs typeface="IBM Plex Sans" pitchFamily="34" charset="-120"/>
              </a:rPr>
              <a:t> trong Arduino IDE 2.x (hoặc arduino-cli).</a:t>
            </a:r>
            <a:endParaRPr lang="en-US" sz="1500" dirty="0"/>
          </a:p>
        </p:txBody>
      </p:sp>
      <p:sp>
        <p:nvSpPr>
          <p:cNvPr id="7" name="Shape 5"/>
          <p:cNvSpPr/>
          <p:nvPr/>
        </p:nvSpPr>
        <p:spPr>
          <a:xfrm>
            <a:off x="819150" y="2592388"/>
            <a:ext cx="10553700" cy="715566"/>
          </a:xfrm>
          <a:prstGeom prst="roundRect">
            <a:avLst>
              <a:gd name="adj" fmla="val 13311"/>
            </a:avLst>
          </a:prstGeom>
          <a:solidFill>
            <a:srgbClr val="FDFCF8"/>
          </a:solidFill>
          <a:ln w="12700">
            <a:solidFill>
              <a:srgbClr val="E2DFD6"/>
            </a:solidFill>
            <a:prstDash val="solid"/>
          </a:ln>
        </p:spPr>
      </p:sp>
      <p:sp>
        <p:nvSpPr>
          <p:cNvPr id="8" name="Text 6"/>
          <p:cNvSpPr/>
          <p:nvPr/>
        </p:nvSpPr>
        <p:spPr>
          <a:xfrm>
            <a:off x="1054100" y="271899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9" name="Text 7"/>
          <p:cNvSpPr/>
          <p:nvPr/>
        </p:nvSpPr>
        <p:spPr>
          <a:xfrm>
            <a:off x="1638300" y="2821583"/>
            <a:ext cx="660921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Mở </a:t>
            </a:r>
            <a:r>
              <a:rPr lang="en-US" sz="1500" b="1" dirty="0">
                <a:solidFill>
                  <a:srgbClr val="13202E"/>
                </a:solidFill>
                <a:latin typeface="IBM Plex Sans" pitchFamily="34" charset="0"/>
                <a:ea typeface="IBM Plex Sans" pitchFamily="34" charset="-122"/>
                <a:cs typeface="IBM Plex Sans" pitchFamily="34" charset="-120"/>
              </a:rPr>
              <a:t>Esp32_drone/Esp32_drone.ino</a:t>
            </a:r>
            <a:r>
              <a:rPr lang="en-US" sz="1500" dirty="0">
                <a:solidFill>
                  <a:srgbClr val="13202E"/>
                </a:solidFill>
                <a:latin typeface="IBM Plex Sans" pitchFamily="34" charset="0"/>
                <a:ea typeface="IBM Plex Sans" pitchFamily="34" charset="-122"/>
                <a:cs typeface="IBM Plex Sans" pitchFamily="34" charset="-120"/>
              </a:rPr>
              <a:t>. Board: </a:t>
            </a:r>
            <a:r>
              <a:rPr lang="en-US" sz="1500" b="1" dirty="0">
                <a:solidFill>
                  <a:srgbClr val="13202E"/>
                </a:solidFill>
                <a:latin typeface="IBM Plex Sans" pitchFamily="34" charset="0"/>
                <a:ea typeface="IBM Plex Sans" pitchFamily="34" charset="-122"/>
                <a:cs typeface="IBM Plex Sans" pitchFamily="34" charset="-120"/>
              </a:rPr>
              <a:t>ESP32 Dev Module</a:t>
            </a:r>
            <a:r>
              <a:rPr lang="en-US" sz="1500" dirty="0">
                <a:solidFill>
                  <a:srgbClr val="13202E"/>
                </a:solidFill>
                <a:latin typeface="IBM Plex Sans" pitchFamily="34" charset="0"/>
                <a:ea typeface="IBM Plex Sans" pitchFamily="34" charset="-122"/>
                <a:cs typeface="IBM Plex Sans" pitchFamily="34" charset="-120"/>
              </a:rPr>
              <a:t>.</a:t>
            </a:r>
            <a:endParaRPr lang="en-US" sz="1500" dirty="0"/>
          </a:p>
        </p:txBody>
      </p:sp>
      <p:sp>
        <p:nvSpPr>
          <p:cNvPr id="10" name="Shape 8"/>
          <p:cNvSpPr/>
          <p:nvPr/>
        </p:nvSpPr>
        <p:spPr>
          <a:xfrm>
            <a:off x="819150" y="3434953"/>
            <a:ext cx="10553700" cy="715566"/>
          </a:xfrm>
          <a:prstGeom prst="roundRect">
            <a:avLst>
              <a:gd name="adj" fmla="val 13311"/>
            </a:avLst>
          </a:prstGeom>
          <a:solidFill>
            <a:srgbClr val="FDFCF8"/>
          </a:solidFill>
          <a:ln w="12700">
            <a:solidFill>
              <a:srgbClr val="E2DFD6"/>
            </a:solidFill>
            <a:prstDash val="solid"/>
          </a:ln>
        </p:spPr>
      </p:sp>
      <p:sp>
        <p:nvSpPr>
          <p:cNvPr id="11" name="Text 9"/>
          <p:cNvSpPr/>
          <p:nvPr/>
        </p:nvSpPr>
        <p:spPr>
          <a:xfrm>
            <a:off x="1054100" y="3561556"/>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2" name="Text 10"/>
          <p:cNvSpPr/>
          <p:nvPr/>
        </p:nvSpPr>
        <p:spPr>
          <a:xfrm>
            <a:off x="1638300" y="3664148"/>
            <a:ext cx="6806029"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Partition scheme: </a:t>
            </a:r>
            <a:r>
              <a:rPr lang="en-US" sz="1500" b="1" dirty="0">
                <a:solidFill>
                  <a:srgbClr val="13202E"/>
                </a:solidFill>
                <a:latin typeface="IBM Plex Sans" pitchFamily="34" charset="0"/>
                <a:ea typeface="IBM Plex Sans" pitchFamily="34" charset="-122"/>
                <a:cs typeface="IBM Plex Sans" pitchFamily="34" charset="-120"/>
              </a:rPr>
              <a:t>Huge APP</a:t>
            </a:r>
            <a:r>
              <a:rPr lang="en-US" sz="1500" dirty="0">
                <a:solidFill>
                  <a:srgbClr val="13202E"/>
                </a:solidFill>
                <a:latin typeface="IBM Plex Sans" pitchFamily="34" charset="0"/>
                <a:ea typeface="IBM Plex Sans" pitchFamily="34" charset="-122"/>
                <a:cs typeface="IBM Plex Sans" pitchFamily="34" charset="-120"/>
              </a:rPr>
              <a:t> — bắt buộc, radio cần khoảng 1,7 MB.</a:t>
            </a:r>
            <a:endParaRPr lang="en-US" sz="1500" dirty="0"/>
          </a:p>
        </p:txBody>
      </p:sp>
      <p:sp>
        <p:nvSpPr>
          <p:cNvPr id="13" name="Shape 11"/>
          <p:cNvSpPr/>
          <p:nvPr/>
        </p:nvSpPr>
        <p:spPr>
          <a:xfrm>
            <a:off x="819150" y="4277519"/>
            <a:ext cx="10553700" cy="715566"/>
          </a:xfrm>
          <a:prstGeom prst="roundRect">
            <a:avLst>
              <a:gd name="adj" fmla="val 13311"/>
            </a:avLst>
          </a:prstGeom>
          <a:solidFill>
            <a:srgbClr val="FDFCF8"/>
          </a:solidFill>
          <a:ln w="12700">
            <a:solidFill>
              <a:srgbClr val="E2DFD6"/>
            </a:solidFill>
            <a:prstDash val="solid"/>
          </a:ln>
        </p:spPr>
      </p:sp>
      <p:sp>
        <p:nvSpPr>
          <p:cNvPr id="14" name="Text 12"/>
          <p:cNvSpPr/>
          <p:nvPr/>
        </p:nvSpPr>
        <p:spPr>
          <a:xfrm>
            <a:off x="1054100" y="4404122"/>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4</a:t>
            </a:r>
            <a:endParaRPr lang="en-US" sz="2600" dirty="0"/>
          </a:p>
        </p:txBody>
      </p:sp>
      <p:sp>
        <p:nvSpPr>
          <p:cNvPr id="15" name="Text 13"/>
          <p:cNvSpPr/>
          <p:nvPr/>
        </p:nvSpPr>
        <p:spPr>
          <a:xfrm>
            <a:off x="1638300" y="4506714"/>
            <a:ext cx="4096107"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Upload, rồi mở serial monitor ở </a:t>
            </a:r>
            <a:r>
              <a:rPr lang="en-US" sz="1500" b="1" dirty="0">
                <a:solidFill>
                  <a:srgbClr val="13202E"/>
                </a:solidFill>
                <a:latin typeface="IBM Plex Sans" pitchFamily="34" charset="0"/>
                <a:ea typeface="IBM Plex Sans" pitchFamily="34" charset="-122"/>
                <a:cs typeface="IBM Plex Sans" pitchFamily="34" charset="-120"/>
              </a:rPr>
              <a:t>115200</a:t>
            </a:r>
            <a:r>
              <a:rPr lang="en-US" sz="1500" dirty="0">
                <a:solidFill>
                  <a:srgbClr val="13202E"/>
                </a:solidFill>
                <a:latin typeface="IBM Plex Sans" pitchFamily="34" charset="0"/>
                <a:ea typeface="IBM Plex Sans" pitchFamily="34" charset="-122"/>
                <a:cs typeface="IBM Plex Sans" pitchFamily="34" charset="-120"/>
              </a:rPr>
              <a:t>.</a:t>
            </a:r>
            <a:endParaRPr lang="en-US" sz="1500" dirty="0"/>
          </a:p>
        </p:txBody>
      </p:sp>
      <p:sp>
        <p:nvSpPr>
          <p:cNvPr id="16" name="Shape 14"/>
          <p:cNvSpPr/>
          <p:nvPr/>
        </p:nvSpPr>
        <p:spPr>
          <a:xfrm>
            <a:off x="819150" y="5120084"/>
            <a:ext cx="10553700" cy="715566"/>
          </a:xfrm>
          <a:prstGeom prst="roundRect">
            <a:avLst>
              <a:gd name="adj" fmla="val 13311"/>
            </a:avLst>
          </a:prstGeom>
          <a:solidFill>
            <a:srgbClr val="FDFCF8"/>
          </a:solidFill>
          <a:ln w="12700">
            <a:solidFill>
              <a:srgbClr val="E2DFD6"/>
            </a:solidFill>
            <a:prstDash val="solid"/>
          </a:ln>
        </p:spPr>
      </p:sp>
      <p:sp>
        <p:nvSpPr>
          <p:cNvPr id="17" name="Text 15"/>
          <p:cNvSpPr/>
          <p:nvPr/>
        </p:nvSpPr>
        <p:spPr>
          <a:xfrm>
            <a:off x="1054100" y="5246688"/>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5</a:t>
            </a:r>
            <a:endParaRPr lang="en-US" sz="2600" dirty="0"/>
          </a:p>
        </p:txBody>
      </p:sp>
      <p:sp>
        <p:nvSpPr>
          <p:cNvPr id="18" name="Text 16"/>
          <p:cNvSpPr/>
          <p:nvPr/>
        </p:nvSpPr>
        <p:spPr>
          <a:xfrm>
            <a:off x="1638300" y="5349280"/>
            <a:ext cx="652778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02E"/>
                </a:solidFill>
                <a:latin typeface="IBM Plex Sans" pitchFamily="34" charset="0"/>
                <a:ea typeface="IBM Plex Sans" pitchFamily="34" charset="-122"/>
                <a:cs typeface="IBM Plex Sans" pitchFamily="34" charset="-120"/>
              </a:rPr>
              <a:t>Giữ drone </a:t>
            </a:r>
            <a:r>
              <a:rPr lang="en-US" sz="1500" b="1" dirty="0">
                <a:solidFill>
                  <a:srgbClr val="13202E"/>
                </a:solidFill>
                <a:latin typeface="IBM Plex Sans" pitchFamily="34" charset="0"/>
                <a:ea typeface="IBM Plex Sans" pitchFamily="34" charset="-122"/>
                <a:cs typeface="IBM Plex Sans" pitchFamily="34" charset="-120"/>
              </a:rPr>
              <a:t>phẳng và đứng yên</a:t>
            </a:r>
            <a:r>
              <a:rPr lang="en-US" sz="1500" dirty="0">
                <a:solidFill>
                  <a:srgbClr val="13202E"/>
                </a:solidFill>
                <a:latin typeface="IBM Plex Sans" pitchFamily="34" charset="0"/>
                <a:ea typeface="IBM Plex Sans" pitchFamily="34" charset="-122"/>
                <a:cs typeface="IBM Plex Sans" pitchFamily="34" charset="-120"/>
              </a:rPr>
              <a:t> khi có thông báo hiệu chuẩn gyro.</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Kiểm thử · 146 · Nguồn: docs/INSTALL.md §1</a:t>
            </a:r>
            <a:endParaRPr lang="en-US" sz="12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27905"/>
          </a:xfrm>
          <a:prstGeom prst="rect">
            <a:avLst/>
          </a:prstGeom>
          <a:noFill/>
          <a:ln/>
        </p:spPr>
        <p:txBody>
          <a:bodyPr wrap="square" lIns="0" tIns="0" rIns="0" bIns="0" rtlCol="0" anchor="t">
            <a:normAutofit/>
          </a:bodyPr>
          <a:lstStyle/>
          <a:p>
            <a:pPr algn="l" indent="0" marL="0">
              <a:lnSpc>
                <a:spcPts val="1622"/>
              </a:lnSpc>
              <a:buNone/>
            </a:pPr>
            <a:r>
              <a:rPr lang="en-US" sz="1159" b="1" spc="150" kern="0" dirty="0">
                <a:solidFill>
                  <a:srgbClr val="B5501A"/>
                </a:solidFill>
                <a:latin typeface="IBM Plex Sans" pitchFamily="34" charset="0"/>
                <a:ea typeface="IBM Plex Sans" pitchFamily="34" charset="-122"/>
                <a:cs typeface="IBM Plex Sans" pitchFamily="34" charset="-120"/>
              </a:rPr>
              <a:t>TỔNG KẾT</a:t>
            </a:r>
            <a:endParaRPr lang="en-US" sz="1159" dirty="0"/>
          </a:p>
        </p:txBody>
      </p:sp>
      <p:sp>
        <p:nvSpPr>
          <p:cNvPr id="3" name="Text 1"/>
          <p:cNvSpPr/>
          <p:nvPr>
            <p:ph type="title"/>
          </p:nvPr>
        </p:nvSpPr>
        <p:spPr>
          <a:xfrm>
            <a:off x="812800" y="1091505"/>
            <a:ext cx="10883392" cy="423366"/>
          </a:xfrm>
          <a:prstGeom prst="rect">
            <a:avLst/>
          </a:prstGeom>
          <a:noFill/>
          <a:ln/>
        </p:spPr>
        <p:txBody>
          <a:bodyPr wrap="square" lIns="0" tIns="0" rIns="0" bIns="0" rtlCol="0" anchor="t">
            <a:normAutofit/>
          </a:bodyPr>
          <a:lstStyle/>
          <a:p>
            <a:pPr algn="l" indent="0" marL="0">
              <a:lnSpc>
                <a:spcPts val="3166"/>
              </a:lnSpc>
              <a:buNone/>
            </a:pPr>
            <a:r>
              <a:rPr lang="en-US" sz="2878" b="1" i="0" dirty="0">
                <a:solidFill>
                  <a:srgbClr val="13202E"/>
                </a:solidFill>
                <a:latin typeface="IBM Plex Sans" pitchFamily="34" charset="0"/>
                <a:ea typeface="IBM Plex Sans" pitchFamily="34" charset="-122"/>
                <a:cs typeface="IBM Plex Sans" pitchFamily="34" charset="-120"/>
              </a:rPr>
              <a:t>Lộ trình học: năm bài tập</a:t>
            </a:r>
            <a:endParaRPr lang="en-US" sz="2878" dirty="0"/>
          </a:p>
        </p:txBody>
      </p:sp>
      <p:sp>
        <p:nvSpPr>
          <p:cNvPr id="4" name="Shape 2"/>
          <p:cNvSpPr/>
          <p:nvPr/>
        </p:nvSpPr>
        <p:spPr>
          <a:xfrm>
            <a:off x="819150" y="1749822"/>
            <a:ext cx="10553700" cy="715566"/>
          </a:xfrm>
          <a:prstGeom prst="roundRect">
            <a:avLst>
              <a:gd name="adj" fmla="val 13311"/>
            </a:avLst>
          </a:prstGeom>
          <a:solidFill>
            <a:srgbClr val="FDFCF8"/>
          </a:solidFill>
          <a:ln w="12700">
            <a:solidFill>
              <a:srgbClr val="E2DFD6"/>
            </a:solidFill>
            <a:prstDash val="solid"/>
          </a:ln>
        </p:spPr>
      </p:sp>
      <p:sp>
        <p:nvSpPr>
          <p:cNvPr id="5" name="Text 3"/>
          <p:cNvSpPr/>
          <p:nvPr/>
        </p:nvSpPr>
        <p:spPr>
          <a:xfrm>
            <a:off x="1054100" y="1876425"/>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1</a:t>
            </a:r>
            <a:endParaRPr lang="en-US" sz="2600" dirty="0"/>
          </a:p>
        </p:txBody>
      </p:sp>
      <p:sp>
        <p:nvSpPr>
          <p:cNvPr id="6" name="Text 4"/>
          <p:cNvSpPr/>
          <p:nvPr/>
        </p:nvSpPr>
        <p:spPr>
          <a:xfrm>
            <a:off x="1638300" y="1979017"/>
            <a:ext cx="6738699"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Đọc</a:t>
            </a:r>
            <a:r>
              <a:rPr lang="en-US" sz="1500" dirty="0">
                <a:solidFill>
                  <a:srgbClr val="13202E"/>
                </a:solidFill>
                <a:latin typeface="IBM Plex Sans" pitchFamily="34" charset="0"/>
                <a:ea typeface="IBM Plex Sans" pitchFamily="34" charset="-122"/>
                <a:cs typeface="IBM Plex Sans" pitchFamily="34" charset="-120"/>
              </a:rPr>
              <a:t> loop() và ghi lại bước đánh số nào thay đổi từng biến toàn cục.</a:t>
            </a:r>
            <a:endParaRPr lang="en-US" sz="1500" dirty="0"/>
          </a:p>
        </p:txBody>
      </p:sp>
      <p:sp>
        <p:nvSpPr>
          <p:cNvPr id="7" name="Shape 5"/>
          <p:cNvSpPr/>
          <p:nvPr/>
        </p:nvSpPr>
        <p:spPr>
          <a:xfrm>
            <a:off x="819150" y="2592388"/>
            <a:ext cx="10553700" cy="715566"/>
          </a:xfrm>
          <a:prstGeom prst="roundRect">
            <a:avLst>
              <a:gd name="adj" fmla="val 13311"/>
            </a:avLst>
          </a:prstGeom>
          <a:solidFill>
            <a:srgbClr val="FDFCF8"/>
          </a:solidFill>
          <a:ln w="12700">
            <a:solidFill>
              <a:srgbClr val="E2DFD6"/>
            </a:solidFill>
            <a:prstDash val="solid"/>
          </a:ln>
        </p:spPr>
      </p:sp>
      <p:sp>
        <p:nvSpPr>
          <p:cNvPr id="8" name="Text 6"/>
          <p:cNvSpPr/>
          <p:nvPr/>
        </p:nvSpPr>
        <p:spPr>
          <a:xfrm>
            <a:off x="1054100" y="2718991"/>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2</a:t>
            </a:r>
            <a:endParaRPr lang="en-US" sz="2600" dirty="0"/>
          </a:p>
        </p:txBody>
      </p:sp>
      <p:sp>
        <p:nvSpPr>
          <p:cNvPr id="9" name="Text 7"/>
          <p:cNvSpPr/>
          <p:nvPr/>
        </p:nvSpPr>
        <p:spPr>
          <a:xfrm>
            <a:off x="1638300" y="2821583"/>
            <a:ext cx="812381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Trên bàn</a:t>
            </a:r>
            <a:r>
              <a:rPr lang="en-US" sz="1500" dirty="0">
                <a:solidFill>
                  <a:srgbClr val="13202E"/>
                </a:solidFill>
                <a:latin typeface="IBM Plex Sans" pitchFamily="34" charset="0"/>
                <a:ea typeface="IBM Plex Sans" pitchFamily="34" charset="-122"/>
                <a:cs typeface="IBM Plex Sans" pitchFamily="34" charset="-120"/>
              </a:rPr>
              <a:t>: tháo cánh, arm, nghiêng drone bằng tay và xem động cơ nào tăng tốc.</a:t>
            </a:r>
            <a:endParaRPr lang="en-US" sz="1500" dirty="0"/>
          </a:p>
        </p:txBody>
      </p:sp>
      <p:sp>
        <p:nvSpPr>
          <p:cNvPr id="10" name="Shape 8"/>
          <p:cNvSpPr/>
          <p:nvPr/>
        </p:nvSpPr>
        <p:spPr>
          <a:xfrm>
            <a:off x="819150" y="3434953"/>
            <a:ext cx="10553700" cy="715566"/>
          </a:xfrm>
          <a:prstGeom prst="roundRect">
            <a:avLst>
              <a:gd name="adj" fmla="val 13311"/>
            </a:avLst>
          </a:prstGeom>
          <a:solidFill>
            <a:srgbClr val="FDFCF8"/>
          </a:solidFill>
          <a:ln w="12700">
            <a:solidFill>
              <a:srgbClr val="E2DFD6"/>
            </a:solidFill>
            <a:prstDash val="solid"/>
          </a:ln>
        </p:spPr>
      </p:sp>
      <p:sp>
        <p:nvSpPr>
          <p:cNvPr id="11" name="Text 9"/>
          <p:cNvSpPr/>
          <p:nvPr/>
        </p:nvSpPr>
        <p:spPr>
          <a:xfrm>
            <a:off x="1054100" y="3561556"/>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3</a:t>
            </a:r>
            <a:endParaRPr lang="en-US" sz="2600" dirty="0"/>
          </a:p>
        </p:txBody>
      </p:sp>
      <p:sp>
        <p:nvSpPr>
          <p:cNvPr id="12" name="Text 10"/>
          <p:cNvSpPr/>
          <p:nvPr/>
        </p:nvSpPr>
        <p:spPr>
          <a:xfrm>
            <a:off x="1638300" y="3664148"/>
            <a:ext cx="9422725"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Log</a:t>
            </a:r>
            <a:r>
              <a:rPr lang="en-US" sz="1500" dirty="0">
                <a:solidFill>
                  <a:srgbClr val="13202E"/>
                </a:solidFill>
                <a:latin typeface="IBM Plex Sans" pitchFamily="34" charset="0"/>
                <a:ea typeface="IBM Plex Sans" pitchFamily="34" charset="-122"/>
                <a:cs typeface="IBM Plex Sans" pitchFamily="34" charset="-120"/>
              </a:rPr>
              <a:t>: vẽ pid.roll_p, roll_i và roll_d trong ứng dụng khi lơ lửng. Thành phần nào làm việc chính?</a:t>
            </a:r>
            <a:endParaRPr lang="en-US" sz="1500" dirty="0"/>
          </a:p>
        </p:txBody>
      </p:sp>
      <p:sp>
        <p:nvSpPr>
          <p:cNvPr id="13" name="Shape 11"/>
          <p:cNvSpPr/>
          <p:nvPr/>
        </p:nvSpPr>
        <p:spPr>
          <a:xfrm>
            <a:off x="819150" y="4277519"/>
            <a:ext cx="10553700" cy="715566"/>
          </a:xfrm>
          <a:prstGeom prst="roundRect">
            <a:avLst>
              <a:gd name="adj" fmla="val 13311"/>
            </a:avLst>
          </a:prstGeom>
          <a:solidFill>
            <a:srgbClr val="FDFCF8"/>
          </a:solidFill>
          <a:ln w="12700">
            <a:solidFill>
              <a:srgbClr val="E2DFD6"/>
            </a:solidFill>
            <a:prstDash val="solid"/>
          </a:ln>
        </p:spPr>
      </p:sp>
      <p:sp>
        <p:nvSpPr>
          <p:cNvPr id="14" name="Text 12"/>
          <p:cNvSpPr/>
          <p:nvPr/>
        </p:nvSpPr>
        <p:spPr>
          <a:xfrm>
            <a:off x="1054100" y="4404122"/>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4</a:t>
            </a:r>
            <a:endParaRPr lang="en-US" sz="2600" dirty="0"/>
          </a:p>
        </p:txBody>
      </p:sp>
      <p:sp>
        <p:nvSpPr>
          <p:cNvPr id="15" name="Text 13"/>
          <p:cNvSpPr/>
          <p:nvPr/>
        </p:nvSpPr>
        <p:spPr>
          <a:xfrm>
            <a:off x="1638300" y="4506714"/>
            <a:ext cx="786074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Kiểm thử</a:t>
            </a:r>
            <a:r>
              <a:rPr lang="en-US" sz="1500" dirty="0">
                <a:solidFill>
                  <a:srgbClr val="13202E"/>
                </a:solidFill>
                <a:latin typeface="IBM Plex Sans" pitchFamily="34" charset="0"/>
                <a:ea typeface="IBM Plex Sans" pitchFamily="34" charset="-122"/>
                <a:cs typeface="IBM Plex Sans" pitchFamily="34" charset="-120"/>
              </a:rPr>
              <a:t>: cố ý làm sai dấu tự cân bằng và xem level_test thất bại. Rồi sửa lại.</a:t>
            </a:r>
            <a:endParaRPr lang="en-US" sz="1500" dirty="0"/>
          </a:p>
        </p:txBody>
      </p:sp>
      <p:sp>
        <p:nvSpPr>
          <p:cNvPr id="16" name="Shape 14"/>
          <p:cNvSpPr/>
          <p:nvPr/>
        </p:nvSpPr>
        <p:spPr>
          <a:xfrm>
            <a:off x="819150" y="5120084"/>
            <a:ext cx="10553700" cy="715566"/>
          </a:xfrm>
          <a:prstGeom prst="roundRect">
            <a:avLst>
              <a:gd name="adj" fmla="val 13311"/>
            </a:avLst>
          </a:prstGeom>
          <a:solidFill>
            <a:srgbClr val="FDFCF8"/>
          </a:solidFill>
          <a:ln w="12700">
            <a:solidFill>
              <a:srgbClr val="E2DFD6"/>
            </a:solidFill>
            <a:prstDash val="solid"/>
          </a:ln>
        </p:spPr>
      </p:sp>
      <p:sp>
        <p:nvSpPr>
          <p:cNvPr id="17" name="Text 15"/>
          <p:cNvSpPr/>
          <p:nvPr/>
        </p:nvSpPr>
        <p:spPr>
          <a:xfrm>
            <a:off x="1054100" y="5246688"/>
            <a:ext cx="457200" cy="487660"/>
          </a:xfrm>
          <a:prstGeom prst="rect">
            <a:avLst/>
          </a:prstGeom>
          <a:noFill/>
          <a:ln/>
        </p:spPr>
        <p:txBody>
          <a:bodyPr wrap="square" lIns="0" tIns="0" rIns="0" bIns="0" rtlCol="0" anchor="t">
            <a:normAutofit/>
          </a:bodyPr>
          <a:lstStyle/>
          <a:p>
            <a:pPr algn="l" indent="0" marL="0">
              <a:lnSpc>
                <a:spcPts val="3640"/>
              </a:lnSpc>
              <a:buNone/>
            </a:pPr>
            <a:r>
              <a:rPr lang="en-US" sz="2600" b="1" dirty="0">
                <a:solidFill>
                  <a:srgbClr val="B5501A"/>
                </a:solidFill>
                <a:latin typeface="IBM Plex Sans" pitchFamily="34" charset="0"/>
                <a:ea typeface="IBM Plex Sans" pitchFamily="34" charset="-122"/>
                <a:cs typeface="IBM Plex Sans" pitchFamily="34" charset="-120"/>
              </a:rPr>
              <a:t>5</a:t>
            </a:r>
            <a:endParaRPr lang="en-US" sz="2600" dirty="0"/>
          </a:p>
        </p:txBody>
      </p:sp>
      <p:sp>
        <p:nvSpPr>
          <p:cNvPr id="18" name="Text 16"/>
          <p:cNvSpPr/>
          <p:nvPr/>
        </p:nvSpPr>
        <p:spPr>
          <a:xfrm>
            <a:off x="1638300" y="5349280"/>
            <a:ext cx="8311753"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13202E"/>
                </a:solidFill>
                <a:latin typeface="IBM Plex Sans" pitchFamily="34" charset="0"/>
                <a:ea typeface="IBM Plex Sans" pitchFamily="34" charset="-122"/>
                <a:cs typeface="IBM Plex Sans" pitchFamily="34" charset="-120"/>
              </a:rPr>
              <a:t>Mở rộng</a:t>
            </a:r>
            <a:r>
              <a:rPr lang="en-US" sz="1500" dirty="0">
                <a:solidFill>
                  <a:srgbClr val="13202E"/>
                </a:solidFill>
                <a:latin typeface="IBM Plex Sans" pitchFamily="34" charset="0"/>
                <a:ea typeface="IBM Plex Sans" pitchFamily="34" charset="-122"/>
                <a:cs typeface="IBM Plex Sans" pitchFamily="34" charset="-120"/>
              </a:rPr>
              <a:t>: đổi D sang theo phép đo, hoặc thêm mixer scaling — viết kiểm thử trước.</a:t>
            </a:r>
            <a:endParaRPr lang="en-US" sz="1500" dirty="0"/>
          </a:p>
        </p:txBody>
      </p:sp>
      <p:sp>
        <p:nvSpPr>
          <p:cNvPr id="19"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Tổng kết · 147 · Nguồn: khóa học này</a:t>
            </a:r>
            <a:endParaRPr lang="en-US" sz="12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TỔNG KẾT</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Thuật ngữ</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608659"/>
        </p:xfrm>
        <a:graphic>
          <a:graphicData uri="http://schemas.openxmlformats.org/drawingml/2006/table">
            <a:tbl>
              <a:tblPr/>
              <a:tblGrid>
                <a:gridCol w="1899666"/>
                <a:gridCol w="3377184"/>
                <a:gridCol w="2110740"/>
                <a:gridCol w="3166110"/>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Từ</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Nghĩa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Từ</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Nghĩa</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Setpoint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điều ta muốn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Bias (độ lệch)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sai số cảm biến khi đứng yên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Error (sai số)</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đo được − mong muốn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Wind-up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I tăng khi không tác động được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Rate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tốc độ xoay, °/s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Failsafe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dừng khi mất đầu vào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Attitude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các góc nghiêng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Idempotent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áp dụng hai lần vẫn an toàn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Duty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tỷ lệ thời gian BẬT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Dead reckoning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vị trí chỉ từ chuyển động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CRTP</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giao thức điện thoại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TOC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danh sách tham số / biến log</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Tổng kết · 148 · Nguồn: khóa học này</a:t>
            </a:r>
            <a:endParaRPr lang="en-US" sz="12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13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9E5C"/>
                </a:solidFill>
                <a:latin typeface="IBM Plex Sans" pitchFamily="34" charset="0"/>
                <a:ea typeface="IBM Plex Sans" pitchFamily="34" charset="-122"/>
                <a:cs typeface="IBM Plex Sans" pitchFamily="34" charset="-120"/>
              </a:rPr>
              <a:t>TỔNG KẾT · HỎI TẠI SAO</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F6F5F0"/>
                </a:solidFill>
                <a:latin typeface="IBM Plex Sans" pitchFamily="34" charset="0"/>
                <a:ea typeface="IBM Plex Sans" pitchFamily="34" charset="-122"/>
                <a:cs typeface="IBM Plex Sans" pitchFamily="34" charset="-120"/>
              </a:rPr>
              <a:t>Những câu hỏi sâu nên hỏi mãi</a:t>
            </a:r>
            <a:endParaRPr lang="en-US" sz="3000" dirty="0"/>
          </a:p>
        </p:txBody>
      </p:sp>
      <p:sp>
        <p:nvSpPr>
          <p:cNvPr id="4" name="Shape 2"/>
          <p:cNvSpPr/>
          <p:nvPr/>
        </p:nvSpPr>
        <p:spPr>
          <a:xfrm>
            <a:off x="831850" y="1750020"/>
            <a:ext cx="0" cy="558800"/>
          </a:xfrm>
          <a:prstGeom prst="line">
            <a:avLst/>
          </a:prstGeom>
          <a:noFill/>
          <a:ln w="38100">
            <a:solidFill>
              <a:srgbClr val="F29E5C"/>
            </a:solidFill>
            <a:prstDash val="solid"/>
          </a:ln>
        </p:spPr>
      </p:sp>
      <p:sp>
        <p:nvSpPr>
          <p:cNvPr id="5" name="Text 3"/>
          <p:cNvSpPr/>
          <p:nvPr/>
        </p:nvSpPr>
        <p:spPr>
          <a:xfrm>
            <a:off x="1028700" y="17500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mọi lỗi dấu trong firmware này đều làm lật, không chỉ lắc?</a:t>
            </a:r>
            <a:endParaRPr lang="en-US" sz="1700" dirty="0"/>
          </a:p>
        </p:txBody>
      </p:sp>
      <p:sp>
        <p:nvSpPr>
          <p:cNvPr id="6" name="Text 4"/>
          <p:cNvSpPr/>
          <p:nvPr/>
        </p:nvSpPr>
        <p:spPr>
          <a:xfrm>
            <a:off x="1028700" y="2068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phản hồi dương tăng không giới hạn.</a:t>
            </a:r>
            <a:endParaRPr lang="en-US" sz="1350" dirty="0"/>
          </a:p>
        </p:txBody>
      </p:sp>
      <p:sp>
        <p:nvSpPr>
          <p:cNvPr id="7" name="Shape 5"/>
          <p:cNvSpPr/>
          <p:nvPr/>
        </p:nvSpPr>
        <p:spPr>
          <a:xfrm>
            <a:off x="831850" y="2448520"/>
            <a:ext cx="0" cy="558800"/>
          </a:xfrm>
          <a:prstGeom prst="line">
            <a:avLst/>
          </a:prstGeom>
          <a:noFill/>
          <a:ln w="38100">
            <a:solidFill>
              <a:srgbClr val="F29E5C"/>
            </a:solidFill>
            <a:prstDash val="solid"/>
          </a:ln>
        </p:spPr>
      </p:sp>
      <p:sp>
        <p:nvSpPr>
          <p:cNvPr id="8" name="Text 6"/>
          <p:cNvSpPr/>
          <p:nvPr/>
        </p:nvSpPr>
        <p:spPr>
          <a:xfrm>
            <a:off x="1028700" y="2448520"/>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mỗi cảm biến thiếu tạo đúng một giới hạn ở một chế độ?</a:t>
            </a:r>
            <a:endParaRPr lang="en-US" sz="1700" dirty="0"/>
          </a:p>
        </p:txBody>
      </p:sp>
      <p:sp>
        <p:nvSpPr>
          <p:cNvPr id="9" name="Text 7"/>
          <p:cNvSpPr/>
          <p:nvPr/>
        </p:nvSpPr>
        <p:spPr>
          <a:xfrm>
            <a:off x="1028700" y="27672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ghép áp suất, la bàn, GPS, khoảng cách với HOLD, hướng, FOLLOW, hạ cánh.</a:t>
            </a:r>
            <a:endParaRPr lang="en-US" sz="1350" dirty="0"/>
          </a:p>
        </p:txBody>
      </p:sp>
      <p:sp>
        <p:nvSpPr>
          <p:cNvPr id="10" name="Shape 8"/>
          <p:cNvSpPr/>
          <p:nvPr/>
        </p:nvSpPr>
        <p:spPr>
          <a:xfrm>
            <a:off x="831850" y="3146921"/>
            <a:ext cx="0" cy="558701"/>
          </a:xfrm>
          <a:prstGeom prst="line">
            <a:avLst/>
          </a:prstGeom>
          <a:noFill/>
          <a:ln w="38100">
            <a:solidFill>
              <a:srgbClr val="F29E5C"/>
            </a:solidFill>
            <a:prstDash val="solid"/>
          </a:ln>
        </p:spPr>
      </p:sp>
      <p:sp>
        <p:nvSpPr>
          <p:cNvPr id="11" name="Text 9"/>
          <p:cNvSpPr/>
          <p:nvPr/>
        </p:nvSpPr>
        <p:spPr>
          <a:xfrm>
            <a:off x="1028700" y="3146921"/>
            <a:ext cx="10661015" cy="30609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phần lớn kiểm tra an toàn nằm ở rìa của mã?</a:t>
            </a:r>
            <a:endParaRPr lang="en-US" sz="1700" dirty="0"/>
          </a:p>
        </p:txBody>
      </p:sp>
      <p:sp>
        <p:nvSpPr>
          <p:cNvPr id="12" name="Text 10"/>
          <p:cNvSpPr/>
          <p:nvPr/>
        </p:nvSpPr>
        <p:spPr>
          <a:xfrm>
            <a:off x="1028700" y="3465711"/>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dữ liệu không tin cậy đi vào ở đâu?</a:t>
            </a:r>
            <a:endParaRPr lang="en-US" sz="1350" dirty="0"/>
          </a:p>
        </p:txBody>
      </p:sp>
      <p:sp>
        <p:nvSpPr>
          <p:cNvPr id="13" name="Shape 11"/>
          <p:cNvSpPr/>
          <p:nvPr/>
        </p:nvSpPr>
        <p:spPr>
          <a:xfrm>
            <a:off x="831850" y="3845322"/>
            <a:ext cx="0" cy="558800"/>
          </a:xfrm>
          <a:prstGeom prst="line">
            <a:avLst/>
          </a:prstGeom>
          <a:noFill/>
          <a:ln w="38100">
            <a:solidFill>
              <a:srgbClr val="F29E5C"/>
            </a:solidFill>
            <a:prstDash val="solid"/>
          </a:ln>
        </p:spPr>
      </p:sp>
      <p:sp>
        <p:nvSpPr>
          <p:cNvPr id="14" name="Text 12"/>
          <p:cNvSpPr/>
          <p:nvPr/>
        </p:nvSpPr>
        <p:spPr>
          <a:xfrm>
            <a:off x="1028700" y="3845322"/>
            <a:ext cx="10661015"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6F5F0"/>
                </a:solidFill>
                <a:latin typeface="IBM Plex Sans" pitchFamily="34" charset="0"/>
                <a:ea typeface="IBM Plex Sans" pitchFamily="34" charset="-122"/>
                <a:cs typeface="IBM Plex Sans" pitchFamily="34" charset="-120"/>
              </a:rPr>
              <a:t>Vì sao giữ phiên bản lỗi trong mỗi bài kiểm thử?</a:t>
            </a:r>
            <a:endParaRPr lang="en-US" sz="1700" dirty="0"/>
          </a:p>
        </p:txBody>
      </p:sp>
      <p:sp>
        <p:nvSpPr>
          <p:cNvPr id="15" name="Text 13"/>
          <p:cNvSpPr/>
          <p:nvPr/>
        </p:nvSpPr>
        <p:spPr>
          <a:xfrm>
            <a:off x="1028700" y="4164112"/>
            <a:ext cx="10661015"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BFC9D4"/>
                </a:solidFill>
                <a:latin typeface="IBM Plex Sans" pitchFamily="34" charset="0"/>
                <a:ea typeface="IBM Plex Sans" pitchFamily="34" charset="-122"/>
                <a:cs typeface="IBM Plex Sans" pitchFamily="34" charset="-120"/>
              </a:rPr>
              <a:t>Gợi ý: làm sao biết bài kiểm thử có thể thất bại?</a:t>
            </a:r>
            <a:endParaRPr lang="en-US" sz="135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8"/>
                </a:solidFill>
                <a:latin typeface="IBM Plex Sans" pitchFamily="34" charset="0"/>
                <a:ea typeface="IBM Plex Sans" pitchFamily="34" charset="-122"/>
                <a:cs typeface="IBM Plex Sans" pitchFamily="34" charset="-120"/>
              </a:rPr>
              <a:t>Tổng kết · 149</a:t>
            </a:r>
            <a:endParaRPr lang="en-US" sz="1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01A"/>
                </a:solidFill>
                <a:latin typeface="IBM Plex Sans" pitchFamily="34" charset="0"/>
                <a:ea typeface="IBM Plex Sans" pitchFamily="34" charset="-122"/>
                <a:cs typeface="IBM Plex Sans" pitchFamily="34" charset="-120"/>
              </a:rPr>
              <a:t>TỔNG KẾT</a:t>
            </a:r>
            <a:endParaRPr lang="en-US" sz="1200" dirty="0"/>
          </a:p>
        </p:txBody>
      </p:sp>
      <p:sp>
        <p:nvSpPr>
          <p:cNvPr id="3" name="Text 1"/>
          <p:cNvSpPr/>
          <p:nvPr>
            <p:ph type="title"/>
          </p:nvPr>
        </p:nvSpPr>
        <p:spPr>
          <a:xfrm>
            <a:off x="812800" y="1102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3202E"/>
                </a:solidFill>
                <a:latin typeface="IBM Plex Sans" pitchFamily="34" charset="0"/>
                <a:ea typeface="IBM Plex Sans" pitchFamily="34" charset="-122"/>
                <a:cs typeface="IBM Plex Sans" pitchFamily="34" charset="-120"/>
              </a:rPr>
              <a:t>Nguồn tham khảo</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8120"/>
          <a:ext cx="10553700" cy="2981325"/>
        </p:xfrm>
        <a:graphic>
          <a:graphicData uri="http://schemas.openxmlformats.org/drawingml/2006/table">
            <a:tbl>
              <a:tblPr/>
              <a:tblGrid>
                <a:gridCol w="5487924"/>
                <a:gridCol w="5065776"/>
              </a:tblGrid>
              <a:tr h="372666">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Nguồn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c>
                  <a:txBody>
                    <a:bodyPr/>
                    <a:lstStyle/>
                    <a:p>
                      <a:pPr indent="0" marL="0">
                        <a:lnSpc>
                          <a:spcPts val="1890"/>
                        </a:lnSpc>
                        <a:buNone/>
                      </a:pPr>
                      <a:r>
                        <a:rPr lang="en-US" sz="1350" b="1" dirty="0">
                          <a:solidFill>
                            <a:srgbClr val="13202E"/>
                          </a:solidFill>
                          <a:latin typeface="IBM Plex Sans" pitchFamily="34" charset="0"/>
                          <a:ea typeface="IBM Plex Sans" pitchFamily="34" charset="-122"/>
                          <a:cs typeface="IBM Plex Sans" pitchFamily="34" charset="-120"/>
                        </a:rPr>
                        <a:t>Dùng cho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3DE"/>
                    </a:solidFill>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Esp32_drone/Esp32_drone.ino</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mọi slide mã, giá trị và chú thích được trích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Esp32_drone/test/*.cpp, run.sh</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phần kiểm thử và các câu chuyện lỗi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docs/INSTALL.md, docs/USER_GUIDE.md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các bước build, CẮT ĐỘNG CƠ, quy tắc an toàn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Datasheet + bản đồ thanh ghi TDK InvenSense MPU-6500</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dải cảm biến và thanh ghi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Datasheet + Technical Reference Espressif ESP32 (LEDC)</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tính năng chip, xung PWM</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Tài liệu CRTP của Bitcraze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bố cục giao thức điện thoại</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72666">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Datasheet Alpha &amp; Omega AO3416</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90"/>
                        </a:lnSpc>
                        <a:buNone/>
                      </a:pPr>
                      <a:r>
                        <a:rPr lang="en-US" sz="1350" dirty="0">
                          <a:solidFill>
                            <a:srgbClr val="13202E"/>
                          </a:solidFill>
                          <a:latin typeface="IBM Plex Sans" pitchFamily="34" charset="0"/>
                          <a:ea typeface="IBM Plex Sans" pitchFamily="34" charset="-122"/>
                          <a:cs typeface="IBM Plex Sans" pitchFamily="34" charset="-120"/>
                        </a:rPr>
                        <a:t>MOSFET động cơ</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Tổng kết · 150 · Nguồn: github.com/quangvu16/Esp32_Drone</a:t>
            </a:r>
            <a:endParaRPr lang="en-US" sz="1200" dirty="0"/>
          </a:p>
        </p:txBody>
      </p:sp>
    </p:spTree>
  </p:cSld>
  <p:clrMapOvr>
    <a:masterClrMapping/>
  </p:clrMapOvr>
</p:sld>
</file>

<file path=ppt/theme/theme1.xml><?xml version="1.0" encoding="utf-8"?>
<a:theme xmlns:a="http://schemas.openxmlformats.org/drawingml/2006/main" name="Drone ESP32 — Firmware, linh kiện và mã nguồn">
  <a:themeElements>
    <a:clrScheme name="Drone ESP32 — Firmware, linh kiện và mã nguồn">
      <a:dk1>
        <a:srgbClr val="13202E"/>
      </a:dk1>
      <a:lt1>
        <a:srgbClr val="F6F5F0"/>
      </a:lt1>
      <a:dk2>
        <a:srgbClr val="4C555F"/>
      </a:dk2>
      <a:lt2>
        <a:srgbClr val="DFE0DD"/>
      </a:lt2>
      <a:accent1>
        <a:srgbClr val="B5501A"/>
      </a:accent1>
      <a:accent2>
        <a:srgbClr val="F29E5C"/>
      </a:accent2>
      <a:accent3>
        <a:srgbClr val="B42318"/>
      </a:accent3>
      <a:accent4>
        <a:srgbClr val="2F6FA3"/>
      </a:accent4>
      <a:accent5>
        <a:srgbClr val="8FA3B8"/>
      </a:accent5>
      <a:accent6>
        <a:srgbClr val="1F7A4D"/>
      </a:accent6>
      <a:hlink>
        <a:srgbClr val="0563C1"/>
      </a:hlink>
      <a:folHlink>
        <a:srgbClr val="954F72"/>
      </a:folHlink>
    </a:clrScheme>
    <a:fontScheme name="Drone ESP32 — Firmware, linh kiện và mã nguồ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150</Slides>
  <Notes>150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150</vt:i4>
      </vt:variant>
    </vt:vector>
  </HeadingPairs>
  <TitlesOfParts>
    <vt:vector size="1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Drone ESP32 — Firmware, linh kiện và mã nguồn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2026-10-28T04:07:13Z</dcterms:created>
  <dcterms:modified xsi:type="dcterms:W3CDTF">2026-10-28T04:07:13Z</dcterms:modified>
</cp:coreProperties>
</file>